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Midgard is a Veldris Ltd product: a sovereign, open-source, post-quantum data and decision platform, built against a complete specification: five services run today and the rest is tested as libraries. Over the next twenty minutes I will show you what it is, watch it run end to end, and be precise about what is proven today and what still stands between this release candidate and general availability.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The problem we are solving, the platform itself, a recorded live demo of the software running, the security and verification evidence, and an honest statement of where the release stands. Questions are welcome at the end. (≈0.5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pressures. First, the tooling organisations use for analytics, AI and software delivery assumes an always-on cloud; for regulated, defence and critical-infrastructure work that is disqualifying. Second, harvest-now-decrypt-later: traffic and archives captured today become readable once quantum computers mature, and NIST has already finalised the replacement algorithms, so migration is now a programme, not a research topic. Third, the incumbent platform is closed, hosted and opaque. You cannot audit what it does with your data and you cannot leave easily. Midgard was designed to answer all three at once.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Midgard is the core platform: the enclosure. Identity, the object and ontology fabric, storage, compute, governance and post-quantum cryptography by default. It is the foundation every product builds on. On top sit four independently useful products, each with its own domain: Forge for data operations, Mimir for local agentic AI, Bifrost for continuous delivery, and Heimdall for operational fusion. Two cross-cutting layers complete it: a self-governing admin control panel with no super-admin, and native mobile, desktop and web clients.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principles, and each one is enforced by construction rather than by policy document. Sovereign: no core function requires an outbound call, and the build and the test suite run under docker network none. Post-quantum by default: hybrid ML-KEM in transit, ML-KEM-wrapped keys at rest, ML-DSA signatures everywhere. The object fabric is the centre, not a bolt-on. Every product calls Mimir for AI, never a hosted model. Every claim has a source and every action has lineage. And the core is open: Apache-2.0, reproducible builds, a CycloneDX SBOM with every release.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of a deployment. Operators reach the enclosure through one edge, the HTTP gateway, which terminates TLS and issues ML-DSA-signed session tokens. Behind it the core composes identity, the object fabric, key management and the governance ledger in one process, so edge admission and every fabric call land in a single PQ-signed ledger. The four product services talk to the core and to each other only over PQ-mTLS, each with a certified mesh identity. The only things that cross the boundary are deliberate: Forge reaches external sources through an egress broker with a pinned CA per route, and Bifrost carries releases into air-gapped sites as signed bundles that verify themselves offline.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Midgard console against the real edge. The left panel is the object-type registry; the inspector on the right shows an object type, its links and the actions a person may take. Ground aircraft is human-gated: the first attempt is refused with a human-gate-required error, an operator authorises it, and the authorisation comes back with the audit id that recorded it. The same flow works from the API with curl.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is the spine, not a report. Policy is deny by default: role, marking and purpose must all match a written rule, mandatory access control runs first, and anything not granted is denied. You can dry-run a decision for a subject, clearance and purpose before it goes live, and the decision itself is ML-DSA-signed. Every read, write and action at the edge lands in one append-only ledger, and the service re-verifies that ledger on every start: a tampered ledger, keystore or policy file stops it from starting.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Forge is the data-operations product. Draw a pipeline or write it in code; either way every build is repeatable and versioned like source control. The worker service already runs: it reads a source, commits rows to a sealed dataset store, projects them onto the ontology and syncs them into the fabric through the gateway's PQ-mTLS door. Connectors have been tested against real PostgreSQL 16 and MinIO.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Mimir is the local AI product. The inference plane is a running service: a certified caller opens a PQ-mTLS channel, policy decides whether it may infer, and every call, permitted or denied, is written to a sealed ledger the service re-verifies on restart. We have run a real model end to end: Granite 3.3 2B on CPU, staged from a signed manifest.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Heimdall is the operational-fusion product. The feed gateway runs as a service today: a source with a certified identity signs its observations, four checks gate each one, refusals are audited too, and the fused picture survives a restart. The console view here is the product's own synthetic reference layout. (≈0.75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Bifrost is the continuous-delivery product, and it is also how Midgard itself ships. The release pipeline has been rehearsed end to end: all eighteen binaries gated, six images built and started through their own verifying entrypoints, a fifty-four-artefact bundle packed and installed on a cluster, and an image with one changed byte refusing to start. (≈0.75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cross-cutting layers. The admin control panel is designed to govern itself: role-separated RBAC with no super-admin, and dual control, which is live today for enrolling a principal. The guarded-action orchestrator, break-glass and its alerts are tested libraries, and the console runs on sample data. And the client platforms: one shared core, tested as a library, with offline-first, conflict-free sync. The native, desktop and web shells are specified and not built yet. (≈0.75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video. It is about four minutes and it was recorded against the software as it is: the Midgard console is talking to the real Rust edge running in a container, and the other consoles run on their built-in sample data. Watch for three things: the token that comes back from login is post-quantum signed; the grounding action is refused until a person authorises it, and the authorisation is audited; and every ledger entry shows as re-verified. If the embedded video will not play, open midgard-launch-demo-light.mp4 beside the deck.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cryptography, layer by layer. In transit, every hop is a hybrid handshake: classical X25519 alongside ML-KEM-768, so an attacker has to break both. At rest, data keys are AES-256-GCM, wrapped under ML-KEM-1024 custody roots. Service identities, session tokens and audit entries are signed with ML-DSA-65; release signing uses ML-DSA-87; SLH-DSA is available for long-lived artefacts. The FIPS backend passes the official known-answer tests in the repository, and the two backends are mutually exclusive at compile time so a build cannot quietly mix them. What is not yet done is FIPS 140-3 module certification itself, which is external.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measurements, each with its run. The 72 acceptance criteria each map to a test, and the tree holds 873 test functions. The gate has not been run at this commit; the run that is recorded comes before the tag. Every one of the 18 binaries the workspace builds passes the per-artefact gate, and a missing one fails the build. The release pipeline produced a fifty-four-artefact signed bundle that installed on a three-node cluster, and the deployment tier passed its restart and cross-node handshake checks there. The GPU and HSM checks skipped because we have no such hardware yet, and the record says so.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are, honestly. Five services run and are tested, most other subsystems are tested libraries, and version 0.1.0-rc.1 is prepared: the edge on the real fabric, five services on one PQ-mTLS runtime, compose and Helm deployment, connectors, real model serving, and a release pipeline rehearsed end to end on the fifteenth of September. What blocks general availability is external or hardware-bound: HSM-backed key custody, GPU serving, FIPS 140-3 certification, and the key ceremony and signing runner that let us tag the release. The authoritative go/no-go record is GA_READINESS.md and it currently reads no-go, naming every blocker. The next ninety days are about closing those and putting live data through Forge into the fabric.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Midgard runs on a laptop with one command, on docker compose with five services, on Kubernetes through a hardened Helm chart, and in air-gapped sites from a signed bundle. We are looking for three things: design partners willing to run a pilot on the compose or Helm path, security teams to review the open core, and feedback on the roadmap you just saw. The repository, the specification and the verification record are all public. Thank you. Questions.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video" Target="../media/media-14-1.mp4"/><Relationship Id="rId2" Type="http://schemas.microsoft.com/office/2007/relationships/media" Target="../media/media-14-1.mp4"/><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FF0F3"/>
        </a:solidFill>
      </p:bgPr>
    </p:bg>
    <p:spTree>
      <p:nvGrpSpPr>
        <p:cNvPr id="1" name=""/>
        <p:cNvGrpSpPr/>
        <p:nvPr/>
      </p:nvGrpSpPr>
      <p:grpSpPr>
        <a:xfrm>
          <a:off x="0" y="0"/>
          <a:ext cx="0" cy="0"/>
          <a:chOff x="0" y="0"/>
          <a:chExt cx="0" cy="0"/>
        </a:xfrm>
      </p:grpSpPr>
      <p:sp>
        <p:nvSpPr>
          <p:cNvPr id="3" name="Text 0"/>
          <p:cNvSpPr txBox="1"/>
          <p:nvPr/>
        </p:nvSpPr>
        <p:spPr>
          <a:xfrm>
            <a:off x="548640" y="1417320"/>
            <a:ext cx="5486400" cy="256032"/>
          </a:xfrm>
          <a:prstGeom prst="rect">
            <a:avLst/>
          </a:prstGeom>
          <a:noFill/>
          <a:ln/>
        </p:spPr>
        <p:txBody>
          <a:bodyPr wrap="square" lIns="0" tIns="0" rIns="0" bIns="0" rtlCol="0" anchor="ctr"/>
          <a:lstStyle/>
          <a:p>
            <a:pPr indent="0" marL="0">
              <a:buNone/>
            </a:pPr>
            <a:r>
              <a:rPr lang="en-US" sz="1050" spc="250" kern="0" dirty="0">
                <a:solidFill>
                  <a:srgbClr val="5C636B"/>
                </a:solidFill>
                <a:latin typeface="Consolas" pitchFamily="34" charset="0"/>
                <a:ea typeface="Consolas" pitchFamily="34" charset="-122"/>
                <a:cs typeface="Consolas" pitchFamily="34" charset="-120"/>
              </a:rPr>
              <a:t>00 // VELDRIS LTD · PRODUCT LAUNCH · SEPTEMBER 2026</a:t>
            </a:r>
            <a:endParaRPr lang="en-US" sz="1050" dirty="0"/>
          </a:p>
        </p:txBody>
      </p:sp>
      <p:sp>
        <p:nvSpPr>
          <p:cNvPr id="4" name="Text 1"/>
          <p:cNvSpPr txBox="1"/>
          <p:nvPr/>
        </p:nvSpPr>
        <p:spPr>
          <a:xfrm>
            <a:off x="512064" y="1737360"/>
            <a:ext cx="5852160" cy="1234440"/>
          </a:xfrm>
          <a:prstGeom prst="rect">
            <a:avLst/>
          </a:prstGeom>
          <a:noFill/>
          <a:ln/>
        </p:spPr>
        <p:txBody>
          <a:bodyPr wrap="square" lIns="0" tIns="0" rIns="0" bIns="0" rtlCol="0" anchor="ctr"/>
          <a:lstStyle/>
          <a:p>
            <a:pPr indent="0" marL="0">
              <a:buNone/>
            </a:pPr>
            <a:r>
              <a:rPr lang="en-US" sz="7200" b="1" dirty="0">
                <a:solidFill>
                  <a:srgbClr val="101114"/>
                </a:solidFill>
                <a:latin typeface="Arial" pitchFamily="34" charset="0"/>
                <a:ea typeface="Arial" pitchFamily="34" charset="-122"/>
                <a:cs typeface="Arial" pitchFamily="34" charset="-120"/>
              </a:rPr>
              <a:t>MIDGARD</a:t>
            </a:r>
            <a:pPr indent="0" marL="0">
              <a:buNone/>
            </a:pPr>
            <a:r>
              <a:rPr lang="en-US" sz="7200" b="1" dirty="0">
                <a:solidFill>
                  <a:srgbClr val="CA1D25"/>
                </a:solidFill>
                <a:latin typeface="Arial" pitchFamily="34" charset="0"/>
                <a:ea typeface="Arial" pitchFamily="34" charset="-122"/>
                <a:cs typeface="Arial" pitchFamily="34" charset="-120"/>
              </a:rPr>
              <a:t>.</a:t>
            </a:r>
            <a:endParaRPr lang="en-US" sz="7200" dirty="0"/>
          </a:p>
        </p:txBody>
      </p:sp>
      <p:sp>
        <p:nvSpPr>
          <p:cNvPr id="5" name="Text 2"/>
          <p:cNvSpPr txBox="1"/>
          <p:nvPr/>
        </p:nvSpPr>
        <p:spPr>
          <a:xfrm>
            <a:off x="548640" y="3017520"/>
            <a:ext cx="5486400" cy="457200"/>
          </a:xfrm>
          <a:prstGeom prst="rect">
            <a:avLst/>
          </a:prstGeom>
          <a:noFill/>
          <a:ln/>
        </p:spPr>
        <p:txBody>
          <a:bodyPr wrap="square" lIns="0" tIns="0" rIns="0" bIns="0" rtlCol="0" anchor="t"/>
          <a:lstStyle/>
          <a:p>
            <a:pPr indent="0" marL="0">
              <a:buNone/>
            </a:pPr>
            <a:r>
              <a:rPr lang="en-US" sz="2200" b="1" dirty="0">
                <a:solidFill>
                  <a:srgbClr val="101114"/>
                </a:solidFill>
                <a:latin typeface="Calibri" pitchFamily="34" charset="0"/>
                <a:ea typeface="Calibri" pitchFamily="34" charset="-122"/>
                <a:cs typeface="Calibri" pitchFamily="34" charset="-120"/>
              </a:rPr>
              <a:t>The sovereign enclosure.</a:t>
            </a:r>
            <a:endParaRPr lang="en-US" sz="2200" dirty="0"/>
          </a:p>
        </p:txBody>
      </p:sp>
      <p:sp>
        <p:nvSpPr>
          <p:cNvPr id="6" name="Text 3"/>
          <p:cNvSpPr txBox="1"/>
          <p:nvPr/>
        </p:nvSpPr>
        <p:spPr>
          <a:xfrm>
            <a:off x="548640" y="3520440"/>
            <a:ext cx="5394960" cy="1005840"/>
          </a:xfrm>
          <a:prstGeom prst="rect">
            <a:avLst/>
          </a:prstGeom>
          <a:noFill/>
          <a:ln/>
        </p:spPr>
        <p:txBody>
          <a:bodyPr wrap="square" lIns="0" tIns="0" rIns="0" bIns="0" rtlCol="0" anchor="t"/>
          <a:lstStyle/>
          <a:p>
            <a:pPr indent="0" marL="0">
              <a:buNone/>
            </a:pPr>
            <a:r>
              <a:rPr lang="en-US" sz="1500" dirty="0">
                <a:solidFill>
                  <a:srgbClr val="383D44"/>
                </a:solidFill>
                <a:latin typeface="Calibri" pitchFamily="34" charset="0"/>
                <a:ea typeface="Calibri" pitchFamily="34" charset="-122"/>
                <a:cs typeface="Calibri" pitchFamily="34" charset="-120"/>
              </a:rPr>
              <a:t>A post-quantum, air-gap-capable platform for your data, your models and your operations. One core, four products, one trust boundary.</a:t>
            </a:r>
            <a:endParaRPr lang="en-US" sz="1500" dirty="0"/>
          </a:p>
        </p:txBody>
      </p:sp>
      <p:sp>
        <p:nvSpPr>
          <p:cNvPr id="7" name="Shape 4"/>
          <p:cNvSpPr/>
          <p:nvPr/>
        </p:nvSpPr>
        <p:spPr>
          <a:xfrm>
            <a:off x="548640" y="4709160"/>
            <a:ext cx="2514600" cy="329184"/>
          </a:xfrm>
          <a:prstGeom prst="roundRect">
            <a:avLst>
              <a:gd name="adj" fmla="val 16667"/>
            </a:avLst>
          </a:prstGeom>
          <a:solidFill>
            <a:srgbClr val="EFF0F3"/>
          </a:solidFill>
          <a:ln w="9525">
            <a:solidFill>
              <a:srgbClr val="D6D9DE"/>
            </a:solidFill>
            <a:prstDash val="solid"/>
          </a:ln>
        </p:spPr>
      </p:sp>
      <p:sp>
        <p:nvSpPr>
          <p:cNvPr id="8" name="Shape 5"/>
          <p:cNvSpPr/>
          <p:nvPr/>
        </p:nvSpPr>
        <p:spPr>
          <a:xfrm>
            <a:off x="676656" y="4828032"/>
            <a:ext cx="91440" cy="91440"/>
          </a:xfrm>
          <a:prstGeom prst="ellipse">
            <a:avLst/>
          </a:prstGeom>
          <a:solidFill>
            <a:srgbClr val="168A57"/>
          </a:solidFill>
          <a:ln w="12700">
            <a:solidFill>
              <a:srgbClr val="168A57"/>
            </a:solidFill>
            <a:prstDash val="solid"/>
          </a:ln>
        </p:spPr>
      </p:sp>
      <p:sp>
        <p:nvSpPr>
          <p:cNvPr id="9" name="Text 6"/>
          <p:cNvSpPr txBox="1"/>
          <p:nvPr/>
        </p:nvSpPr>
        <p:spPr>
          <a:xfrm>
            <a:off x="822960" y="4709160"/>
            <a:ext cx="2185416" cy="329184"/>
          </a:xfrm>
          <a:prstGeom prst="rect">
            <a:avLst/>
          </a:prstGeom>
          <a:noFill/>
          <a:ln/>
        </p:spPr>
        <p:txBody>
          <a:bodyPr wrap="square" lIns="0" tIns="0" rIns="0" bIns="0" rtlCol="0" anchor="ctr"/>
          <a:lstStyle/>
          <a:p>
            <a:pPr indent="0" marL="0">
              <a:buNone/>
            </a:pPr>
            <a:r>
              <a:rPr lang="en-US" sz="900" spc="150" kern="0" dirty="0">
                <a:solidFill>
                  <a:srgbClr val="383D44"/>
                </a:solidFill>
                <a:latin typeface="Consolas" pitchFamily="34" charset="0"/>
                <a:ea typeface="Consolas" pitchFamily="34" charset="-122"/>
                <a:cs typeface="Consolas" pitchFamily="34" charset="-120"/>
              </a:rPr>
              <a:t>PQ-SEALED · ML-KEM-1024</a:t>
            </a:r>
            <a:endParaRPr lang="en-US" sz="900" dirty="0"/>
          </a:p>
        </p:txBody>
      </p:sp>
      <p:sp>
        <p:nvSpPr>
          <p:cNvPr id="10" name="Shape 7"/>
          <p:cNvSpPr/>
          <p:nvPr/>
        </p:nvSpPr>
        <p:spPr>
          <a:xfrm>
            <a:off x="3200400" y="4709160"/>
            <a:ext cx="1188720" cy="329184"/>
          </a:xfrm>
          <a:prstGeom prst="roundRect">
            <a:avLst>
              <a:gd name="adj" fmla="val 16667"/>
            </a:avLst>
          </a:prstGeom>
          <a:solidFill>
            <a:srgbClr val="EFF0F3"/>
          </a:solidFill>
          <a:ln w="9525">
            <a:solidFill>
              <a:srgbClr val="D6D9DE"/>
            </a:solidFill>
            <a:prstDash val="solid"/>
          </a:ln>
        </p:spPr>
      </p:sp>
      <p:sp>
        <p:nvSpPr>
          <p:cNvPr id="11" name="Text 8"/>
          <p:cNvSpPr txBox="1"/>
          <p:nvPr/>
        </p:nvSpPr>
        <p:spPr>
          <a:xfrm>
            <a:off x="3310128" y="4709160"/>
            <a:ext cx="1005840" cy="329184"/>
          </a:xfrm>
          <a:prstGeom prst="rect">
            <a:avLst/>
          </a:prstGeom>
          <a:noFill/>
          <a:ln/>
        </p:spPr>
        <p:txBody>
          <a:bodyPr wrap="square" lIns="0" tIns="0" rIns="0" bIns="0" rtlCol="0" anchor="ctr"/>
          <a:lstStyle/>
          <a:p>
            <a:pPr indent="0" marL="0">
              <a:buNone/>
            </a:pPr>
            <a:r>
              <a:rPr lang="en-US" sz="900" spc="150" kern="0" dirty="0">
                <a:solidFill>
                  <a:srgbClr val="383D44"/>
                </a:solidFill>
                <a:latin typeface="Consolas" pitchFamily="34" charset="0"/>
                <a:ea typeface="Consolas" pitchFamily="34" charset="-122"/>
                <a:cs typeface="Consolas" pitchFamily="34" charset="-120"/>
              </a:rPr>
              <a:t>NO EGRESS</a:t>
            </a:r>
            <a:endParaRPr lang="en-US" sz="900" dirty="0"/>
          </a:p>
        </p:txBody>
      </p:sp>
      <p:sp>
        <p:nvSpPr>
          <p:cNvPr id="12" name="Shape 9"/>
          <p:cNvSpPr/>
          <p:nvPr/>
        </p:nvSpPr>
        <p:spPr>
          <a:xfrm>
            <a:off x="4526280" y="4709160"/>
            <a:ext cx="1463040" cy="329184"/>
          </a:xfrm>
          <a:prstGeom prst="roundRect">
            <a:avLst>
              <a:gd name="adj" fmla="val 16667"/>
            </a:avLst>
          </a:prstGeom>
          <a:solidFill>
            <a:srgbClr val="EFF0F3"/>
          </a:solidFill>
          <a:ln w="9525">
            <a:solidFill>
              <a:srgbClr val="D6D9DE"/>
            </a:solidFill>
            <a:prstDash val="solid"/>
          </a:ln>
        </p:spPr>
      </p:sp>
      <p:sp>
        <p:nvSpPr>
          <p:cNvPr id="13" name="Text 10"/>
          <p:cNvSpPr txBox="1"/>
          <p:nvPr/>
        </p:nvSpPr>
        <p:spPr>
          <a:xfrm>
            <a:off x="4636008" y="4709160"/>
            <a:ext cx="1280160" cy="329184"/>
          </a:xfrm>
          <a:prstGeom prst="rect">
            <a:avLst/>
          </a:prstGeom>
          <a:noFill/>
          <a:ln/>
        </p:spPr>
        <p:txBody>
          <a:bodyPr wrap="square" lIns="0" tIns="0" rIns="0" bIns="0" rtlCol="0" anchor="ctr"/>
          <a:lstStyle/>
          <a:p>
            <a:pPr indent="0" marL="0">
              <a:buNone/>
            </a:pPr>
            <a:r>
              <a:rPr lang="en-US" sz="900" spc="150" kern="0" dirty="0">
                <a:solidFill>
                  <a:srgbClr val="383D44"/>
                </a:solidFill>
                <a:latin typeface="Consolas" pitchFamily="34" charset="0"/>
                <a:ea typeface="Consolas" pitchFamily="34" charset="-122"/>
                <a:cs typeface="Consolas" pitchFamily="34" charset="-120"/>
              </a:rPr>
              <a:t>AIR-GAP READY</a:t>
            </a:r>
            <a:endParaRPr lang="en-US" sz="900" dirty="0"/>
          </a:p>
        </p:txBody>
      </p:sp>
      <p:sp>
        <p:nvSpPr>
          <p:cNvPr id="14" name="Shape 11"/>
          <p:cNvSpPr/>
          <p:nvPr/>
        </p:nvSpPr>
        <p:spPr>
          <a:xfrm>
            <a:off x="6345936" y="1895380"/>
            <a:ext cx="5367528" cy="3067241"/>
          </a:xfrm>
          <a:prstGeom prst="roundRect">
            <a:avLst>
              <a:gd name="adj" fmla="val 1789"/>
            </a:avLst>
          </a:prstGeom>
          <a:solidFill>
            <a:srgbClr val="FFFFFF"/>
          </a:solidFill>
          <a:ln w="9525">
            <a:solidFill>
              <a:srgbClr val="BFC4CB"/>
            </a:solidFill>
            <a:prstDash val="solid"/>
          </a:ln>
          <a:effectLst>
            <a:outerShdw sx="100000" sy="100000" kx="0" ky="0" algn="bl" rotWithShape="0" blurRad="228600" dist="76200" dir="5400000">
              <a:srgbClr val="000000">
                <a:alpha val="18000"/>
              </a:srgbClr>
            </a:outerShdw>
          </a:effectLst>
        </p:spPr>
      </p:sp>
      <p:pic>
        <p:nvPicPr>
          <p:cNvPr id="15" name="Image 0" descr="/home/user/midgard-app/docs/launch/pipeline/out-light/screens/04-midgard-fabric.png">    </p:cNvPr>
          <p:cNvPicPr>
            <a:picLocks noChangeAspect="1"/>
          </p:cNvPicPr>
          <p:nvPr/>
        </p:nvPicPr>
        <p:blipFill>
          <a:blip r:embed="rId1"/>
          <a:stretch>
            <a:fillRect/>
          </a:stretch>
        </p:blipFill>
        <p:spPr>
          <a:xfrm>
            <a:off x="6400800" y="1950244"/>
            <a:ext cx="5257800" cy="2957513"/>
          </a:xfrm>
          <a:prstGeom prst="rect">
            <a:avLst/>
          </a:prstGeom>
        </p:spPr>
      </p:pic>
      <p:sp>
        <p:nvSpPr>
          <p:cNvPr id="16" name="Text 12"/>
          <p:cNvSpPr txBox="1"/>
          <p:nvPr/>
        </p:nvSpPr>
        <p:spPr>
          <a:xfrm>
            <a:off x="6400800" y="5897880"/>
            <a:ext cx="5257800" cy="274320"/>
          </a:xfrm>
          <a:prstGeom prst="rect">
            <a:avLst/>
          </a:prstGeom>
          <a:noFill/>
          <a:ln/>
        </p:spPr>
        <p:txBody>
          <a:bodyPr wrap="square" lIns="0" tIns="0" rIns="0" bIns="0" rtlCol="0" anchor="ctr"/>
          <a:lstStyle/>
          <a:p>
            <a:pPr algn="ctr" indent="0" marL="0">
              <a:buNone/>
            </a:pPr>
            <a:r>
              <a:rPr lang="en-US" sz="800" spc="150" kern="0" dirty="0">
                <a:solidFill>
                  <a:srgbClr val="8A9099"/>
                </a:solidFill>
                <a:latin typeface="Consolas" pitchFamily="34" charset="0"/>
                <a:ea typeface="Consolas" pitchFamily="34" charset="-122"/>
                <a:cs typeface="Consolas" pitchFamily="34" charset="-120"/>
              </a:rPr>
              <a:t>MIDGARD CONSOLE · RECORDED AGAINST THE REAL ENCLOSURE EDGE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F0F3"/>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8A909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8A9099"/>
                </a:solidFill>
                <a:latin typeface="Consolas" pitchFamily="34" charset="0"/>
                <a:ea typeface="Consolas" pitchFamily="34" charset="-122"/>
                <a:cs typeface="Consolas" pitchFamily="34" charset="-120"/>
              </a:rPr>
              <a:t>02</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A8171E"/>
                </a:solidFill>
                <a:latin typeface="Consolas" pitchFamily="34" charset="0"/>
                <a:ea typeface="Consolas" pitchFamily="34" charset="-122"/>
                <a:cs typeface="Consolas" pitchFamily="34" charset="-120"/>
              </a:rPr>
              <a:t>01 // AGENDA</a:t>
            </a:r>
            <a:endParaRPr lang="en-US" sz="1050" dirty="0"/>
          </a:p>
        </p:txBody>
      </p:sp>
      <p:sp>
        <p:nvSpPr>
          <p:cNvPr id="6" name="Text 3"/>
          <p:cNvSpPr txBox="1"/>
          <p:nvPr/>
        </p:nvSpPr>
        <p:spPr>
          <a:xfrm>
            <a:off x="548640" y="822960"/>
            <a:ext cx="9144000" cy="822960"/>
          </a:xfrm>
          <a:prstGeom prst="rect">
            <a:avLst/>
          </a:prstGeom>
          <a:noFill/>
          <a:ln/>
        </p:spPr>
        <p:txBody>
          <a:bodyPr wrap="square" lIns="0" tIns="0" rIns="0" bIns="0" rtlCol="0" anchor="t">
            <a:normAutofit/>
          </a:bodyPr>
          <a:lstStyle/>
          <a:p>
            <a:pPr indent="0" marL="0">
              <a:buNone/>
            </a:pPr>
            <a:r>
              <a:rPr lang="en-US" sz="3200" b="1" dirty="0">
                <a:solidFill>
                  <a:srgbClr val="101114"/>
                </a:solidFill>
                <a:latin typeface="Arial" pitchFamily="34" charset="0"/>
                <a:ea typeface="Arial" pitchFamily="34" charset="-122"/>
                <a:cs typeface="Arial" pitchFamily="34" charset="-120"/>
              </a:rPr>
              <a:t>Twenty minutes, five parts</a:t>
            </a:r>
            <a:endParaRPr lang="en-US" sz="3200" dirty="0"/>
          </a:p>
        </p:txBody>
      </p:sp>
      <p:sp>
        <p:nvSpPr>
          <p:cNvPr id="7" name="Shape 4"/>
          <p:cNvSpPr/>
          <p:nvPr/>
        </p:nvSpPr>
        <p:spPr>
          <a:xfrm>
            <a:off x="548640" y="2103120"/>
            <a:ext cx="2036003" cy="3108960"/>
          </a:xfrm>
          <a:prstGeom prst="roundRect">
            <a:avLst>
              <a:gd name="adj" fmla="val 3593"/>
            </a:avLst>
          </a:prstGeom>
          <a:solidFill>
            <a:srgbClr val="FFFFFF"/>
          </a:solidFill>
          <a:ln w="9525">
            <a:solidFill>
              <a:srgbClr val="D6D9DE"/>
            </a:solidFill>
            <a:prstDash val="solid"/>
          </a:ln>
        </p:spPr>
      </p:sp>
      <p:sp>
        <p:nvSpPr>
          <p:cNvPr id="8" name="Text 5"/>
          <p:cNvSpPr txBox="1"/>
          <p:nvPr/>
        </p:nvSpPr>
        <p:spPr>
          <a:xfrm>
            <a:off x="777240" y="2331720"/>
            <a:ext cx="1578803" cy="731520"/>
          </a:xfrm>
          <a:prstGeom prst="rect">
            <a:avLst/>
          </a:prstGeom>
          <a:noFill/>
          <a:ln/>
        </p:spPr>
        <p:txBody>
          <a:bodyPr wrap="square" lIns="0" tIns="0" rIns="0" bIns="0" rtlCol="0" anchor="ctr"/>
          <a:lstStyle/>
          <a:p>
            <a:pPr indent="0" marL="0">
              <a:buNone/>
            </a:pPr>
            <a:r>
              <a:rPr lang="en-US" sz="4000" b="1" dirty="0">
                <a:solidFill>
                  <a:srgbClr val="101114"/>
                </a:solidFill>
                <a:latin typeface="Arial" pitchFamily="34" charset="0"/>
                <a:ea typeface="Arial" pitchFamily="34" charset="-122"/>
                <a:cs typeface="Arial" pitchFamily="34" charset="-120"/>
              </a:rPr>
              <a:t>01</a:t>
            </a:r>
            <a:endParaRPr lang="en-US" sz="4000" dirty="0"/>
          </a:p>
        </p:txBody>
      </p:sp>
      <p:sp>
        <p:nvSpPr>
          <p:cNvPr id="9" name="Text 6"/>
          <p:cNvSpPr txBox="1"/>
          <p:nvPr/>
        </p:nvSpPr>
        <p:spPr>
          <a:xfrm>
            <a:off x="777240" y="3200400"/>
            <a:ext cx="1578803" cy="457200"/>
          </a:xfrm>
          <a:prstGeom prst="rect">
            <a:avLst/>
          </a:prstGeom>
          <a:noFill/>
          <a:ln/>
        </p:spPr>
        <p:txBody>
          <a:bodyPr wrap="square" lIns="0" tIns="0" rIns="0" bIns="0" rtlCol="0" anchor="t"/>
          <a:lstStyle/>
          <a:p>
            <a:pPr indent="0" marL="0">
              <a:buNone/>
            </a:pPr>
            <a:r>
              <a:rPr lang="en-US" sz="1700" b="1" dirty="0">
                <a:solidFill>
                  <a:srgbClr val="101114"/>
                </a:solidFill>
                <a:latin typeface="Calibri" pitchFamily="34" charset="0"/>
                <a:ea typeface="Calibri" pitchFamily="34" charset="-122"/>
                <a:cs typeface="Calibri" pitchFamily="34" charset="-120"/>
              </a:rPr>
              <a:t>The problem</a:t>
            </a:r>
            <a:endParaRPr lang="en-US" sz="1700" dirty="0"/>
          </a:p>
        </p:txBody>
      </p:sp>
      <p:sp>
        <p:nvSpPr>
          <p:cNvPr id="10" name="Text 7"/>
          <p:cNvSpPr txBox="1"/>
          <p:nvPr/>
        </p:nvSpPr>
        <p:spPr>
          <a:xfrm>
            <a:off x="777240" y="3657600"/>
            <a:ext cx="1578803" cy="1005840"/>
          </a:xfrm>
          <a:prstGeom prst="rect">
            <a:avLst/>
          </a:prstGeom>
          <a:noFill/>
          <a:ln/>
        </p:spPr>
        <p:txBody>
          <a:bodyPr wrap="square" lIns="0" tIns="0" rIns="0" bIns="0" rtlCol="0" anchor="t"/>
          <a:lstStyle/>
          <a:p>
            <a:pPr indent="0" marL="0">
              <a:buNone/>
            </a:pPr>
            <a:r>
              <a:rPr lang="en-US" sz="1250" dirty="0">
                <a:solidFill>
                  <a:srgbClr val="383D44"/>
                </a:solidFill>
                <a:latin typeface="Calibri" pitchFamily="34" charset="0"/>
                <a:ea typeface="Calibri" pitchFamily="34" charset="-122"/>
                <a:cs typeface="Calibri" pitchFamily="34" charset="-120"/>
              </a:rPr>
              <a:t>Why sovereign data platforms are overdue</a:t>
            </a:r>
            <a:endParaRPr lang="en-US" sz="1250" dirty="0"/>
          </a:p>
        </p:txBody>
      </p:sp>
      <p:sp>
        <p:nvSpPr>
          <p:cNvPr id="11" name="Text 8"/>
          <p:cNvSpPr txBox="1"/>
          <p:nvPr/>
        </p:nvSpPr>
        <p:spPr>
          <a:xfrm>
            <a:off x="777240" y="4709160"/>
            <a:ext cx="1578803" cy="274320"/>
          </a:xfrm>
          <a:prstGeom prst="rect">
            <a:avLst/>
          </a:prstGeom>
          <a:noFill/>
          <a:ln/>
        </p:spPr>
        <p:txBody>
          <a:bodyPr wrap="square" lIns="0" tIns="0" rIns="0" bIns="0" rtlCol="0" anchor="ctr"/>
          <a:lstStyle/>
          <a:p>
            <a:pPr indent="0" marL="0">
              <a:buNone/>
            </a:pPr>
            <a:r>
              <a:rPr lang="en-US" sz="900" spc="150" kern="0" dirty="0">
                <a:solidFill>
                  <a:srgbClr val="5C636B"/>
                </a:solidFill>
                <a:latin typeface="Consolas" pitchFamily="34" charset="0"/>
                <a:ea typeface="Consolas" pitchFamily="34" charset="-122"/>
                <a:cs typeface="Consolas" pitchFamily="34" charset="-120"/>
              </a:rPr>
              <a:t>2 MIN</a:t>
            </a:r>
            <a:endParaRPr lang="en-US" sz="900" dirty="0"/>
          </a:p>
        </p:txBody>
      </p:sp>
      <p:sp>
        <p:nvSpPr>
          <p:cNvPr id="12" name="Shape 9"/>
          <p:cNvSpPr/>
          <p:nvPr/>
        </p:nvSpPr>
        <p:spPr>
          <a:xfrm>
            <a:off x="2813243" y="2103120"/>
            <a:ext cx="2036003" cy="3108960"/>
          </a:xfrm>
          <a:prstGeom prst="roundRect">
            <a:avLst>
              <a:gd name="adj" fmla="val 3593"/>
            </a:avLst>
          </a:prstGeom>
          <a:solidFill>
            <a:srgbClr val="FFFFFF"/>
          </a:solidFill>
          <a:ln w="9525">
            <a:solidFill>
              <a:srgbClr val="D6D9DE"/>
            </a:solidFill>
            <a:prstDash val="solid"/>
          </a:ln>
        </p:spPr>
      </p:sp>
      <p:sp>
        <p:nvSpPr>
          <p:cNvPr id="13" name="Text 10"/>
          <p:cNvSpPr txBox="1"/>
          <p:nvPr/>
        </p:nvSpPr>
        <p:spPr>
          <a:xfrm>
            <a:off x="3041843" y="2331720"/>
            <a:ext cx="1578803" cy="731520"/>
          </a:xfrm>
          <a:prstGeom prst="rect">
            <a:avLst/>
          </a:prstGeom>
          <a:noFill/>
          <a:ln/>
        </p:spPr>
        <p:txBody>
          <a:bodyPr wrap="square" lIns="0" tIns="0" rIns="0" bIns="0" rtlCol="0" anchor="ctr"/>
          <a:lstStyle/>
          <a:p>
            <a:pPr indent="0" marL="0">
              <a:buNone/>
            </a:pPr>
            <a:r>
              <a:rPr lang="en-US" sz="4000" b="1" dirty="0">
                <a:solidFill>
                  <a:srgbClr val="101114"/>
                </a:solidFill>
                <a:latin typeface="Arial" pitchFamily="34" charset="0"/>
                <a:ea typeface="Arial" pitchFamily="34" charset="-122"/>
                <a:cs typeface="Arial" pitchFamily="34" charset="-120"/>
              </a:rPr>
              <a:t>02</a:t>
            </a:r>
            <a:endParaRPr lang="en-US" sz="4000" dirty="0"/>
          </a:p>
        </p:txBody>
      </p:sp>
      <p:sp>
        <p:nvSpPr>
          <p:cNvPr id="14" name="Text 11"/>
          <p:cNvSpPr txBox="1"/>
          <p:nvPr/>
        </p:nvSpPr>
        <p:spPr>
          <a:xfrm>
            <a:off x="3041843" y="3200400"/>
            <a:ext cx="1578803" cy="457200"/>
          </a:xfrm>
          <a:prstGeom prst="rect">
            <a:avLst/>
          </a:prstGeom>
          <a:noFill/>
          <a:ln/>
        </p:spPr>
        <p:txBody>
          <a:bodyPr wrap="square" lIns="0" tIns="0" rIns="0" bIns="0" rtlCol="0" anchor="t"/>
          <a:lstStyle/>
          <a:p>
            <a:pPr indent="0" marL="0">
              <a:buNone/>
            </a:pPr>
            <a:r>
              <a:rPr lang="en-US" sz="1700" b="1" dirty="0">
                <a:solidFill>
                  <a:srgbClr val="101114"/>
                </a:solidFill>
                <a:latin typeface="Calibri" pitchFamily="34" charset="0"/>
                <a:ea typeface="Calibri" pitchFamily="34" charset="-122"/>
                <a:cs typeface="Calibri" pitchFamily="34" charset="-120"/>
              </a:rPr>
              <a:t>The platform</a:t>
            </a:r>
            <a:endParaRPr lang="en-US" sz="1700" dirty="0"/>
          </a:p>
        </p:txBody>
      </p:sp>
      <p:sp>
        <p:nvSpPr>
          <p:cNvPr id="15" name="Text 12"/>
          <p:cNvSpPr txBox="1"/>
          <p:nvPr/>
        </p:nvSpPr>
        <p:spPr>
          <a:xfrm>
            <a:off x="3041843" y="3657600"/>
            <a:ext cx="1578803" cy="1005840"/>
          </a:xfrm>
          <a:prstGeom prst="rect">
            <a:avLst/>
          </a:prstGeom>
          <a:noFill/>
          <a:ln/>
        </p:spPr>
        <p:txBody>
          <a:bodyPr wrap="square" lIns="0" tIns="0" rIns="0" bIns="0" rtlCol="0" anchor="t"/>
          <a:lstStyle/>
          <a:p>
            <a:pPr indent="0" marL="0">
              <a:buNone/>
            </a:pPr>
            <a:r>
              <a:rPr lang="en-US" sz="1250" dirty="0">
                <a:solidFill>
                  <a:srgbClr val="383D44"/>
                </a:solidFill>
                <a:latin typeface="Calibri" pitchFamily="34" charset="0"/>
                <a:ea typeface="Calibri" pitchFamily="34" charset="-122"/>
                <a:cs typeface="Calibri" pitchFamily="34" charset="-120"/>
              </a:rPr>
              <a:t>One enclosure, four products, one trust boundary</a:t>
            </a:r>
            <a:endParaRPr lang="en-US" sz="1250" dirty="0"/>
          </a:p>
        </p:txBody>
      </p:sp>
      <p:sp>
        <p:nvSpPr>
          <p:cNvPr id="16" name="Text 13"/>
          <p:cNvSpPr txBox="1"/>
          <p:nvPr/>
        </p:nvSpPr>
        <p:spPr>
          <a:xfrm>
            <a:off x="3041843" y="4709160"/>
            <a:ext cx="1578803" cy="274320"/>
          </a:xfrm>
          <a:prstGeom prst="rect">
            <a:avLst/>
          </a:prstGeom>
          <a:noFill/>
          <a:ln/>
        </p:spPr>
        <p:txBody>
          <a:bodyPr wrap="square" lIns="0" tIns="0" rIns="0" bIns="0" rtlCol="0" anchor="ctr"/>
          <a:lstStyle/>
          <a:p>
            <a:pPr indent="0" marL="0">
              <a:buNone/>
            </a:pPr>
            <a:r>
              <a:rPr lang="en-US" sz="900" spc="150" kern="0" dirty="0">
                <a:solidFill>
                  <a:srgbClr val="5C636B"/>
                </a:solidFill>
                <a:latin typeface="Consolas" pitchFamily="34" charset="0"/>
                <a:ea typeface="Consolas" pitchFamily="34" charset="-122"/>
                <a:cs typeface="Consolas" pitchFamily="34" charset="-120"/>
              </a:rPr>
              <a:t>6 MIN</a:t>
            </a:r>
            <a:endParaRPr lang="en-US" sz="900" dirty="0"/>
          </a:p>
        </p:txBody>
      </p:sp>
      <p:sp>
        <p:nvSpPr>
          <p:cNvPr id="17" name="Shape 14"/>
          <p:cNvSpPr/>
          <p:nvPr/>
        </p:nvSpPr>
        <p:spPr>
          <a:xfrm>
            <a:off x="5077846" y="2103120"/>
            <a:ext cx="2036003" cy="3108960"/>
          </a:xfrm>
          <a:prstGeom prst="roundRect">
            <a:avLst>
              <a:gd name="adj" fmla="val 3593"/>
            </a:avLst>
          </a:prstGeom>
          <a:solidFill>
            <a:srgbClr val="FFFFFF"/>
          </a:solidFill>
          <a:ln w="9525">
            <a:solidFill>
              <a:srgbClr val="D6D9DE"/>
            </a:solidFill>
            <a:prstDash val="solid"/>
          </a:ln>
        </p:spPr>
      </p:sp>
      <p:sp>
        <p:nvSpPr>
          <p:cNvPr id="18" name="Text 15"/>
          <p:cNvSpPr txBox="1"/>
          <p:nvPr/>
        </p:nvSpPr>
        <p:spPr>
          <a:xfrm>
            <a:off x="5306446" y="2331720"/>
            <a:ext cx="1578803" cy="731520"/>
          </a:xfrm>
          <a:prstGeom prst="rect">
            <a:avLst/>
          </a:prstGeom>
          <a:noFill/>
          <a:ln/>
        </p:spPr>
        <p:txBody>
          <a:bodyPr wrap="square" lIns="0" tIns="0" rIns="0" bIns="0" rtlCol="0" anchor="ctr"/>
          <a:lstStyle/>
          <a:p>
            <a:pPr indent="0" marL="0">
              <a:buNone/>
            </a:pPr>
            <a:r>
              <a:rPr lang="en-US" sz="4000" b="1" dirty="0">
                <a:solidFill>
                  <a:srgbClr val="A8171E"/>
                </a:solidFill>
                <a:latin typeface="Arial" pitchFamily="34" charset="0"/>
                <a:ea typeface="Arial" pitchFamily="34" charset="-122"/>
                <a:cs typeface="Arial" pitchFamily="34" charset="-120"/>
              </a:rPr>
              <a:t>03</a:t>
            </a:r>
            <a:endParaRPr lang="en-US" sz="4000" dirty="0"/>
          </a:p>
        </p:txBody>
      </p:sp>
      <p:sp>
        <p:nvSpPr>
          <p:cNvPr id="19" name="Text 16"/>
          <p:cNvSpPr txBox="1"/>
          <p:nvPr/>
        </p:nvSpPr>
        <p:spPr>
          <a:xfrm>
            <a:off x="5306446" y="3200400"/>
            <a:ext cx="1578803" cy="457200"/>
          </a:xfrm>
          <a:prstGeom prst="rect">
            <a:avLst/>
          </a:prstGeom>
          <a:noFill/>
          <a:ln/>
        </p:spPr>
        <p:txBody>
          <a:bodyPr wrap="square" lIns="0" tIns="0" rIns="0" bIns="0" rtlCol="0" anchor="t"/>
          <a:lstStyle/>
          <a:p>
            <a:pPr indent="0" marL="0">
              <a:buNone/>
            </a:pPr>
            <a:r>
              <a:rPr lang="en-US" sz="1700" b="1" dirty="0">
                <a:solidFill>
                  <a:srgbClr val="101114"/>
                </a:solidFill>
                <a:latin typeface="Calibri" pitchFamily="34" charset="0"/>
                <a:ea typeface="Calibri" pitchFamily="34" charset="-122"/>
                <a:cs typeface="Calibri" pitchFamily="34" charset="-120"/>
              </a:rPr>
              <a:t>Live demo</a:t>
            </a:r>
            <a:endParaRPr lang="en-US" sz="1700" dirty="0"/>
          </a:p>
        </p:txBody>
      </p:sp>
      <p:sp>
        <p:nvSpPr>
          <p:cNvPr id="20" name="Text 17"/>
          <p:cNvSpPr txBox="1"/>
          <p:nvPr/>
        </p:nvSpPr>
        <p:spPr>
          <a:xfrm>
            <a:off x="5306446" y="3657600"/>
            <a:ext cx="1578803" cy="1005840"/>
          </a:xfrm>
          <a:prstGeom prst="rect">
            <a:avLst/>
          </a:prstGeom>
          <a:noFill/>
          <a:ln/>
        </p:spPr>
        <p:txBody>
          <a:bodyPr wrap="square" lIns="0" tIns="0" rIns="0" bIns="0" rtlCol="0" anchor="t"/>
          <a:lstStyle/>
          <a:p>
            <a:pPr indent="0" marL="0">
              <a:buNone/>
            </a:pPr>
            <a:r>
              <a:rPr lang="en-US" sz="1250" dirty="0">
                <a:solidFill>
                  <a:srgbClr val="383D44"/>
                </a:solidFill>
                <a:latin typeface="Calibri" pitchFamily="34" charset="0"/>
                <a:ea typeface="Calibri" pitchFamily="34" charset="-122"/>
                <a:cs typeface="Calibri" pitchFamily="34" charset="-120"/>
              </a:rPr>
              <a:t>The real edge, the consoles, a human-gated action</a:t>
            </a:r>
            <a:endParaRPr lang="en-US" sz="1250" dirty="0"/>
          </a:p>
        </p:txBody>
      </p:sp>
      <p:sp>
        <p:nvSpPr>
          <p:cNvPr id="21" name="Text 18"/>
          <p:cNvSpPr txBox="1"/>
          <p:nvPr/>
        </p:nvSpPr>
        <p:spPr>
          <a:xfrm>
            <a:off x="5306446" y="4709160"/>
            <a:ext cx="1578803" cy="274320"/>
          </a:xfrm>
          <a:prstGeom prst="rect">
            <a:avLst/>
          </a:prstGeom>
          <a:noFill/>
          <a:ln/>
        </p:spPr>
        <p:txBody>
          <a:bodyPr wrap="square" lIns="0" tIns="0" rIns="0" bIns="0" rtlCol="0" anchor="ctr"/>
          <a:lstStyle/>
          <a:p>
            <a:pPr indent="0" marL="0">
              <a:buNone/>
            </a:pPr>
            <a:r>
              <a:rPr lang="en-US" sz="900" spc="150" kern="0" dirty="0">
                <a:solidFill>
                  <a:srgbClr val="5C636B"/>
                </a:solidFill>
                <a:latin typeface="Consolas" pitchFamily="34" charset="0"/>
                <a:ea typeface="Consolas" pitchFamily="34" charset="-122"/>
                <a:cs typeface="Consolas" pitchFamily="34" charset="-120"/>
              </a:rPr>
              <a:t>5 MIN</a:t>
            </a:r>
            <a:endParaRPr lang="en-US" sz="900" dirty="0"/>
          </a:p>
        </p:txBody>
      </p:sp>
      <p:sp>
        <p:nvSpPr>
          <p:cNvPr id="22" name="Shape 19"/>
          <p:cNvSpPr/>
          <p:nvPr/>
        </p:nvSpPr>
        <p:spPr>
          <a:xfrm>
            <a:off x="7342449" y="2103120"/>
            <a:ext cx="2036003" cy="3108960"/>
          </a:xfrm>
          <a:prstGeom prst="roundRect">
            <a:avLst>
              <a:gd name="adj" fmla="val 3593"/>
            </a:avLst>
          </a:prstGeom>
          <a:solidFill>
            <a:srgbClr val="FFFFFF"/>
          </a:solidFill>
          <a:ln w="9525">
            <a:solidFill>
              <a:srgbClr val="D6D9DE"/>
            </a:solidFill>
            <a:prstDash val="solid"/>
          </a:ln>
        </p:spPr>
      </p:sp>
      <p:sp>
        <p:nvSpPr>
          <p:cNvPr id="23" name="Text 20"/>
          <p:cNvSpPr txBox="1"/>
          <p:nvPr/>
        </p:nvSpPr>
        <p:spPr>
          <a:xfrm>
            <a:off x="7571049" y="2331720"/>
            <a:ext cx="1578803" cy="731520"/>
          </a:xfrm>
          <a:prstGeom prst="rect">
            <a:avLst/>
          </a:prstGeom>
          <a:noFill/>
          <a:ln/>
        </p:spPr>
        <p:txBody>
          <a:bodyPr wrap="square" lIns="0" tIns="0" rIns="0" bIns="0" rtlCol="0" anchor="ctr"/>
          <a:lstStyle/>
          <a:p>
            <a:pPr indent="0" marL="0">
              <a:buNone/>
            </a:pPr>
            <a:r>
              <a:rPr lang="en-US" sz="4000" b="1" dirty="0">
                <a:solidFill>
                  <a:srgbClr val="101114"/>
                </a:solidFill>
                <a:latin typeface="Arial" pitchFamily="34" charset="0"/>
                <a:ea typeface="Arial" pitchFamily="34" charset="-122"/>
                <a:cs typeface="Arial" pitchFamily="34" charset="-120"/>
              </a:rPr>
              <a:t>04</a:t>
            </a:r>
            <a:endParaRPr lang="en-US" sz="4000" dirty="0"/>
          </a:p>
        </p:txBody>
      </p:sp>
      <p:sp>
        <p:nvSpPr>
          <p:cNvPr id="24" name="Text 21"/>
          <p:cNvSpPr txBox="1"/>
          <p:nvPr/>
        </p:nvSpPr>
        <p:spPr>
          <a:xfrm>
            <a:off x="7571049" y="3200400"/>
            <a:ext cx="1578803" cy="457200"/>
          </a:xfrm>
          <a:prstGeom prst="rect">
            <a:avLst/>
          </a:prstGeom>
          <a:noFill/>
          <a:ln/>
        </p:spPr>
        <p:txBody>
          <a:bodyPr wrap="square" lIns="0" tIns="0" rIns="0" bIns="0" rtlCol="0" anchor="t"/>
          <a:lstStyle/>
          <a:p>
            <a:pPr indent="0" marL="0">
              <a:buNone/>
            </a:pPr>
            <a:r>
              <a:rPr lang="en-US" sz="1700" b="1" dirty="0">
                <a:solidFill>
                  <a:srgbClr val="101114"/>
                </a:solidFill>
                <a:latin typeface="Calibri" pitchFamily="34" charset="0"/>
                <a:ea typeface="Calibri" pitchFamily="34" charset="-122"/>
                <a:cs typeface="Calibri" pitchFamily="34" charset="-120"/>
              </a:rPr>
              <a:t>Proof</a:t>
            </a:r>
            <a:endParaRPr lang="en-US" sz="1700" dirty="0"/>
          </a:p>
        </p:txBody>
      </p:sp>
      <p:sp>
        <p:nvSpPr>
          <p:cNvPr id="25" name="Text 22"/>
          <p:cNvSpPr txBox="1"/>
          <p:nvPr/>
        </p:nvSpPr>
        <p:spPr>
          <a:xfrm>
            <a:off x="7571049" y="3657600"/>
            <a:ext cx="1578803" cy="1005840"/>
          </a:xfrm>
          <a:prstGeom prst="rect">
            <a:avLst/>
          </a:prstGeom>
          <a:noFill/>
          <a:ln/>
        </p:spPr>
        <p:txBody>
          <a:bodyPr wrap="square" lIns="0" tIns="0" rIns="0" bIns="0" rtlCol="0" anchor="t"/>
          <a:lstStyle/>
          <a:p>
            <a:pPr indent="0" marL="0">
              <a:buNone/>
            </a:pPr>
            <a:r>
              <a:rPr lang="en-US" sz="1250" dirty="0">
                <a:solidFill>
                  <a:srgbClr val="383D44"/>
                </a:solidFill>
                <a:latin typeface="Calibri" pitchFamily="34" charset="0"/>
                <a:ea typeface="Calibri" pitchFamily="34" charset="-122"/>
                <a:cs typeface="Calibri" pitchFamily="34" charset="-120"/>
              </a:rPr>
              <a:t>Post-quantum by default, and the verification record</a:t>
            </a:r>
            <a:endParaRPr lang="en-US" sz="1250" dirty="0"/>
          </a:p>
        </p:txBody>
      </p:sp>
      <p:sp>
        <p:nvSpPr>
          <p:cNvPr id="26" name="Text 23"/>
          <p:cNvSpPr txBox="1"/>
          <p:nvPr/>
        </p:nvSpPr>
        <p:spPr>
          <a:xfrm>
            <a:off x="7571049" y="4709160"/>
            <a:ext cx="1578803" cy="274320"/>
          </a:xfrm>
          <a:prstGeom prst="rect">
            <a:avLst/>
          </a:prstGeom>
          <a:noFill/>
          <a:ln/>
        </p:spPr>
        <p:txBody>
          <a:bodyPr wrap="square" lIns="0" tIns="0" rIns="0" bIns="0" rtlCol="0" anchor="ctr"/>
          <a:lstStyle/>
          <a:p>
            <a:pPr indent="0" marL="0">
              <a:buNone/>
            </a:pPr>
            <a:r>
              <a:rPr lang="en-US" sz="900" spc="150" kern="0" dirty="0">
                <a:solidFill>
                  <a:srgbClr val="5C636B"/>
                </a:solidFill>
                <a:latin typeface="Consolas" pitchFamily="34" charset="0"/>
                <a:ea typeface="Consolas" pitchFamily="34" charset="-122"/>
                <a:cs typeface="Consolas" pitchFamily="34" charset="-120"/>
              </a:rPr>
              <a:t>4 MIN</a:t>
            </a:r>
            <a:endParaRPr lang="en-US" sz="900" dirty="0"/>
          </a:p>
        </p:txBody>
      </p:sp>
      <p:sp>
        <p:nvSpPr>
          <p:cNvPr id="27" name="Shape 24"/>
          <p:cNvSpPr/>
          <p:nvPr/>
        </p:nvSpPr>
        <p:spPr>
          <a:xfrm>
            <a:off x="9607052" y="2103120"/>
            <a:ext cx="2036003" cy="3108960"/>
          </a:xfrm>
          <a:prstGeom prst="roundRect">
            <a:avLst>
              <a:gd name="adj" fmla="val 3593"/>
            </a:avLst>
          </a:prstGeom>
          <a:solidFill>
            <a:srgbClr val="FFFFFF"/>
          </a:solidFill>
          <a:ln w="9525">
            <a:solidFill>
              <a:srgbClr val="D6D9DE"/>
            </a:solidFill>
            <a:prstDash val="solid"/>
          </a:ln>
        </p:spPr>
      </p:sp>
      <p:sp>
        <p:nvSpPr>
          <p:cNvPr id="28" name="Text 25"/>
          <p:cNvSpPr txBox="1"/>
          <p:nvPr/>
        </p:nvSpPr>
        <p:spPr>
          <a:xfrm>
            <a:off x="9835652" y="2331720"/>
            <a:ext cx="1578803" cy="731520"/>
          </a:xfrm>
          <a:prstGeom prst="rect">
            <a:avLst/>
          </a:prstGeom>
          <a:noFill/>
          <a:ln/>
        </p:spPr>
        <p:txBody>
          <a:bodyPr wrap="square" lIns="0" tIns="0" rIns="0" bIns="0" rtlCol="0" anchor="ctr"/>
          <a:lstStyle/>
          <a:p>
            <a:pPr indent="0" marL="0">
              <a:buNone/>
            </a:pPr>
            <a:r>
              <a:rPr lang="en-US" sz="4000" b="1" dirty="0">
                <a:solidFill>
                  <a:srgbClr val="101114"/>
                </a:solidFill>
                <a:latin typeface="Arial" pitchFamily="34" charset="0"/>
                <a:ea typeface="Arial" pitchFamily="34" charset="-122"/>
                <a:cs typeface="Arial" pitchFamily="34" charset="-120"/>
              </a:rPr>
              <a:t>05</a:t>
            </a:r>
            <a:endParaRPr lang="en-US" sz="4000" dirty="0"/>
          </a:p>
        </p:txBody>
      </p:sp>
      <p:sp>
        <p:nvSpPr>
          <p:cNvPr id="29" name="Text 26"/>
          <p:cNvSpPr txBox="1"/>
          <p:nvPr/>
        </p:nvSpPr>
        <p:spPr>
          <a:xfrm>
            <a:off x="9835652" y="3200400"/>
            <a:ext cx="1578803" cy="457200"/>
          </a:xfrm>
          <a:prstGeom prst="rect">
            <a:avLst/>
          </a:prstGeom>
          <a:noFill/>
          <a:ln/>
        </p:spPr>
        <p:txBody>
          <a:bodyPr wrap="square" lIns="0" tIns="0" rIns="0" bIns="0" rtlCol="0" anchor="t"/>
          <a:lstStyle/>
          <a:p>
            <a:pPr indent="0" marL="0">
              <a:buNone/>
            </a:pPr>
            <a:r>
              <a:rPr lang="en-US" sz="1700" b="1" dirty="0">
                <a:solidFill>
                  <a:srgbClr val="101114"/>
                </a:solidFill>
                <a:latin typeface="Calibri" pitchFamily="34" charset="0"/>
                <a:ea typeface="Calibri" pitchFamily="34" charset="-122"/>
                <a:cs typeface="Calibri" pitchFamily="34" charset="-120"/>
              </a:rPr>
              <a:t>Where we are</a:t>
            </a:r>
            <a:endParaRPr lang="en-US" sz="1700" dirty="0"/>
          </a:p>
        </p:txBody>
      </p:sp>
      <p:sp>
        <p:nvSpPr>
          <p:cNvPr id="30" name="Text 27"/>
          <p:cNvSpPr txBox="1"/>
          <p:nvPr/>
        </p:nvSpPr>
        <p:spPr>
          <a:xfrm>
            <a:off x="9835652" y="3657600"/>
            <a:ext cx="1578803" cy="1005840"/>
          </a:xfrm>
          <a:prstGeom prst="rect">
            <a:avLst/>
          </a:prstGeom>
          <a:noFill/>
          <a:ln/>
        </p:spPr>
        <p:txBody>
          <a:bodyPr wrap="square" lIns="0" tIns="0" rIns="0" bIns="0" rtlCol="0" anchor="t"/>
          <a:lstStyle/>
          <a:p>
            <a:pPr indent="0" marL="0">
              <a:buNone/>
            </a:pPr>
            <a:r>
              <a:rPr lang="en-US" sz="1250" dirty="0">
                <a:solidFill>
                  <a:srgbClr val="383D44"/>
                </a:solidFill>
                <a:latin typeface="Calibri" pitchFamily="34" charset="0"/>
                <a:ea typeface="Calibri" pitchFamily="34" charset="-122"/>
                <a:cs typeface="Calibri" pitchFamily="34" charset="-120"/>
              </a:rPr>
              <a:t>Release status, blockers and the next 90 days</a:t>
            </a:r>
            <a:endParaRPr lang="en-US" sz="1250" dirty="0"/>
          </a:p>
        </p:txBody>
      </p:sp>
      <p:sp>
        <p:nvSpPr>
          <p:cNvPr id="31" name="Text 28"/>
          <p:cNvSpPr txBox="1"/>
          <p:nvPr/>
        </p:nvSpPr>
        <p:spPr>
          <a:xfrm>
            <a:off x="9835652" y="4709160"/>
            <a:ext cx="1578803" cy="274320"/>
          </a:xfrm>
          <a:prstGeom prst="rect">
            <a:avLst/>
          </a:prstGeom>
          <a:noFill/>
          <a:ln/>
        </p:spPr>
        <p:txBody>
          <a:bodyPr wrap="square" lIns="0" tIns="0" rIns="0" bIns="0" rtlCol="0" anchor="ctr"/>
          <a:lstStyle/>
          <a:p>
            <a:pPr indent="0" marL="0">
              <a:buNone/>
            </a:pPr>
            <a:r>
              <a:rPr lang="en-US" sz="900" spc="150" kern="0" dirty="0">
                <a:solidFill>
                  <a:srgbClr val="5C636B"/>
                </a:solidFill>
                <a:latin typeface="Consolas" pitchFamily="34" charset="0"/>
                <a:ea typeface="Consolas" pitchFamily="34" charset="-122"/>
                <a:cs typeface="Consolas" pitchFamily="34" charset="-120"/>
              </a:rPr>
              <a:t>3 MIN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F0F3"/>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8A909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8A9099"/>
                </a:solidFill>
                <a:latin typeface="Consolas" pitchFamily="34" charset="0"/>
                <a:ea typeface="Consolas" pitchFamily="34" charset="-122"/>
                <a:cs typeface="Consolas" pitchFamily="34" charset="-120"/>
              </a:rPr>
              <a:t>03</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A8171E"/>
                </a:solidFill>
                <a:latin typeface="Consolas" pitchFamily="34" charset="0"/>
                <a:ea typeface="Consolas" pitchFamily="34" charset="-122"/>
                <a:cs typeface="Consolas" pitchFamily="34" charset="-120"/>
              </a:rPr>
              <a:t>02 // THE PROBLEM</a:t>
            </a:r>
            <a:endParaRPr lang="en-US" sz="1050" dirty="0"/>
          </a:p>
        </p:txBody>
      </p:sp>
      <p:sp>
        <p:nvSpPr>
          <p:cNvPr id="6" name="Text 3"/>
          <p:cNvSpPr txBox="1"/>
          <p:nvPr/>
        </p:nvSpPr>
        <p:spPr>
          <a:xfrm>
            <a:off x="548640" y="822960"/>
            <a:ext cx="10058400" cy="822960"/>
          </a:xfrm>
          <a:prstGeom prst="rect">
            <a:avLst/>
          </a:prstGeom>
          <a:noFill/>
          <a:ln/>
        </p:spPr>
        <p:txBody>
          <a:bodyPr wrap="square" lIns="0" tIns="0" rIns="0" bIns="0" rtlCol="0" anchor="t">
            <a:normAutofit/>
          </a:bodyPr>
          <a:lstStyle/>
          <a:p>
            <a:pPr indent="0" marL="0">
              <a:buNone/>
            </a:pPr>
            <a:r>
              <a:rPr lang="en-US" sz="3200" b="1" dirty="0">
                <a:solidFill>
                  <a:srgbClr val="101114"/>
                </a:solidFill>
                <a:latin typeface="Arial" pitchFamily="34" charset="0"/>
                <a:ea typeface="Arial" pitchFamily="34" charset="-122"/>
                <a:cs typeface="Arial" pitchFamily="34" charset="-120"/>
              </a:rPr>
              <a:t>Three pressures on every serious data platform</a:t>
            </a:r>
            <a:endParaRPr lang="en-US" sz="3200" dirty="0"/>
          </a:p>
        </p:txBody>
      </p:sp>
      <p:sp>
        <p:nvSpPr>
          <p:cNvPr id="7" name="Shape 4"/>
          <p:cNvSpPr/>
          <p:nvPr/>
        </p:nvSpPr>
        <p:spPr>
          <a:xfrm>
            <a:off x="548640" y="1965960"/>
            <a:ext cx="3515258" cy="3566160"/>
          </a:xfrm>
          <a:prstGeom prst="roundRect">
            <a:avLst>
              <a:gd name="adj" fmla="val 2081"/>
            </a:avLst>
          </a:prstGeom>
          <a:solidFill>
            <a:srgbClr val="FFFFFF"/>
          </a:solidFill>
          <a:ln w="9525">
            <a:solidFill>
              <a:srgbClr val="D6D9DE"/>
            </a:solidFill>
            <a:prstDash val="solid"/>
          </a:ln>
        </p:spPr>
      </p:sp>
      <p:sp>
        <p:nvSpPr>
          <p:cNvPr id="8" name="Shape 5"/>
          <p:cNvSpPr/>
          <p:nvPr/>
        </p:nvSpPr>
        <p:spPr>
          <a:xfrm>
            <a:off x="822960" y="2240280"/>
            <a:ext cx="548640" cy="548640"/>
          </a:xfrm>
          <a:prstGeom prst="ellipse">
            <a:avLst/>
          </a:prstGeom>
          <a:solidFill>
            <a:srgbClr val="E4E6EA"/>
          </a:solidFill>
          <a:ln w="6350">
            <a:solidFill>
              <a:srgbClr val="D6D9DE"/>
            </a:solidFill>
            <a:prstDash val="solid"/>
          </a:ln>
        </p:spPr>
      </p:sp>
      <p:pic>
        <p:nvPicPr>
          <p:cNvPr id="9" name="Image 0" descr="preencoded.png">    </p:cNvPr>
          <p:cNvPicPr>
            <a:picLocks noChangeAspect="1"/>
          </p:cNvPicPr>
          <p:nvPr/>
        </p:nvPicPr>
        <p:blipFill>
          <a:blip r:embed="rId1"/>
          <a:stretch>
            <a:fillRect/>
          </a:stretch>
        </p:blipFill>
        <p:spPr>
          <a:xfrm>
            <a:off x="954634" y="2371954"/>
            <a:ext cx="285293" cy="285293"/>
          </a:xfrm>
          <a:prstGeom prst="rect">
            <a:avLst/>
          </a:prstGeom>
        </p:spPr>
      </p:pic>
      <p:sp>
        <p:nvSpPr>
          <p:cNvPr id="10" name="Text 6"/>
          <p:cNvSpPr txBox="1"/>
          <p:nvPr/>
        </p:nvSpPr>
        <p:spPr>
          <a:xfrm>
            <a:off x="822960" y="2971800"/>
            <a:ext cx="2966618" cy="457200"/>
          </a:xfrm>
          <a:prstGeom prst="rect">
            <a:avLst/>
          </a:prstGeom>
          <a:noFill/>
          <a:ln/>
        </p:spPr>
        <p:txBody>
          <a:bodyPr wrap="square" lIns="0" tIns="0" rIns="0" bIns="0" rtlCol="0" anchor="t"/>
          <a:lstStyle/>
          <a:p>
            <a:pPr indent="0" marL="0">
              <a:buNone/>
            </a:pPr>
            <a:r>
              <a:rPr lang="en-US" sz="1800" b="1" dirty="0">
                <a:solidFill>
                  <a:srgbClr val="101114"/>
                </a:solidFill>
                <a:latin typeface="Calibri" pitchFamily="34" charset="0"/>
                <a:ea typeface="Calibri" pitchFamily="34" charset="-122"/>
                <a:cs typeface="Calibri" pitchFamily="34" charset="-120"/>
              </a:rPr>
              <a:t>Platforms that phone home</a:t>
            </a:r>
            <a:endParaRPr lang="en-US" sz="1800" dirty="0"/>
          </a:p>
        </p:txBody>
      </p:sp>
      <p:sp>
        <p:nvSpPr>
          <p:cNvPr id="11" name="Text 7"/>
          <p:cNvSpPr txBox="1"/>
          <p:nvPr/>
        </p:nvSpPr>
        <p:spPr>
          <a:xfrm>
            <a:off x="822960" y="3474720"/>
            <a:ext cx="2966618" cy="1737360"/>
          </a:xfrm>
          <a:prstGeom prst="rect">
            <a:avLst/>
          </a:prstGeom>
          <a:noFill/>
          <a:ln/>
        </p:spPr>
        <p:txBody>
          <a:bodyPr wrap="square" lIns="0" tIns="0" rIns="0" bIns="0" rtlCol="0" anchor="t"/>
          <a:lstStyle/>
          <a:p>
            <a:pPr indent="0" marL="0">
              <a:buNone/>
            </a:pPr>
            <a:r>
              <a:rPr lang="en-US" sz="1300" dirty="0">
                <a:solidFill>
                  <a:srgbClr val="383D44"/>
                </a:solidFill>
                <a:latin typeface="Calibri" pitchFamily="34" charset="0"/>
                <a:ea typeface="Calibri" pitchFamily="34" charset="-122"/>
                <a:cs typeface="Calibri" pitchFamily="34" charset="-120"/>
              </a:rPr>
              <a:t>Analytics, AI and delivery tooling assume an always-on cloud and a vendor in the loop. For regulated, defence and critical-infrastructure work, that is disqualifying.</a:t>
            </a:r>
            <a:endParaRPr lang="en-US" sz="1300" dirty="0"/>
          </a:p>
        </p:txBody>
      </p:sp>
      <p:sp>
        <p:nvSpPr>
          <p:cNvPr id="12" name="Text 8"/>
          <p:cNvSpPr txBox="1"/>
          <p:nvPr/>
        </p:nvSpPr>
        <p:spPr>
          <a:xfrm>
            <a:off x="822960" y="5120640"/>
            <a:ext cx="2966618" cy="274320"/>
          </a:xfrm>
          <a:prstGeom prst="rect">
            <a:avLst/>
          </a:prstGeom>
          <a:noFill/>
          <a:ln/>
        </p:spPr>
        <p:txBody>
          <a:bodyPr wrap="square" lIns="0" tIns="0" rIns="0" bIns="0" rtlCol="0" anchor="ctr"/>
          <a:lstStyle/>
          <a:p>
            <a:pPr indent="0" marL="0">
              <a:buNone/>
            </a:pPr>
            <a:r>
              <a:rPr lang="en-US" sz="850" spc="150" kern="0" dirty="0">
                <a:solidFill>
                  <a:srgbClr val="A8171E"/>
                </a:solidFill>
                <a:latin typeface="Consolas" pitchFamily="34" charset="0"/>
                <a:ea typeface="Consolas" pitchFamily="34" charset="-122"/>
                <a:cs typeface="Consolas" pitchFamily="34" charset="-120"/>
              </a:rPr>
              <a:t>MIDGARD ANSWERS WITH · SOVEREIGNTY</a:t>
            </a:r>
            <a:endParaRPr lang="en-US" sz="850" dirty="0"/>
          </a:p>
        </p:txBody>
      </p:sp>
      <p:sp>
        <p:nvSpPr>
          <p:cNvPr id="13" name="Shape 9"/>
          <p:cNvSpPr/>
          <p:nvPr/>
        </p:nvSpPr>
        <p:spPr>
          <a:xfrm>
            <a:off x="4338218" y="1965960"/>
            <a:ext cx="3515258" cy="3566160"/>
          </a:xfrm>
          <a:prstGeom prst="roundRect">
            <a:avLst>
              <a:gd name="adj" fmla="val 2081"/>
            </a:avLst>
          </a:prstGeom>
          <a:solidFill>
            <a:srgbClr val="FFFFFF"/>
          </a:solidFill>
          <a:ln w="9525">
            <a:solidFill>
              <a:srgbClr val="D6D9DE"/>
            </a:solidFill>
            <a:prstDash val="solid"/>
          </a:ln>
        </p:spPr>
      </p:sp>
      <p:sp>
        <p:nvSpPr>
          <p:cNvPr id="14" name="Shape 10"/>
          <p:cNvSpPr/>
          <p:nvPr/>
        </p:nvSpPr>
        <p:spPr>
          <a:xfrm>
            <a:off x="4612538" y="2240280"/>
            <a:ext cx="548640" cy="548640"/>
          </a:xfrm>
          <a:prstGeom prst="ellipse">
            <a:avLst/>
          </a:prstGeom>
          <a:solidFill>
            <a:srgbClr val="E4E6EA"/>
          </a:solidFill>
          <a:ln w="6350">
            <a:solidFill>
              <a:srgbClr val="D6D9DE"/>
            </a:solidFill>
            <a:prstDash val="solid"/>
          </a:ln>
        </p:spPr>
      </p:sp>
      <p:pic>
        <p:nvPicPr>
          <p:cNvPr id="15" name="Image 1" descr="preencoded.png">    </p:cNvPr>
          <p:cNvPicPr>
            <a:picLocks noChangeAspect="1"/>
          </p:cNvPicPr>
          <p:nvPr/>
        </p:nvPicPr>
        <p:blipFill>
          <a:blip r:embed="rId2"/>
          <a:stretch>
            <a:fillRect/>
          </a:stretch>
        </p:blipFill>
        <p:spPr>
          <a:xfrm>
            <a:off x="4744212" y="2371954"/>
            <a:ext cx="285293" cy="285293"/>
          </a:xfrm>
          <a:prstGeom prst="rect">
            <a:avLst/>
          </a:prstGeom>
        </p:spPr>
      </p:pic>
      <p:sp>
        <p:nvSpPr>
          <p:cNvPr id="16" name="Text 11"/>
          <p:cNvSpPr txBox="1"/>
          <p:nvPr/>
        </p:nvSpPr>
        <p:spPr>
          <a:xfrm>
            <a:off x="4612538" y="2971800"/>
            <a:ext cx="2966618" cy="457200"/>
          </a:xfrm>
          <a:prstGeom prst="rect">
            <a:avLst/>
          </a:prstGeom>
          <a:noFill/>
          <a:ln/>
        </p:spPr>
        <p:txBody>
          <a:bodyPr wrap="square" lIns="0" tIns="0" rIns="0" bIns="0" rtlCol="0" anchor="t"/>
          <a:lstStyle/>
          <a:p>
            <a:pPr indent="0" marL="0">
              <a:buNone/>
            </a:pPr>
            <a:r>
              <a:rPr lang="en-US" sz="1800" b="1" dirty="0">
                <a:solidFill>
                  <a:srgbClr val="101114"/>
                </a:solidFill>
                <a:latin typeface="Calibri" pitchFamily="34" charset="0"/>
                <a:ea typeface="Calibri" pitchFamily="34" charset="-122"/>
                <a:cs typeface="Calibri" pitchFamily="34" charset="-120"/>
              </a:rPr>
              <a:t>Harvest now, decrypt later</a:t>
            </a:r>
            <a:endParaRPr lang="en-US" sz="1800" dirty="0"/>
          </a:p>
        </p:txBody>
      </p:sp>
      <p:sp>
        <p:nvSpPr>
          <p:cNvPr id="17" name="Text 12"/>
          <p:cNvSpPr txBox="1"/>
          <p:nvPr/>
        </p:nvSpPr>
        <p:spPr>
          <a:xfrm>
            <a:off x="4612538" y="3474720"/>
            <a:ext cx="2966618" cy="1737360"/>
          </a:xfrm>
          <a:prstGeom prst="rect">
            <a:avLst/>
          </a:prstGeom>
          <a:noFill/>
          <a:ln/>
        </p:spPr>
        <p:txBody>
          <a:bodyPr wrap="square" lIns="0" tIns="0" rIns="0" bIns="0" rtlCol="0" anchor="t"/>
          <a:lstStyle/>
          <a:p>
            <a:pPr indent="0" marL="0">
              <a:buNone/>
            </a:pPr>
            <a:r>
              <a:rPr lang="en-US" sz="1300" dirty="0">
                <a:solidFill>
                  <a:srgbClr val="383D44"/>
                </a:solidFill>
                <a:latin typeface="Calibri" pitchFamily="34" charset="0"/>
                <a:ea typeface="Calibri" pitchFamily="34" charset="-122"/>
                <a:cs typeface="Calibri" pitchFamily="34" charset="-120"/>
              </a:rPr>
              <a:t>Traffic and archives captured today will be readable once large quantum computers exist. NIST finalised FIPS 203, 204 and 205 in 2024. Migration is a multi-year programme, and it has to start with the platform.</a:t>
            </a:r>
            <a:endParaRPr lang="en-US" sz="1300" dirty="0"/>
          </a:p>
        </p:txBody>
      </p:sp>
      <p:sp>
        <p:nvSpPr>
          <p:cNvPr id="18" name="Text 13"/>
          <p:cNvSpPr txBox="1"/>
          <p:nvPr/>
        </p:nvSpPr>
        <p:spPr>
          <a:xfrm>
            <a:off x="4612538" y="5120640"/>
            <a:ext cx="2966618" cy="274320"/>
          </a:xfrm>
          <a:prstGeom prst="rect">
            <a:avLst/>
          </a:prstGeom>
          <a:noFill/>
          <a:ln/>
        </p:spPr>
        <p:txBody>
          <a:bodyPr wrap="square" lIns="0" tIns="0" rIns="0" bIns="0" rtlCol="0" anchor="ctr"/>
          <a:lstStyle/>
          <a:p>
            <a:pPr indent="0" marL="0">
              <a:buNone/>
            </a:pPr>
            <a:r>
              <a:rPr lang="en-US" sz="850" spc="150" kern="0" dirty="0">
                <a:solidFill>
                  <a:srgbClr val="A8171E"/>
                </a:solidFill>
                <a:latin typeface="Consolas" pitchFamily="34" charset="0"/>
                <a:ea typeface="Consolas" pitchFamily="34" charset="-122"/>
                <a:cs typeface="Consolas" pitchFamily="34" charset="-120"/>
              </a:rPr>
              <a:t>MIDGARD ANSWERS WITH · POST-QUANTUM</a:t>
            </a:r>
            <a:endParaRPr lang="en-US" sz="850" dirty="0"/>
          </a:p>
        </p:txBody>
      </p:sp>
      <p:sp>
        <p:nvSpPr>
          <p:cNvPr id="19" name="Shape 14"/>
          <p:cNvSpPr/>
          <p:nvPr/>
        </p:nvSpPr>
        <p:spPr>
          <a:xfrm>
            <a:off x="8127797" y="1965960"/>
            <a:ext cx="3515258" cy="3566160"/>
          </a:xfrm>
          <a:prstGeom prst="roundRect">
            <a:avLst>
              <a:gd name="adj" fmla="val 2081"/>
            </a:avLst>
          </a:prstGeom>
          <a:solidFill>
            <a:srgbClr val="FFFFFF"/>
          </a:solidFill>
          <a:ln w="9525">
            <a:solidFill>
              <a:srgbClr val="D6D9DE"/>
            </a:solidFill>
            <a:prstDash val="solid"/>
          </a:ln>
        </p:spPr>
      </p:sp>
      <p:sp>
        <p:nvSpPr>
          <p:cNvPr id="20" name="Shape 15"/>
          <p:cNvSpPr/>
          <p:nvPr/>
        </p:nvSpPr>
        <p:spPr>
          <a:xfrm>
            <a:off x="8402117" y="2240280"/>
            <a:ext cx="548640" cy="548640"/>
          </a:xfrm>
          <a:prstGeom prst="ellipse">
            <a:avLst/>
          </a:prstGeom>
          <a:solidFill>
            <a:srgbClr val="E4E6EA"/>
          </a:solidFill>
          <a:ln w="6350">
            <a:solidFill>
              <a:srgbClr val="D6D9DE"/>
            </a:solidFill>
            <a:prstDash val="solid"/>
          </a:ln>
        </p:spPr>
      </p:sp>
      <p:pic>
        <p:nvPicPr>
          <p:cNvPr id="21" name="Image 2" descr="preencoded.png">    </p:cNvPr>
          <p:cNvPicPr>
            <a:picLocks noChangeAspect="1"/>
          </p:cNvPicPr>
          <p:nvPr/>
        </p:nvPicPr>
        <p:blipFill>
          <a:blip r:embed="rId3"/>
          <a:stretch>
            <a:fillRect/>
          </a:stretch>
        </p:blipFill>
        <p:spPr>
          <a:xfrm>
            <a:off x="8533790" y="2371954"/>
            <a:ext cx="285293" cy="285293"/>
          </a:xfrm>
          <a:prstGeom prst="rect">
            <a:avLst/>
          </a:prstGeom>
        </p:spPr>
      </p:pic>
      <p:sp>
        <p:nvSpPr>
          <p:cNvPr id="22" name="Text 16"/>
          <p:cNvSpPr txBox="1"/>
          <p:nvPr/>
        </p:nvSpPr>
        <p:spPr>
          <a:xfrm>
            <a:off x="8402117" y="2971800"/>
            <a:ext cx="2966618" cy="457200"/>
          </a:xfrm>
          <a:prstGeom prst="rect">
            <a:avLst/>
          </a:prstGeom>
          <a:noFill/>
          <a:ln/>
        </p:spPr>
        <p:txBody>
          <a:bodyPr wrap="square" lIns="0" tIns="0" rIns="0" bIns="0" rtlCol="0" anchor="t"/>
          <a:lstStyle/>
          <a:p>
            <a:pPr indent="0" marL="0">
              <a:buNone/>
            </a:pPr>
            <a:r>
              <a:rPr lang="en-US" sz="1800" b="1" dirty="0">
                <a:solidFill>
                  <a:srgbClr val="101114"/>
                </a:solidFill>
                <a:latin typeface="Calibri" pitchFamily="34" charset="0"/>
                <a:ea typeface="Calibri" pitchFamily="34" charset="-122"/>
                <a:cs typeface="Calibri" pitchFamily="34" charset="-120"/>
              </a:rPr>
              <a:t>Lock-in without visibility</a:t>
            </a:r>
            <a:endParaRPr lang="en-US" sz="1800" dirty="0"/>
          </a:p>
        </p:txBody>
      </p:sp>
      <p:sp>
        <p:nvSpPr>
          <p:cNvPr id="23" name="Text 17"/>
          <p:cNvSpPr txBox="1"/>
          <p:nvPr/>
        </p:nvSpPr>
        <p:spPr>
          <a:xfrm>
            <a:off x="8402117" y="3474720"/>
            <a:ext cx="2966618" cy="1737360"/>
          </a:xfrm>
          <a:prstGeom prst="rect">
            <a:avLst/>
          </a:prstGeom>
          <a:noFill/>
          <a:ln/>
        </p:spPr>
        <p:txBody>
          <a:bodyPr wrap="square" lIns="0" tIns="0" rIns="0" bIns="0" rtlCol="0" anchor="t"/>
          <a:lstStyle/>
          <a:p>
            <a:pPr indent="0" marL="0">
              <a:buNone/>
            </a:pPr>
            <a:r>
              <a:rPr lang="en-US" sz="1300" dirty="0">
                <a:solidFill>
                  <a:srgbClr val="383D44"/>
                </a:solidFill>
                <a:latin typeface="Calibri" pitchFamily="34" charset="0"/>
                <a:ea typeface="Calibri" pitchFamily="34" charset="-122"/>
                <a:cs typeface="Calibri" pitchFamily="34" charset="-120"/>
              </a:rPr>
              <a:t>The incumbent is closed, hosted and expensive. You cannot audit what it does with your data, reproduce its builds, or take your ontology with you when you leave.</a:t>
            </a:r>
            <a:endParaRPr lang="en-US" sz="1300" dirty="0"/>
          </a:p>
        </p:txBody>
      </p:sp>
      <p:sp>
        <p:nvSpPr>
          <p:cNvPr id="24" name="Text 18"/>
          <p:cNvSpPr txBox="1"/>
          <p:nvPr/>
        </p:nvSpPr>
        <p:spPr>
          <a:xfrm>
            <a:off x="8402117" y="5120640"/>
            <a:ext cx="2966618" cy="274320"/>
          </a:xfrm>
          <a:prstGeom prst="rect">
            <a:avLst/>
          </a:prstGeom>
          <a:noFill/>
          <a:ln/>
        </p:spPr>
        <p:txBody>
          <a:bodyPr wrap="square" lIns="0" tIns="0" rIns="0" bIns="0" rtlCol="0" anchor="ctr"/>
          <a:lstStyle/>
          <a:p>
            <a:pPr indent="0" marL="0">
              <a:buNone/>
            </a:pPr>
            <a:r>
              <a:rPr lang="en-US" sz="850" spc="150" kern="0" dirty="0">
                <a:solidFill>
                  <a:srgbClr val="A8171E"/>
                </a:solidFill>
                <a:latin typeface="Consolas" pitchFamily="34" charset="0"/>
                <a:ea typeface="Consolas" pitchFamily="34" charset="-122"/>
                <a:cs typeface="Consolas" pitchFamily="34" charset="-120"/>
              </a:rPr>
              <a:t>MIDGARD ANSWERS WITH · OPEN CORE</a:t>
            </a:r>
            <a:endParaRPr lang="en-US" sz="850" dirty="0"/>
          </a:p>
        </p:txBody>
      </p:sp>
      <p:sp>
        <p:nvSpPr>
          <p:cNvPr id="25" name="Text 19"/>
          <p:cNvSpPr txBox="1"/>
          <p:nvPr/>
        </p:nvSpPr>
        <p:spPr>
          <a:xfrm>
            <a:off x="548640" y="5760720"/>
            <a:ext cx="11094415" cy="548640"/>
          </a:xfrm>
          <a:prstGeom prst="rect">
            <a:avLst/>
          </a:prstGeom>
          <a:noFill/>
          <a:ln/>
        </p:spPr>
        <p:txBody>
          <a:bodyPr wrap="square" lIns="0" tIns="0" rIns="0" bIns="0" rtlCol="0" anchor="t"/>
          <a:lstStyle/>
          <a:p>
            <a:pPr indent="0" marL="0">
              <a:buNone/>
            </a:pPr>
            <a:r>
              <a:rPr lang="en-US" sz="1300" i="1" dirty="0">
                <a:solidFill>
                  <a:srgbClr val="5C636B"/>
                </a:solidFill>
                <a:latin typeface="Calibri" pitchFamily="34" charset="0"/>
                <a:ea typeface="Calibri" pitchFamily="34" charset="-122"/>
                <a:cs typeface="Calibri" pitchFamily="34" charset="-120"/>
              </a:rPr>
              <a:t>Midgard was built to answer all three at once: no outbound dependency, post-quantum cryptography applied by default, and an Apache-2.0 core with reproducible builds.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F0F3"/>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8A909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8A9099"/>
                </a:solidFill>
                <a:latin typeface="Consolas" pitchFamily="34" charset="0"/>
                <a:ea typeface="Consolas" pitchFamily="34" charset="-122"/>
                <a:cs typeface="Consolas" pitchFamily="34" charset="-120"/>
              </a:rPr>
              <a:t>04</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A8171E"/>
                </a:solidFill>
                <a:latin typeface="Consolas" pitchFamily="34" charset="0"/>
                <a:ea typeface="Consolas" pitchFamily="34" charset="-122"/>
                <a:cs typeface="Consolas" pitchFamily="34" charset="-120"/>
              </a:rPr>
              <a:t>03 // THE PLATFORM</a:t>
            </a:r>
            <a:endParaRPr lang="en-US" sz="1050" dirty="0"/>
          </a:p>
        </p:txBody>
      </p:sp>
      <p:sp>
        <p:nvSpPr>
          <p:cNvPr id="6" name="Text 3"/>
          <p:cNvSpPr txBox="1"/>
          <p:nvPr/>
        </p:nvSpPr>
        <p:spPr>
          <a:xfrm>
            <a:off x="548640" y="822960"/>
            <a:ext cx="10058400" cy="822960"/>
          </a:xfrm>
          <a:prstGeom prst="rect">
            <a:avLst/>
          </a:prstGeom>
          <a:noFill/>
          <a:ln/>
        </p:spPr>
        <p:txBody>
          <a:bodyPr wrap="square" lIns="0" tIns="0" rIns="0" bIns="0" rtlCol="0" anchor="t">
            <a:normAutofit/>
          </a:bodyPr>
          <a:lstStyle/>
          <a:p>
            <a:pPr indent="0" marL="0">
              <a:buNone/>
            </a:pPr>
            <a:r>
              <a:rPr lang="en-US" sz="3200" b="1" dirty="0">
                <a:solidFill>
                  <a:srgbClr val="101114"/>
                </a:solidFill>
                <a:latin typeface="Arial" pitchFamily="34" charset="0"/>
                <a:ea typeface="Arial" pitchFamily="34" charset="-122"/>
                <a:cs typeface="Arial" pitchFamily="34" charset="-120"/>
              </a:rPr>
              <a:t>One core platform, four composable products</a:t>
            </a:r>
            <a:endParaRPr lang="en-US" sz="3200" dirty="0"/>
          </a:p>
        </p:txBody>
      </p:sp>
      <p:sp>
        <p:nvSpPr>
          <p:cNvPr id="7" name="Shape 4"/>
          <p:cNvSpPr/>
          <p:nvPr/>
        </p:nvSpPr>
        <p:spPr>
          <a:xfrm>
            <a:off x="548640" y="1828800"/>
            <a:ext cx="2602154" cy="2148840"/>
          </a:xfrm>
          <a:prstGeom prst="roundRect">
            <a:avLst>
              <a:gd name="adj" fmla="val 3404"/>
            </a:avLst>
          </a:prstGeom>
          <a:solidFill>
            <a:srgbClr val="FFFFFF"/>
          </a:solidFill>
          <a:ln w="9525">
            <a:solidFill>
              <a:srgbClr val="D6D9DE"/>
            </a:solidFill>
            <a:prstDash val="solid"/>
          </a:ln>
        </p:spPr>
      </p:sp>
      <p:sp>
        <p:nvSpPr>
          <p:cNvPr id="8" name="Shape 5"/>
          <p:cNvSpPr/>
          <p:nvPr/>
        </p:nvSpPr>
        <p:spPr>
          <a:xfrm>
            <a:off x="777240" y="2103120"/>
            <a:ext cx="146304" cy="146304"/>
          </a:xfrm>
          <a:prstGeom prst="ellipse">
            <a:avLst/>
          </a:prstGeom>
          <a:solidFill>
            <a:srgbClr val="D96E1E"/>
          </a:solidFill>
          <a:ln w="12700">
            <a:solidFill>
              <a:srgbClr val="D96E1E"/>
            </a:solidFill>
            <a:prstDash val="solid"/>
          </a:ln>
        </p:spPr>
      </p:sp>
      <p:sp>
        <p:nvSpPr>
          <p:cNvPr id="9" name="Text 6"/>
          <p:cNvSpPr txBox="1"/>
          <p:nvPr/>
        </p:nvSpPr>
        <p:spPr>
          <a:xfrm>
            <a:off x="1005840" y="1993392"/>
            <a:ext cx="1962074" cy="365760"/>
          </a:xfrm>
          <a:prstGeom prst="rect">
            <a:avLst/>
          </a:prstGeom>
          <a:noFill/>
          <a:ln/>
        </p:spPr>
        <p:txBody>
          <a:bodyPr wrap="square" lIns="0" tIns="0" rIns="0" bIns="0" rtlCol="0" anchor="ctr"/>
          <a:lstStyle/>
          <a:p>
            <a:pPr indent="0" marL="0">
              <a:buNone/>
            </a:pPr>
            <a:r>
              <a:rPr lang="en-US" sz="1700" b="1" dirty="0">
                <a:solidFill>
                  <a:srgbClr val="B25715"/>
                </a:solidFill>
                <a:latin typeface="Arial" pitchFamily="34" charset="0"/>
                <a:ea typeface="Arial" pitchFamily="34" charset="-122"/>
                <a:cs typeface="Arial" pitchFamily="34" charset="-120"/>
              </a:rPr>
              <a:t>FORGE</a:t>
            </a:r>
            <a:endParaRPr lang="en-US" sz="1700" dirty="0"/>
          </a:p>
        </p:txBody>
      </p:sp>
      <p:sp>
        <p:nvSpPr>
          <p:cNvPr id="10" name="Text 7"/>
          <p:cNvSpPr txBox="1"/>
          <p:nvPr/>
        </p:nvSpPr>
        <p:spPr>
          <a:xfrm>
            <a:off x="777240" y="2450592"/>
            <a:ext cx="2144954" cy="320040"/>
          </a:xfrm>
          <a:prstGeom prst="rect">
            <a:avLst/>
          </a:prstGeom>
          <a:noFill/>
          <a:ln/>
        </p:spPr>
        <p:txBody>
          <a:bodyPr wrap="square" lIns="0" tIns="0" rIns="0" bIns="0" rtlCol="0" anchor="t"/>
          <a:lstStyle/>
          <a:p>
            <a:pPr indent="0" marL="0">
              <a:buNone/>
            </a:pPr>
            <a:r>
              <a:rPr lang="en-US" sz="1350" b="1" dirty="0">
                <a:solidFill>
                  <a:srgbClr val="101114"/>
                </a:solidFill>
                <a:latin typeface="Calibri" pitchFamily="34" charset="0"/>
                <a:ea typeface="Calibri" pitchFamily="34" charset="-122"/>
                <a:cs typeface="Calibri" pitchFamily="34" charset="-120"/>
              </a:rPr>
              <a:t>Data operations</a:t>
            </a:r>
            <a:endParaRPr lang="en-US" sz="1350" dirty="0"/>
          </a:p>
        </p:txBody>
      </p:sp>
      <p:sp>
        <p:nvSpPr>
          <p:cNvPr id="11" name="Text 8"/>
          <p:cNvSpPr txBox="1"/>
          <p:nvPr/>
        </p:nvSpPr>
        <p:spPr>
          <a:xfrm>
            <a:off x="777240" y="2788920"/>
            <a:ext cx="2144954" cy="731520"/>
          </a:xfrm>
          <a:prstGeom prst="rect">
            <a:avLst/>
          </a:prstGeom>
          <a:noFill/>
          <a:ln/>
        </p:spPr>
        <p:txBody>
          <a:bodyPr wrap="square" lIns="0" tIns="0" rIns="0" bIns="0" rtlCol="0" anchor="t"/>
          <a:lstStyle/>
          <a:p>
            <a:pPr indent="0" marL="0">
              <a:buNone/>
            </a:pPr>
            <a:r>
              <a:rPr lang="en-US" sz="1200" dirty="0">
                <a:solidFill>
                  <a:srgbClr val="383D44"/>
                </a:solidFill>
                <a:latin typeface="Calibri" pitchFamily="34" charset="0"/>
                <a:ea typeface="Calibri" pitchFamily="34" charset="-122"/>
                <a:cs typeface="Calibri" pitchFamily="34" charset="-120"/>
              </a:rPr>
              <a:t>Ingest, transform, version, project to the fabric</a:t>
            </a:r>
            <a:endParaRPr lang="en-US" sz="1200" dirty="0"/>
          </a:p>
        </p:txBody>
      </p:sp>
      <p:sp>
        <p:nvSpPr>
          <p:cNvPr id="12" name="Shape 9"/>
          <p:cNvSpPr/>
          <p:nvPr/>
        </p:nvSpPr>
        <p:spPr>
          <a:xfrm>
            <a:off x="3379394" y="1828800"/>
            <a:ext cx="2602154" cy="2148840"/>
          </a:xfrm>
          <a:prstGeom prst="roundRect">
            <a:avLst>
              <a:gd name="adj" fmla="val 3404"/>
            </a:avLst>
          </a:prstGeom>
          <a:solidFill>
            <a:srgbClr val="FFFFFF"/>
          </a:solidFill>
          <a:ln w="9525">
            <a:solidFill>
              <a:srgbClr val="D6D9DE"/>
            </a:solidFill>
            <a:prstDash val="solid"/>
          </a:ln>
        </p:spPr>
      </p:sp>
      <p:sp>
        <p:nvSpPr>
          <p:cNvPr id="13" name="Shape 10"/>
          <p:cNvSpPr/>
          <p:nvPr/>
        </p:nvSpPr>
        <p:spPr>
          <a:xfrm>
            <a:off x="3607994" y="2103120"/>
            <a:ext cx="146304" cy="146304"/>
          </a:xfrm>
          <a:prstGeom prst="ellipse">
            <a:avLst/>
          </a:prstGeom>
          <a:solidFill>
            <a:srgbClr val="23A8B6"/>
          </a:solidFill>
          <a:ln w="12700">
            <a:solidFill>
              <a:srgbClr val="23A8B6"/>
            </a:solidFill>
            <a:prstDash val="solid"/>
          </a:ln>
        </p:spPr>
      </p:sp>
      <p:sp>
        <p:nvSpPr>
          <p:cNvPr id="14" name="Text 11"/>
          <p:cNvSpPr txBox="1"/>
          <p:nvPr/>
        </p:nvSpPr>
        <p:spPr>
          <a:xfrm>
            <a:off x="3836594" y="1993392"/>
            <a:ext cx="1962074" cy="365760"/>
          </a:xfrm>
          <a:prstGeom prst="rect">
            <a:avLst/>
          </a:prstGeom>
          <a:noFill/>
          <a:ln/>
        </p:spPr>
        <p:txBody>
          <a:bodyPr wrap="square" lIns="0" tIns="0" rIns="0" bIns="0" rtlCol="0" anchor="ctr"/>
          <a:lstStyle/>
          <a:p>
            <a:pPr indent="0" marL="0">
              <a:buNone/>
            </a:pPr>
            <a:r>
              <a:rPr lang="en-US" sz="1700" b="1" dirty="0">
                <a:solidFill>
                  <a:srgbClr val="17828E"/>
                </a:solidFill>
                <a:latin typeface="Arial" pitchFamily="34" charset="0"/>
                <a:ea typeface="Arial" pitchFamily="34" charset="-122"/>
                <a:cs typeface="Arial" pitchFamily="34" charset="-120"/>
              </a:rPr>
              <a:t>MIMIR</a:t>
            </a:r>
            <a:endParaRPr lang="en-US" sz="1700" dirty="0"/>
          </a:p>
        </p:txBody>
      </p:sp>
      <p:sp>
        <p:nvSpPr>
          <p:cNvPr id="15" name="Text 12"/>
          <p:cNvSpPr txBox="1"/>
          <p:nvPr/>
        </p:nvSpPr>
        <p:spPr>
          <a:xfrm>
            <a:off x="3607994" y="2450592"/>
            <a:ext cx="2144954" cy="320040"/>
          </a:xfrm>
          <a:prstGeom prst="rect">
            <a:avLst/>
          </a:prstGeom>
          <a:noFill/>
          <a:ln/>
        </p:spPr>
        <p:txBody>
          <a:bodyPr wrap="square" lIns="0" tIns="0" rIns="0" bIns="0" rtlCol="0" anchor="t"/>
          <a:lstStyle/>
          <a:p>
            <a:pPr indent="0" marL="0">
              <a:buNone/>
            </a:pPr>
            <a:r>
              <a:rPr lang="en-US" sz="1350" b="1" dirty="0">
                <a:solidFill>
                  <a:srgbClr val="101114"/>
                </a:solidFill>
                <a:latin typeface="Calibri" pitchFamily="34" charset="0"/>
                <a:ea typeface="Calibri" pitchFamily="34" charset="-122"/>
                <a:cs typeface="Calibri" pitchFamily="34" charset="-120"/>
              </a:rPr>
              <a:t>Local agentic AI</a:t>
            </a:r>
            <a:endParaRPr lang="en-US" sz="1350" dirty="0"/>
          </a:p>
        </p:txBody>
      </p:sp>
      <p:sp>
        <p:nvSpPr>
          <p:cNvPr id="16" name="Text 13"/>
          <p:cNvSpPr txBox="1"/>
          <p:nvPr/>
        </p:nvSpPr>
        <p:spPr>
          <a:xfrm>
            <a:off x="3607994" y="2788920"/>
            <a:ext cx="2144954" cy="731520"/>
          </a:xfrm>
          <a:prstGeom prst="rect">
            <a:avLst/>
          </a:prstGeom>
          <a:noFill/>
          <a:ln/>
        </p:spPr>
        <p:txBody>
          <a:bodyPr wrap="square" lIns="0" tIns="0" rIns="0" bIns="0" rtlCol="0" anchor="t"/>
          <a:lstStyle/>
          <a:p>
            <a:pPr indent="0" marL="0">
              <a:buNone/>
            </a:pPr>
            <a:r>
              <a:rPr lang="en-US" sz="1200" dirty="0">
                <a:solidFill>
                  <a:srgbClr val="383D44"/>
                </a:solidFill>
                <a:latin typeface="Calibri" pitchFamily="34" charset="0"/>
                <a:ea typeface="Calibri" pitchFamily="34" charset="-122"/>
                <a:cs typeface="Calibri" pitchFamily="34" charset="-120"/>
              </a:rPr>
              <a:t>In-enclosure inference, grounding, agents, evals</a:t>
            </a:r>
            <a:endParaRPr lang="en-US" sz="1200" dirty="0"/>
          </a:p>
        </p:txBody>
      </p:sp>
      <p:sp>
        <p:nvSpPr>
          <p:cNvPr id="17" name="Shape 14"/>
          <p:cNvSpPr/>
          <p:nvPr/>
        </p:nvSpPr>
        <p:spPr>
          <a:xfrm>
            <a:off x="6210148" y="1828800"/>
            <a:ext cx="2602154" cy="2148840"/>
          </a:xfrm>
          <a:prstGeom prst="roundRect">
            <a:avLst>
              <a:gd name="adj" fmla="val 3404"/>
            </a:avLst>
          </a:prstGeom>
          <a:solidFill>
            <a:srgbClr val="FFFFFF"/>
          </a:solidFill>
          <a:ln w="9525">
            <a:solidFill>
              <a:srgbClr val="D6D9DE"/>
            </a:solidFill>
            <a:prstDash val="solid"/>
          </a:ln>
        </p:spPr>
      </p:sp>
      <p:sp>
        <p:nvSpPr>
          <p:cNvPr id="18" name="Shape 15"/>
          <p:cNvSpPr/>
          <p:nvPr/>
        </p:nvSpPr>
        <p:spPr>
          <a:xfrm>
            <a:off x="6438748" y="2103120"/>
            <a:ext cx="146304" cy="146304"/>
          </a:xfrm>
          <a:prstGeom prst="ellipse">
            <a:avLst/>
          </a:prstGeom>
          <a:solidFill>
            <a:srgbClr val="7D5CE6"/>
          </a:solidFill>
          <a:ln w="12700">
            <a:solidFill>
              <a:srgbClr val="7D5CE6"/>
            </a:solidFill>
            <a:prstDash val="solid"/>
          </a:ln>
        </p:spPr>
      </p:sp>
      <p:sp>
        <p:nvSpPr>
          <p:cNvPr id="19" name="Text 16"/>
          <p:cNvSpPr txBox="1"/>
          <p:nvPr/>
        </p:nvSpPr>
        <p:spPr>
          <a:xfrm>
            <a:off x="6667348" y="1993392"/>
            <a:ext cx="1962074" cy="365760"/>
          </a:xfrm>
          <a:prstGeom prst="rect">
            <a:avLst/>
          </a:prstGeom>
          <a:noFill/>
          <a:ln/>
        </p:spPr>
        <p:txBody>
          <a:bodyPr wrap="square" lIns="0" tIns="0" rIns="0" bIns="0" rtlCol="0" anchor="ctr"/>
          <a:lstStyle/>
          <a:p>
            <a:pPr indent="0" marL="0">
              <a:buNone/>
            </a:pPr>
            <a:r>
              <a:rPr lang="en-US" sz="1700" b="1" dirty="0">
                <a:solidFill>
                  <a:srgbClr val="6244C2"/>
                </a:solidFill>
                <a:latin typeface="Arial" pitchFamily="34" charset="0"/>
                <a:ea typeface="Arial" pitchFamily="34" charset="-122"/>
                <a:cs typeface="Arial" pitchFamily="34" charset="-120"/>
              </a:rPr>
              <a:t>BIFROST</a:t>
            </a:r>
            <a:endParaRPr lang="en-US" sz="1700" dirty="0"/>
          </a:p>
        </p:txBody>
      </p:sp>
      <p:sp>
        <p:nvSpPr>
          <p:cNvPr id="20" name="Text 17"/>
          <p:cNvSpPr txBox="1"/>
          <p:nvPr/>
        </p:nvSpPr>
        <p:spPr>
          <a:xfrm>
            <a:off x="6438748" y="2450592"/>
            <a:ext cx="2144954" cy="320040"/>
          </a:xfrm>
          <a:prstGeom prst="rect">
            <a:avLst/>
          </a:prstGeom>
          <a:noFill/>
          <a:ln/>
        </p:spPr>
        <p:txBody>
          <a:bodyPr wrap="square" lIns="0" tIns="0" rIns="0" bIns="0" rtlCol="0" anchor="t"/>
          <a:lstStyle/>
          <a:p>
            <a:pPr indent="0" marL="0">
              <a:buNone/>
            </a:pPr>
            <a:r>
              <a:rPr lang="en-US" sz="1350" b="1" dirty="0">
                <a:solidFill>
                  <a:srgbClr val="101114"/>
                </a:solidFill>
                <a:latin typeface="Calibri" pitchFamily="34" charset="0"/>
                <a:ea typeface="Calibri" pitchFamily="34" charset="-122"/>
                <a:cs typeface="Calibri" pitchFamily="34" charset="-120"/>
              </a:rPr>
              <a:t>Continuous delivery</a:t>
            </a:r>
            <a:endParaRPr lang="en-US" sz="1350" dirty="0"/>
          </a:p>
        </p:txBody>
      </p:sp>
      <p:sp>
        <p:nvSpPr>
          <p:cNvPr id="21" name="Text 18"/>
          <p:cNvSpPr txBox="1"/>
          <p:nvPr/>
        </p:nvSpPr>
        <p:spPr>
          <a:xfrm>
            <a:off x="6438748" y="2788920"/>
            <a:ext cx="2144954" cy="731520"/>
          </a:xfrm>
          <a:prstGeom prst="rect">
            <a:avLst/>
          </a:prstGeom>
          <a:noFill/>
          <a:ln/>
        </p:spPr>
        <p:txBody>
          <a:bodyPr wrap="square" lIns="0" tIns="0" rIns="0" bIns="0" rtlCol="0" anchor="t"/>
          <a:lstStyle/>
          <a:p>
            <a:pPr indent="0" marL="0">
              <a:buNone/>
            </a:pPr>
            <a:r>
              <a:rPr lang="en-US" sz="1200" dirty="0">
                <a:solidFill>
                  <a:srgbClr val="383D44"/>
                </a:solidFill>
                <a:latin typeface="Calibri" pitchFamily="34" charset="0"/>
                <a:ea typeface="Calibri" pitchFamily="34" charset="-122"/>
                <a:cs typeface="Calibri" pitchFamily="34" charset="-120"/>
              </a:rPr>
              <a:t>PQ-signed artefacts, rings, fleet, offline bundles</a:t>
            </a:r>
            <a:endParaRPr lang="en-US" sz="1200" dirty="0"/>
          </a:p>
        </p:txBody>
      </p:sp>
      <p:sp>
        <p:nvSpPr>
          <p:cNvPr id="22" name="Shape 19"/>
          <p:cNvSpPr/>
          <p:nvPr/>
        </p:nvSpPr>
        <p:spPr>
          <a:xfrm>
            <a:off x="9040901" y="1828800"/>
            <a:ext cx="2602154" cy="2148840"/>
          </a:xfrm>
          <a:prstGeom prst="roundRect">
            <a:avLst>
              <a:gd name="adj" fmla="val 3404"/>
            </a:avLst>
          </a:prstGeom>
          <a:solidFill>
            <a:srgbClr val="FFFFFF"/>
          </a:solidFill>
          <a:ln w="9525">
            <a:solidFill>
              <a:srgbClr val="D6D9DE"/>
            </a:solidFill>
            <a:prstDash val="solid"/>
          </a:ln>
        </p:spPr>
      </p:sp>
      <p:sp>
        <p:nvSpPr>
          <p:cNvPr id="23" name="Shape 20"/>
          <p:cNvSpPr/>
          <p:nvPr/>
        </p:nvSpPr>
        <p:spPr>
          <a:xfrm>
            <a:off x="9269501" y="2103120"/>
            <a:ext cx="146304" cy="146304"/>
          </a:xfrm>
          <a:prstGeom prst="ellipse">
            <a:avLst/>
          </a:prstGeom>
          <a:solidFill>
            <a:srgbClr val="C99A22"/>
          </a:solidFill>
          <a:ln w="12700">
            <a:solidFill>
              <a:srgbClr val="C99A22"/>
            </a:solidFill>
            <a:prstDash val="solid"/>
          </a:ln>
        </p:spPr>
      </p:sp>
      <p:sp>
        <p:nvSpPr>
          <p:cNvPr id="24" name="Text 21"/>
          <p:cNvSpPr txBox="1"/>
          <p:nvPr/>
        </p:nvSpPr>
        <p:spPr>
          <a:xfrm>
            <a:off x="9498101" y="1993392"/>
            <a:ext cx="1962074" cy="365760"/>
          </a:xfrm>
          <a:prstGeom prst="rect">
            <a:avLst/>
          </a:prstGeom>
          <a:noFill/>
          <a:ln/>
        </p:spPr>
        <p:txBody>
          <a:bodyPr wrap="square" lIns="0" tIns="0" rIns="0" bIns="0" rtlCol="0" anchor="ctr"/>
          <a:lstStyle/>
          <a:p>
            <a:pPr indent="0" marL="0">
              <a:buNone/>
            </a:pPr>
            <a:r>
              <a:rPr lang="en-US" sz="1700" b="1" dirty="0">
                <a:solidFill>
                  <a:srgbClr val="A17A17"/>
                </a:solidFill>
                <a:latin typeface="Arial" pitchFamily="34" charset="0"/>
                <a:ea typeface="Arial" pitchFamily="34" charset="-122"/>
                <a:cs typeface="Arial" pitchFamily="34" charset="-120"/>
              </a:rPr>
              <a:t>HEIMDALL</a:t>
            </a:r>
            <a:endParaRPr lang="en-US" sz="1700" dirty="0"/>
          </a:p>
        </p:txBody>
      </p:sp>
      <p:sp>
        <p:nvSpPr>
          <p:cNvPr id="25" name="Text 22"/>
          <p:cNvSpPr txBox="1"/>
          <p:nvPr/>
        </p:nvSpPr>
        <p:spPr>
          <a:xfrm>
            <a:off x="9269501" y="2450592"/>
            <a:ext cx="2144954" cy="320040"/>
          </a:xfrm>
          <a:prstGeom prst="rect">
            <a:avLst/>
          </a:prstGeom>
          <a:noFill/>
          <a:ln/>
        </p:spPr>
        <p:txBody>
          <a:bodyPr wrap="square" lIns="0" tIns="0" rIns="0" bIns="0" rtlCol="0" anchor="t"/>
          <a:lstStyle/>
          <a:p>
            <a:pPr indent="0" marL="0">
              <a:buNone/>
            </a:pPr>
            <a:r>
              <a:rPr lang="en-US" sz="1350" b="1" dirty="0">
                <a:solidFill>
                  <a:srgbClr val="101114"/>
                </a:solidFill>
                <a:latin typeface="Calibri" pitchFamily="34" charset="0"/>
                <a:ea typeface="Calibri" pitchFamily="34" charset="-122"/>
                <a:cs typeface="Calibri" pitchFamily="34" charset="-120"/>
              </a:rPr>
              <a:t>Operational fusion</a:t>
            </a:r>
            <a:endParaRPr lang="en-US" sz="1350" dirty="0"/>
          </a:p>
        </p:txBody>
      </p:sp>
      <p:sp>
        <p:nvSpPr>
          <p:cNvPr id="26" name="Text 23"/>
          <p:cNvSpPr txBox="1"/>
          <p:nvPr/>
        </p:nvSpPr>
        <p:spPr>
          <a:xfrm>
            <a:off x="9269501" y="2788920"/>
            <a:ext cx="2144954" cy="731520"/>
          </a:xfrm>
          <a:prstGeom prst="rect">
            <a:avLst/>
          </a:prstGeom>
          <a:noFill/>
          <a:ln/>
        </p:spPr>
        <p:txBody>
          <a:bodyPr wrap="square" lIns="0" tIns="0" rIns="0" bIns="0" rtlCol="0" anchor="t"/>
          <a:lstStyle/>
          <a:p>
            <a:pPr indent="0" marL="0">
              <a:buNone/>
            </a:pPr>
            <a:r>
              <a:rPr lang="en-US" sz="1200" dirty="0">
                <a:solidFill>
                  <a:srgbClr val="383D44"/>
                </a:solidFill>
                <a:latin typeface="Calibri" pitchFamily="34" charset="0"/>
                <a:ea typeface="Calibri" pitchFamily="34" charset="-122"/>
                <a:cs typeface="Calibri" pitchFamily="34" charset="-120"/>
              </a:rPr>
              <a:t>Feeds, one common picture, decision workflows</a:t>
            </a:r>
            <a:endParaRPr lang="en-US" sz="1200" dirty="0"/>
          </a:p>
        </p:txBody>
      </p:sp>
      <p:sp>
        <p:nvSpPr>
          <p:cNvPr id="27" name="Shape 24"/>
          <p:cNvSpPr/>
          <p:nvPr/>
        </p:nvSpPr>
        <p:spPr>
          <a:xfrm>
            <a:off x="548640" y="4206240"/>
            <a:ext cx="11094415" cy="1051560"/>
          </a:xfrm>
          <a:prstGeom prst="roundRect">
            <a:avLst>
              <a:gd name="adj" fmla="val 6957"/>
            </a:avLst>
          </a:prstGeom>
          <a:solidFill>
            <a:srgbClr val="F7F8FA"/>
          </a:solidFill>
          <a:ln w="9525">
            <a:solidFill>
              <a:srgbClr val="CA1D25"/>
            </a:solidFill>
            <a:prstDash val="solid"/>
          </a:ln>
        </p:spPr>
      </p:sp>
      <p:sp>
        <p:nvSpPr>
          <p:cNvPr id="28" name="Shape 25"/>
          <p:cNvSpPr/>
          <p:nvPr/>
        </p:nvSpPr>
        <p:spPr>
          <a:xfrm>
            <a:off x="822960" y="4480560"/>
            <a:ext cx="146304" cy="146304"/>
          </a:xfrm>
          <a:prstGeom prst="ellipse">
            <a:avLst/>
          </a:prstGeom>
          <a:solidFill>
            <a:srgbClr val="CA1D25"/>
          </a:solidFill>
          <a:ln w="12700">
            <a:solidFill>
              <a:srgbClr val="CA1D25"/>
            </a:solidFill>
            <a:prstDash val="solid"/>
          </a:ln>
        </p:spPr>
      </p:sp>
      <p:sp>
        <p:nvSpPr>
          <p:cNvPr id="29" name="Text 26"/>
          <p:cNvSpPr txBox="1"/>
          <p:nvPr/>
        </p:nvSpPr>
        <p:spPr>
          <a:xfrm>
            <a:off x="1051560" y="4343400"/>
            <a:ext cx="2011680" cy="411480"/>
          </a:xfrm>
          <a:prstGeom prst="rect">
            <a:avLst/>
          </a:prstGeom>
          <a:noFill/>
          <a:ln/>
        </p:spPr>
        <p:txBody>
          <a:bodyPr wrap="square" lIns="0" tIns="0" rIns="0" bIns="0" rtlCol="0" anchor="ctr"/>
          <a:lstStyle/>
          <a:p>
            <a:pPr indent="0" marL="0">
              <a:buNone/>
            </a:pPr>
            <a:r>
              <a:rPr lang="en-US" sz="1900" b="1" dirty="0">
                <a:solidFill>
                  <a:srgbClr val="A8171E"/>
                </a:solidFill>
                <a:latin typeface="Arial" pitchFamily="34" charset="0"/>
                <a:ea typeface="Arial" pitchFamily="34" charset="-122"/>
                <a:cs typeface="Arial" pitchFamily="34" charset="-120"/>
              </a:rPr>
              <a:t>MIDGARD</a:t>
            </a:r>
            <a:endParaRPr lang="en-US" sz="1900" dirty="0"/>
          </a:p>
        </p:txBody>
      </p:sp>
      <p:sp>
        <p:nvSpPr>
          <p:cNvPr id="30" name="Text 27"/>
          <p:cNvSpPr txBox="1"/>
          <p:nvPr/>
        </p:nvSpPr>
        <p:spPr>
          <a:xfrm>
            <a:off x="1051560" y="4754880"/>
            <a:ext cx="7772400" cy="365760"/>
          </a:xfrm>
          <a:prstGeom prst="rect">
            <a:avLst/>
          </a:prstGeom>
          <a:noFill/>
          <a:ln/>
        </p:spPr>
        <p:txBody>
          <a:bodyPr wrap="square" lIns="0" tIns="0" rIns="0" bIns="0" rtlCol="0" anchor="t"/>
          <a:lstStyle/>
          <a:p>
            <a:pPr indent="0" marL="0">
              <a:buNone/>
            </a:pPr>
            <a:r>
              <a:rPr lang="en-US" sz="1250" dirty="0">
                <a:solidFill>
                  <a:srgbClr val="383D44"/>
                </a:solidFill>
                <a:latin typeface="Calibri" pitchFamily="34" charset="0"/>
                <a:ea typeface="Calibri" pitchFamily="34" charset="-122"/>
                <a:cs typeface="Calibri" pitchFamily="34" charset="-120"/>
              </a:rPr>
              <a:t>The enclosure: identity, object/ontology fabric, storage, compute, governance, PQ crypto substrate</a:t>
            </a:r>
            <a:endParaRPr lang="en-US" sz="1250" dirty="0"/>
          </a:p>
        </p:txBody>
      </p:sp>
      <p:sp>
        <p:nvSpPr>
          <p:cNvPr id="31" name="Shape 28"/>
          <p:cNvSpPr/>
          <p:nvPr/>
        </p:nvSpPr>
        <p:spPr>
          <a:xfrm>
            <a:off x="548640" y="5486400"/>
            <a:ext cx="5432908" cy="777240"/>
          </a:xfrm>
          <a:prstGeom prst="roundRect">
            <a:avLst>
              <a:gd name="adj" fmla="val 9412"/>
            </a:avLst>
          </a:prstGeom>
          <a:solidFill>
            <a:srgbClr val="FFFFFF"/>
          </a:solidFill>
          <a:ln w="9525">
            <a:solidFill>
              <a:srgbClr val="D6D9DE"/>
            </a:solidFill>
            <a:prstDash val="solid"/>
          </a:ln>
        </p:spPr>
      </p:sp>
      <p:sp>
        <p:nvSpPr>
          <p:cNvPr id="32" name="Text 29"/>
          <p:cNvSpPr txBox="1"/>
          <p:nvPr/>
        </p:nvSpPr>
        <p:spPr>
          <a:xfrm>
            <a:off x="822960" y="5559552"/>
            <a:ext cx="2377440" cy="320040"/>
          </a:xfrm>
          <a:prstGeom prst="rect">
            <a:avLst/>
          </a:prstGeom>
          <a:noFill/>
          <a:ln/>
        </p:spPr>
        <p:txBody>
          <a:bodyPr wrap="square" lIns="0" tIns="0" rIns="0" bIns="0" rtlCol="0" anchor="t"/>
          <a:lstStyle/>
          <a:p>
            <a:pPr indent="0" marL="0">
              <a:buNone/>
            </a:pPr>
            <a:r>
              <a:rPr lang="en-US" sz="1300" b="1" dirty="0">
                <a:solidFill>
                  <a:srgbClr val="101114"/>
                </a:solidFill>
                <a:latin typeface="Calibri" pitchFamily="34" charset="0"/>
                <a:ea typeface="Calibri" pitchFamily="34" charset="-122"/>
                <a:cs typeface="Calibri" pitchFamily="34" charset="-120"/>
              </a:rPr>
              <a:t>Admin Control Panel</a:t>
            </a:r>
            <a:endParaRPr lang="en-US" sz="1300" dirty="0"/>
          </a:p>
        </p:txBody>
      </p:sp>
      <p:sp>
        <p:nvSpPr>
          <p:cNvPr id="33" name="Text 30"/>
          <p:cNvSpPr txBox="1"/>
          <p:nvPr/>
        </p:nvSpPr>
        <p:spPr>
          <a:xfrm>
            <a:off x="822960" y="5852160"/>
            <a:ext cx="4884268" cy="365760"/>
          </a:xfrm>
          <a:prstGeom prst="rect">
            <a:avLst/>
          </a:prstGeom>
          <a:noFill/>
          <a:ln/>
        </p:spPr>
        <p:txBody>
          <a:bodyPr wrap="square" lIns="0" tIns="0" rIns="0" bIns="0" rtlCol="0" anchor="t"/>
          <a:lstStyle/>
          <a:p>
            <a:pPr indent="0" marL="0">
              <a:buNone/>
            </a:pPr>
            <a:r>
              <a:rPr lang="en-US" sz="1100" dirty="0">
                <a:solidFill>
                  <a:srgbClr val="383D44"/>
                </a:solidFill>
                <a:latin typeface="Calibri" pitchFamily="34" charset="0"/>
                <a:ea typeface="Calibri" pitchFamily="34" charset="-122"/>
                <a:cs typeface="Calibri" pitchFamily="34" charset="-120"/>
              </a:rPr>
              <a:t>Role-separated RBAC and no super-admin. Dual control is live for enrolment; break-glass and the rest are tested libraries</a:t>
            </a:r>
            <a:endParaRPr lang="en-US" sz="1100" dirty="0"/>
          </a:p>
        </p:txBody>
      </p:sp>
      <p:sp>
        <p:nvSpPr>
          <p:cNvPr id="34" name="Shape 31"/>
          <p:cNvSpPr/>
          <p:nvPr/>
        </p:nvSpPr>
        <p:spPr>
          <a:xfrm>
            <a:off x="6210148" y="5486400"/>
            <a:ext cx="5432908" cy="777240"/>
          </a:xfrm>
          <a:prstGeom prst="roundRect">
            <a:avLst>
              <a:gd name="adj" fmla="val 9412"/>
            </a:avLst>
          </a:prstGeom>
          <a:solidFill>
            <a:srgbClr val="FFFFFF"/>
          </a:solidFill>
          <a:ln w="9525">
            <a:solidFill>
              <a:srgbClr val="D6D9DE"/>
            </a:solidFill>
            <a:prstDash val="solid"/>
          </a:ln>
        </p:spPr>
      </p:sp>
      <p:sp>
        <p:nvSpPr>
          <p:cNvPr id="35" name="Text 32"/>
          <p:cNvSpPr txBox="1"/>
          <p:nvPr/>
        </p:nvSpPr>
        <p:spPr>
          <a:xfrm>
            <a:off x="6484468" y="5559552"/>
            <a:ext cx="2377440" cy="320040"/>
          </a:xfrm>
          <a:prstGeom prst="rect">
            <a:avLst/>
          </a:prstGeom>
          <a:noFill/>
          <a:ln/>
        </p:spPr>
        <p:txBody>
          <a:bodyPr wrap="square" lIns="0" tIns="0" rIns="0" bIns="0" rtlCol="0" anchor="t"/>
          <a:lstStyle/>
          <a:p>
            <a:pPr indent="0" marL="0">
              <a:buNone/>
            </a:pPr>
            <a:r>
              <a:rPr lang="en-US" sz="1300" b="1" dirty="0">
                <a:solidFill>
                  <a:srgbClr val="101114"/>
                </a:solidFill>
                <a:latin typeface="Calibri" pitchFamily="34" charset="0"/>
                <a:ea typeface="Calibri" pitchFamily="34" charset="-122"/>
                <a:cs typeface="Calibri" pitchFamily="34" charset="-120"/>
              </a:rPr>
              <a:t>Client platforms</a:t>
            </a:r>
            <a:endParaRPr lang="en-US" sz="1300" dirty="0"/>
          </a:p>
        </p:txBody>
      </p:sp>
      <p:sp>
        <p:nvSpPr>
          <p:cNvPr id="36" name="Text 33"/>
          <p:cNvSpPr txBox="1"/>
          <p:nvPr/>
        </p:nvSpPr>
        <p:spPr>
          <a:xfrm>
            <a:off x="6484468" y="5852160"/>
            <a:ext cx="4884268" cy="365760"/>
          </a:xfrm>
          <a:prstGeom prst="rect">
            <a:avLst/>
          </a:prstGeom>
          <a:noFill/>
          <a:ln/>
        </p:spPr>
        <p:txBody>
          <a:bodyPr wrap="square" lIns="0" tIns="0" rIns="0" bIns="0" rtlCol="0" anchor="t"/>
          <a:lstStyle/>
          <a:p>
            <a:pPr indent="0" marL="0">
              <a:buNone/>
            </a:pPr>
            <a:r>
              <a:rPr lang="en-US" sz="1100" dirty="0">
                <a:solidFill>
                  <a:srgbClr val="383D44"/>
                </a:solidFill>
                <a:latin typeface="Calibri" pitchFamily="34" charset="0"/>
                <a:ea typeface="Calibri" pitchFamily="34" charset="-122"/>
                <a:cs typeface="Calibri" pitchFamily="34" charset="-120"/>
              </a:rPr>
              <a:t>One shared Rust core, tested as a library: offline-first sync, tiered inference. Six shells are specified, not built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F0F3"/>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8A909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8A9099"/>
                </a:solidFill>
                <a:latin typeface="Consolas" pitchFamily="34" charset="0"/>
                <a:ea typeface="Consolas" pitchFamily="34" charset="-122"/>
                <a:cs typeface="Consolas" pitchFamily="34" charset="-120"/>
              </a:rPr>
              <a:t>05</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A8171E"/>
                </a:solidFill>
                <a:latin typeface="Consolas" pitchFamily="34" charset="0"/>
                <a:ea typeface="Consolas" pitchFamily="34" charset="-122"/>
                <a:cs typeface="Consolas" pitchFamily="34" charset="-120"/>
              </a:rPr>
              <a:t>04 // DESIGN PRINCIPLES</a:t>
            </a:r>
            <a:endParaRPr lang="en-US" sz="1050" dirty="0"/>
          </a:p>
        </p:txBody>
      </p:sp>
      <p:sp>
        <p:nvSpPr>
          <p:cNvPr id="6" name="Text 3"/>
          <p:cNvSpPr txBox="1"/>
          <p:nvPr/>
        </p:nvSpPr>
        <p:spPr>
          <a:xfrm>
            <a:off x="548640" y="822960"/>
            <a:ext cx="10058400" cy="822960"/>
          </a:xfrm>
          <a:prstGeom prst="rect">
            <a:avLst/>
          </a:prstGeom>
          <a:noFill/>
          <a:ln/>
        </p:spPr>
        <p:txBody>
          <a:bodyPr wrap="square" lIns="0" tIns="0" rIns="0" bIns="0" rtlCol="0" anchor="t">
            <a:normAutofit/>
          </a:bodyPr>
          <a:lstStyle/>
          <a:p>
            <a:pPr indent="0" marL="0">
              <a:buNone/>
            </a:pPr>
            <a:r>
              <a:rPr lang="en-US" sz="3200" b="1" dirty="0">
                <a:solidFill>
                  <a:srgbClr val="101114"/>
                </a:solidFill>
                <a:latin typeface="Arial" pitchFamily="34" charset="0"/>
                <a:ea typeface="Arial" pitchFamily="34" charset="-122"/>
                <a:cs typeface="Arial" pitchFamily="34" charset="-120"/>
              </a:rPr>
              <a:t>Enforced by construction, not by policy document</a:t>
            </a:r>
            <a:endParaRPr lang="en-US" sz="3200" dirty="0"/>
          </a:p>
        </p:txBody>
      </p:sp>
      <p:sp>
        <p:nvSpPr>
          <p:cNvPr id="7" name="Shape 4"/>
          <p:cNvSpPr/>
          <p:nvPr/>
        </p:nvSpPr>
        <p:spPr>
          <a:xfrm>
            <a:off x="548640" y="1874520"/>
            <a:ext cx="3515258" cy="1874520"/>
          </a:xfrm>
          <a:prstGeom prst="roundRect">
            <a:avLst>
              <a:gd name="adj" fmla="val 3902"/>
            </a:avLst>
          </a:prstGeom>
          <a:solidFill>
            <a:srgbClr val="FFFFFF"/>
          </a:solidFill>
          <a:ln w="9525">
            <a:solidFill>
              <a:srgbClr val="D6D9DE"/>
            </a:solidFill>
            <a:prstDash val="solid"/>
          </a:ln>
        </p:spPr>
      </p:sp>
      <p:sp>
        <p:nvSpPr>
          <p:cNvPr id="8" name="Shape 5"/>
          <p:cNvSpPr/>
          <p:nvPr/>
        </p:nvSpPr>
        <p:spPr>
          <a:xfrm>
            <a:off x="777240" y="2103120"/>
            <a:ext cx="457200" cy="457200"/>
          </a:xfrm>
          <a:prstGeom prst="ellipse">
            <a:avLst/>
          </a:prstGeom>
          <a:solidFill>
            <a:srgbClr val="E4E6EA"/>
          </a:solidFill>
          <a:ln w="6350">
            <a:solidFill>
              <a:srgbClr val="D6D9DE"/>
            </a:solidFill>
            <a:prstDash val="solid"/>
          </a:ln>
        </p:spPr>
      </p:sp>
      <p:pic>
        <p:nvPicPr>
          <p:cNvPr id="9" name="Image 0" descr="preencoded.png">    </p:cNvPr>
          <p:cNvPicPr>
            <a:picLocks noChangeAspect="1"/>
          </p:cNvPicPr>
          <p:nvPr/>
        </p:nvPicPr>
        <p:blipFill>
          <a:blip r:embed="rId1"/>
          <a:stretch>
            <a:fillRect/>
          </a:stretch>
        </p:blipFill>
        <p:spPr>
          <a:xfrm>
            <a:off x="886968" y="2212848"/>
            <a:ext cx="237744" cy="237744"/>
          </a:xfrm>
          <a:prstGeom prst="rect">
            <a:avLst/>
          </a:prstGeom>
        </p:spPr>
      </p:pic>
      <p:sp>
        <p:nvSpPr>
          <p:cNvPr id="10" name="Text 6"/>
          <p:cNvSpPr txBox="1"/>
          <p:nvPr/>
        </p:nvSpPr>
        <p:spPr>
          <a:xfrm>
            <a:off x="1371600" y="2148840"/>
            <a:ext cx="2509418" cy="365760"/>
          </a:xfrm>
          <a:prstGeom prst="rect">
            <a:avLst/>
          </a:prstGeom>
          <a:noFill/>
          <a:ln/>
        </p:spPr>
        <p:txBody>
          <a:bodyPr wrap="square" lIns="0" tIns="0" rIns="0" bIns="0" rtlCol="0" anchor="t"/>
          <a:lstStyle/>
          <a:p>
            <a:pPr indent="0" marL="0">
              <a:buNone/>
            </a:pPr>
            <a:r>
              <a:rPr lang="en-US" sz="1500" b="1" dirty="0">
                <a:solidFill>
                  <a:srgbClr val="101114"/>
                </a:solidFill>
                <a:latin typeface="Calibri" pitchFamily="34" charset="0"/>
                <a:ea typeface="Calibri" pitchFamily="34" charset="-122"/>
                <a:cs typeface="Calibri" pitchFamily="34" charset="-120"/>
              </a:rPr>
              <a:t>Sovereign by construction</a:t>
            </a:r>
            <a:endParaRPr lang="en-US" sz="1500" dirty="0"/>
          </a:p>
        </p:txBody>
      </p:sp>
      <p:sp>
        <p:nvSpPr>
          <p:cNvPr id="11" name="Text 7"/>
          <p:cNvSpPr txBox="1"/>
          <p:nvPr/>
        </p:nvSpPr>
        <p:spPr>
          <a:xfrm>
            <a:off x="777240" y="2697480"/>
            <a:ext cx="3058058" cy="1005840"/>
          </a:xfrm>
          <a:prstGeom prst="rect">
            <a:avLst/>
          </a:prstGeom>
          <a:noFill/>
          <a:ln/>
        </p:spPr>
        <p:txBody>
          <a:bodyPr wrap="square" lIns="0" tIns="0" rIns="0" bIns="0" rtlCol="0" anchor="t"/>
          <a:lstStyle/>
          <a:p>
            <a:pPr indent="0" marL="0">
              <a:buNone/>
            </a:pPr>
            <a:r>
              <a:rPr lang="en-US" sz="1200" dirty="0">
                <a:solidFill>
                  <a:srgbClr val="383D44"/>
                </a:solidFill>
                <a:latin typeface="Calibri" pitchFamily="34" charset="0"/>
                <a:ea typeface="Calibri" pitchFamily="34" charset="-122"/>
                <a:cs typeface="Calibri" pitchFamily="34" charset="-120"/>
              </a:rPr>
              <a:t>No core function makes an outbound call. The full acceptance gate runs under --network none and passes.</a:t>
            </a:r>
            <a:endParaRPr lang="en-US" sz="1200" dirty="0"/>
          </a:p>
        </p:txBody>
      </p:sp>
      <p:sp>
        <p:nvSpPr>
          <p:cNvPr id="12" name="Shape 8"/>
          <p:cNvSpPr/>
          <p:nvPr/>
        </p:nvSpPr>
        <p:spPr>
          <a:xfrm>
            <a:off x="4338218" y="1874520"/>
            <a:ext cx="3515258" cy="1874520"/>
          </a:xfrm>
          <a:prstGeom prst="roundRect">
            <a:avLst>
              <a:gd name="adj" fmla="val 3902"/>
            </a:avLst>
          </a:prstGeom>
          <a:solidFill>
            <a:srgbClr val="FFFFFF"/>
          </a:solidFill>
          <a:ln w="9525">
            <a:solidFill>
              <a:srgbClr val="D6D9DE"/>
            </a:solidFill>
            <a:prstDash val="solid"/>
          </a:ln>
        </p:spPr>
      </p:sp>
      <p:sp>
        <p:nvSpPr>
          <p:cNvPr id="13" name="Shape 9"/>
          <p:cNvSpPr/>
          <p:nvPr/>
        </p:nvSpPr>
        <p:spPr>
          <a:xfrm>
            <a:off x="4566818" y="2103120"/>
            <a:ext cx="457200" cy="457200"/>
          </a:xfrm>
          <a:prstGeom prst="ellipse">
            <a:avLst/>
          </a:prstGeom>
          <a:solidFill>
            <a:srgbClr val="E4E6EA"/>
          </a:solidFill>
          <a:ln w="6350">
            <a:solidFill>
              <a:srgbClr val="D6D9DE"/>
            </a:solidFill>
            <a:prstDash val="solid"/>
          </a:ln>
        </p:spPr>
      </p:sp>
      <p:pic>
        <p:nvPicPr>
          <p:cNvPr id="14" name="Image 1" descr="preencoded.png">    </p:cNvPr>
          <p:cNvPicPr>
            <a:picLocks noChangeAspect="1"/>
          </p:cNvPicPr>
          <p:nvPr/>
        </p:nvPicPr>
        <p:blipFill>
          <a:blip r:embed="rId2"/>
          <a:stretch>
            <a:fillRect/>
          </a:stretch>
        </p:blipFill>
        <p:spPr>
          <a:xfrm>
            <a:off x="4676546" y="2212848"/>
            <a:ext cx="237744" cy="237744"/>
          </a:xfrm>
          <a:prstGeom prst="rect">
            <a:avLst/>
          </a:prstGeom>
        </p:spPr>
      </p:pic>
      <p:sp>
        <p:nvSpPr>
          <p:cNvPr id="15" name="Text 10"/>
          <p:cNvSpPr txBox="1"/>
          <p:nvPr/>
        </p:nvSpPr>
        <p:spPr>
          <a:xfrm>
            <a:off x="5161178" y="2148840"/>
            <a:ext cx="2509418" cy="365760"/>
          </a:xfrm>
          <a:prstGeom prst="rect">
            <a:avLst/>
          </a:prstGeom>
          <a:noFill/>
          <a:ln/>
        </p:spPr>
        <p:txBody>
          <a:bodyPr wrap="square" lIns="0" tIns="0" rIns="0" bIns="0" rtlCol="0" anchor="t"/>
          <a:lstStyle/>
          <a:p>
            <a:pPr indent="0" marL="0">
              <a:buNone/>
            </a:pPr>
            <a:r>
              <a:rPr lang="en-US" sz="1500" b="1" dirty="0">
                <a:solidFill>
                  <a:srgbClr val="101114"/>
                </a:solidFill>
                <a:latin typeface="Calibri" pitchFamily="34" charset="0"/>
                <a:ea typeface="Calibri" pitchFamily="34" charset="-122"/>
                <a:cs typeface="Calibri" pitchFamily="34" charset="-120"/>
              </a:rPr>
              <a:t>Post-quantum by default</a:t>
            </a:r>
            <a:endParaRPr lang="en-US" sz="1500" dirty="0"/>
          </a:p>
        </p:txBody>
      </p:sp>
      <p:sp>
        <p:nvSpPr>
          <p:cNvPr id="16" name="Text 11"/>
          <p:cNvSpPr txBox="1"/>
          <p:nvPr/>
        </p:nvSpPr>
        <p:spPr>
          <a:xfrm>
            <a:off x="4566818" y="2697480"/>
            <a:ext cx="3058058" cy="1005840"/>
          </a:xfrm>
          <a:prstGeom prst="rect">
            <a:avLst/>
          </a:prstGeom>
          <a:noFill/>
          <a:ln/>
        </p:spPr>
        <p:txBody>
          <a:bodyPr wrap="square" lIns="0" tIns="0" rIns="0" bIns="0" rtlCol="0" anchor="t"/>
          <a:lstStyle/>
          <a:p>
            <a:pPr indent="0" marL="0">
              <a:buNone/>
            </a:pPr>
            <a:r>
              <a:rPr lang="en-US" sz="1200" dirty="0">
                <a:solidFill>
                  <a:srgbClr val="383D44"/>
                </a:solidFill>
                <a:latin typeface="Calibri" pitchFamily="34" charset="0"/>
                <a:ea typeface="Calibri" pitchFamily="34" charset="-122"/>
                <a:cs typeface="Calibri" pitchFamily="34" charset="-120"/>
              </a:rPr>
              <a:t>Hybrid X25519 + ML-KEM-768 in transit; AES-256-GCM under ML-KEM-1024-wrapped keys at rest; ML-DSA and SLH-DSA signatures.</a:t>
            </a:r>
            <a:endParaRPr lang="en-US" sz="1200" dirty="0"/>
          </a:p>
        </p:txBody>
      </p:sp>
      <p:sp>
        <p:nvSpPr>
          <p:cNvPr id="17" name="Shape 12"/>
          <p:cNvSpPr/>
          <p:nvPr/>
        </p:nvSpPr>
        <p:spPr>
          <a:xfrm>
            <a:off x="8127797" y="1874520"/>
            <a:ext cx="3515258" cy="1874520"/>
          </a:xfrm>
          <a:prstGeom prst="roundRect">
            <a:avLst>
              <a:gd name="adj" fmla="val 3902"/>
            </a:avLst>
          </a:prstGeom>
          <a:solidFill>
            <a:srgbClr val="FFFFFF"/>
          </a:solidFill>
          <a:ln w="9525">
            <a:solidFill>
              <a:srgbClr val="D6D9DE"/>
            </a:solidFill>
            <a:prstDash val="solid"/>
          </a:ln>
        </p:spPr>
      </p:sp>
      <p:sp>
        <p:nvSpPr>
          <p:cNvPr id="18" name="Shape 13"/>
          <p:cNvSpPr/>
          <p:nvPr/>
        </p:nvSpPr>
        <p:spPr>
          <a:xfrm>
            <a:off x="8356397" y="2103120"/>
            <a:ext cx="457200" cy="457200"/>
          </a:xfrm>
          <a:prstGeom prst="ellipse">
            <a:avLst/>
          </a:prstGeom>
          <a:solidFill>
            <a:srgbClr val="E4E6EA"/>
          </a:solidFill>
          <a:ln w="6350">
            <a:solidFill>
              <a:srgbClr val="D6D9DE"/>
            </a:solidFill>
            <a:prstDash val="solid"/>
          </a:ln>
        </p:spPr>
      </p:sp>
      <p:pic>
        <p:nvPicPr>
          <p:cNvPr id="19" name="Image 2" descr="preencoded.png">    </p:cNvPr>
          <p:cNvPicPr>
            <a:picLocks noChangeAspect="1"/>
          </p:cNvPicPr>
          <p:nvPr/>
        </p:nvPicPr>
        <p:blipFill>
          <a:blip r:embed="rId3"/>
          <a:stretch>
            <a:fillRect/>
          </a:stretch>
        </p:blipFill>
        <p:spPr>
          <a:xfrm>
            <a:off x="8466125" y="2212848"/>
            <a:ext cx="237744" cy="237744"/>
          </a:xfrm>
          <a:prstGeom prst="rect">
            <a:avLst/>
          </a:prstGeom>
        </p:spPr>
      </p:pic>
      <p:sp>
        <p:nvSpPr>
          <p:cNvPr id="20" name="Text 14"/>
          <p:cNvSpPr txBox="1"/>
          <p:nvPr/>
        </p:nvSpPr>
        <p:spPr>
          <a:xfrm>
            <a:off x="8950757" y="2148840"/>
            <a:ext cx="2509418" cy="365760"/>
          </a:xfrm>
          <a:prstGeom prst="rect">
            <a:avLst/>
          </a:prstGeom>
          <a:noFill/>
          <a:ln/>
        </p:spPr>
        <p:txBody>
          <a:bodyPr wrap="square" lIns="0" tIns="0" rIns="0" bIns="0" rtlCol="0" anchor="t"/>
          <a:lstStyle/>
          <a:p>
            <a:pPr indent="0" marL="0">
              <a:buNone/>
            </a:pPr>
            <a:r>
              <a:rPr lang="en-US" sz="1500" b="1" dirty="0">
                <a:solidFill>
                  <a:srgbClr val="101114"/>
                </a:solidFill>
                <a:latin typeface="Calibri" pitchFamily="34" charset="0"/>
                <a:ea typeface="Calibri" pitchFamily="34" charset="-122"/>
                <a:cs typeface="Calibri" pitchFamily="34" charset="-120"/>
              </a:rPr>
              <a:t>Object fabric at the centre</a:t>
            </a:r>
            <a:endParaRPr lang="en-US" sz="1500" dirty="0"/>
          </a:p>
        </p:txBody>
      </p:sp>
      <p:sp>
        <p:nvSpPr>
          <p:cNvPr id="21" name="Text 15"/>
          <p:cNvSpPr txBox="1"/>
          <p:nvPr/>
        </p:nvSpPr>
        <p:spPr>
          <a:xfrm>
            <a:off x="8356397" y="2697480"/>
            <a:ext cx="3058058" cy="1005840"/>
          </a:xfrm>
          <a:prstGeom prst="rect">
            <a:avLst/>
          </a:prstGeom>
          <a:noFill/>
          <a:ln/>
        </p:spPr>
        <p:txBody>
          <a:bodyPr wrap="square" lIns="0" tIns="0" rIns="0" bIns="0" rtlCol="0" anchor="t"/>
          <a:lstStyle/>
          <a:p>
            <a:pPr indent="0" marL="0">
              <a:buNone/>
            </a:pPr>
            <a:r>
              <a:rPr lang="en-US" sz="1200" dirty="0">
                <a:solidFill>
                  <a:srgbClr val="383D44"/>
                </a:solidFill>
                <a:latin typeface="Calibri" pitchFamily="34" charset="0"/>
                <a:ea typeface="Calibri" pitchFamily="34" charset="-122"/>
                <a:cs typeface="Calibri" pitchFamily="34" charset="-120"/>
              </a:rPr>
              <a:t>Objects, properties, links, actions and dynamic security: a decision-centric semantic layer, the answer to Ontology.</a:t>
            </a:r>
            <a:endParaRPr lang="en-US" sz="1200" dirty="0"/>
          </a:p>
        </p:txBody>
      </p:sp>
      <p:sp>
        <p:nvSpPr>
          <p:cNvPr id="22" name="Shape 16"/>
          <p:cNvSpPr/>
          <p:nvPr/>
        </p:nvSpPr>
        <p:spPr>
          <a:xfrm>
            <a:off x="548640" y="4023360"/>
            <a:ext cx="3515258" cy="1874520"/>
          </a:xfrm>
          <a:prstGeom prst="roundRect">
            <a:avLst>
              <a:gd name="adj" fmla="val 3902"/>
            </a:avLst>
          </a:prstGeom>
          <a:solidFill>
            <a:srgbClr val="FFFFFF"/>
          </a:solidFill>
          <a:ln w="9525">
            <a:solidFill>
              <a:srgbClr val="D6D9DE"/>
            </a:solidFill>
            <a:prstDash val="solid"/>
          </a:ln>
        </p:spPr>
      </p:sp>
      <p:sp>
        <p:nvSpPr>
          <p:cNvPr id="23" name="Shape 17"/>
          <p:cNvSpPr/>
          <p:nvPr/>
        </p:nvSpPr>
        <p:spPr>
          <a:xfrm>
            <a:off x="777240" y="4251960"/>
            <a:ext cx="457200" cy="457200"/>
          </a:xfrm>
          <a:prstGeom prst="ellipse">
            <a:avLst/>
          </a:prstGeom>
          <a:solidFill>
            <a:srgbClr val="E4E6EA"/>
          </a:solidFill>
          <a:ln w="6350">
            <a:solidFill>
              <a:srgbClr val="D6D9DE"/>
            </a:solidFill>
            <a:prstDash val="solid"/>
          </a:ln>
        </p:spPr>
      </p:sp>
      <p:pic>
        <p:nvPicPr>
          <p:cNvPr id="24" name="Image 3" descr="preencoded.png">    </p:cNvPr>
          <p:cNvPicPr>
            <a:picLocks noChangeAspect="1"/>
          </p:cNvPicPr>
          <p:nvPr/>
        </p:nvPicPr>
        <p:blipFill>
          <a:blip r:embed="rId4"/>
          <a:stretch>
            <a:fillRect/>
          </a:stretch>
        </p:blipFill>
        <p:spPr>
          <a:xfrm>
            <a:off x="886968" y="4361688"/>
            <a:ext cx="237744" cy="237744"/>
          </a:xfrm>
          <a:prstGeom prst="rect">
            <a:avLst/>
          </a:prstGeom>
        </p:spPr>
      </p:pic>
      <p:sp>
        <p:nvSpPr>
          <p:cNvPr id="25" name="Text 18"/>
          <p:cNvSpPr txBox="1"/>
          <p:nvPr/>
        </p:nvSpPr>
        <p:spPr>
          <a:xfrm>
            <a:off x="1371600" y="4297680"/>
            <a:ext cx="2509418" cy="365760"/>
          </a:xfrm>
          <a:prstGeom prst="rect">
            <a:avLst/>
          </a:prstGeom>
          <a:noFill/>
          <a:ln/>
        </p:spPr>
        <p:txBody>
          <a:bodyPr wrap="square" lIns="0" tIns="0" rIns="0" bIns="0" rtlCol="0" anchor="t"/>
          <a:lstStyle/>
          <a:p>
            <a:pPr indent="0" marL="0">
              <a:buNone/>
            </a:pPr>
            <a:r>
              <a:rPr lang="en-US" sz="1500" b="1" dirty="0">
                <a:solidFill>
                  <a:srgbClr val="101114"/>
                </a:solidFill>
                <a:latin typeface="Calibri" pitchFamily="34" charset="0"/>
                <a:ea typeface="Calibri" pitchFamily="34" charset="-122"/>
                <a:cs typeface="Calibri" pitchFamily="34" charset="-120"/>
              </a:rPr>
              <a:t>Local AI native</a:t>
            </a:r>
            <a:endParaRPr lang="en-US" sz="1500" dirty="0"/>
          </a:p>
        </p:txBody>
      </p:sp>
      <p:sp>
        <p:nvSpPr>
          <p:cNvPr id="26" name="Text 19"/>
          <p:cNvSpPr txBox="1"/>
          <p:nvPr/>
        </p:nvSpPr>
        <p:spPr>
          <a:xfrm>
            <a:off x="777240" y="4846320"/>
            <a:ext cx="3058058" cy="1005840"/>
          </a:xfrm>
          <a:prstGeom prst="rect">
            <a:avLst/>
          </a:prstGeom>
          <a:noFill/>
          <a:ln/>
        </p:spPr>
        <p:txBody>
          <a:bodyPr wrap="square" lIns="0" tIns="0" rIns="0" bIns="0" rtlCol="0" anchor="t"/>
          <a:lstStyle/>
          <a:p>
            <a:pPr indent="0" marL="0">
              <a:buNone/>
            </a:pPr>
            <a:r>
              <a:rPr lang="en-US" sz="1200" dirty="0">
                <a:solidFill>
                  <a:srgbClr val="383D44"/>
                </a:solidFill>
                <a:latin typeface="Calibri" pitchFamily="34" charset="0"/>
                <a:ea typeface="Calibri" pitchFamily="34" charset="-122"/>
                <a:cs typeface="Calibri" pitchFamily="34" charset="-120"/>
              </a:rPr>
              <a:t>Mimir serves every model in-enclosure. Products call Mimir, never a hosted LLM. Signed model manifests, verified before serving.</a:t>
            </a:r>
            <a:endParaRPr lang="en-US" sz="1200" dirty="0"/>
          </a:p>
        </p:txBody>
      </p:sp>
      <p:sp>
        <p:nvSpPr>
          <p:cNvPr id="27" name="Shape 20"/>
          <p:cNvSpPr/>
          <p:nvPr/>
        </p:nvSpPr>
        <p:spPr>
          <a:xfrm>
            <a:off x="4338218" y="4023360"/>
            <a:ext cx="3515258" cy="1874520"/>
          </a:xfrm>
          <a:prstGeom prst="roundRect">
            <a:avLst>
              <a:gd name="adj" fmla="val 3902"/>
            </a:avLst>
          </a:prstGeom>
          <a:solidFill>
            <a:srgbClr val="FFFFFF"/>
          </a:solidFill>
          <a:ln w="9525">
            <a:solidFill>
              <a:srgbClr val="D6D9DE"/>
            </a:solidFill>
            <a:prstDash val="solid"/>
          </a:ln>
        </p:spPr>
      </p:sp>
      <p:sp>
        <p:nvSpPr>
          <p:cNvPr id="28" name="Shape 21"/>
          <p:cNvSpPr/>
          <p:nvPr/>
        </p:nvSpPr>
        <p:spPr>
          <a:xfrm>
            <a:off x="4566818" y="4251960"/>
            <a:ext cx="457200" cy="457200"/>
          </a:xfrm>
          <a:prstGeom prst="ellipse">
            <a:avLst/>
          </a:prstGeom>
          <a:solidFill>
            <a:srgbClr val="E4E6EA"/>
          </a:solidFill>
          <a:ln w="6350">
            <a:solidFill>
              <a:srgbClr val="D6D9DE"/>
            </a:solidFill>
            <a:prstDash val="solid"/>
          </a:ln>
        </p:spPr>
      </p:sp>
      <p:pic>
        <p:nvPicPr>
          <p:cNvPr id="29" name="Image 4" descr="preencoded.png">    </p:cNvPr>
          <p:cNvPicPr>
            <a:picLocks noChangeAspect="1"/>
          </p:cNvPicPr>
          <p:nvPr/>
        </p:nvPicPr>
        <p:blipFill>
          <a:blip r:embed="rId5"/>
          <a:stretch>
            <a:fillRect/>
          </a:stretch>
        </p:blipFill>
        <p:spPr>
          <a:xfrm>
            <a:off x="4676546" y="4361688"/>
            <a:ext cx="237744" cy="237744"/>
          </a:xfrm>
          <a:prstGeom prst="rect">
            <a:avLst/>
          </a:prstGeom>
        </p:spPr>
      </p:pic>
      <p:sp>
        <p:nvSpPr>
          <p:cNvPr id="30" name="Text 22"/>
          <p:cNvSpPr txBox="1"/>
          <p:nvPr/>
        </p:nvSpPr>
        <p:spPr>
          <a:xfrm>
            <a:off x="5161178" y="4297680"/>
            <a:ext cx="2509418" cy="365760"/>
          </a:xfrm>
          <a:prstGeom prst="rect">
            <a:avLst/>
          </a:prstGeom>
          <a:noFill/>
          <a:ln/>
        </p:spPr>
        <p:txBody>
          <a:bodyPr wrap="square" lIns="0" tIns="0" rIns="0" bIns="0" rtlCol="0" anchor="t"/>
          <a:lstStyle/>
          <a:p>
            <a:pPr indent="0" marL="0">
              <a:buNone/>
            </a:pPr>
            <a:r>
              <a:rPr lang="en-US" sz="1500" b="1" dirty="0">
                <a:solidFill>
                  <a:srgbClr val="101114"/>
                </a:solidFill>
                <a:latin typeface="Calibri" pitchFamily="34" charset="0"/>
                <a:ea typeface="Calibri" pitchFamily="34" charset="-122"/>
                <a:cs typeface="Calibri" pitchFamily="34" charset="-120"/>
              </a:rPr>
              <a:t>Provenance everywhere</a:t>
            </a:r>
            <a:endParaRPr lang="en-US" sz="1500" dirty="0"/>
          </a:p>
        </p:txBody>
      </p:sp>
      <p:sp>
        <p:nvSpPr>
          <p:cNvPr id="31" name="Text 23"/>
          <p:cNvSpPr txBox="1"/>
          <p:nvPr/>
        </p:nvSpPr>
        <p:spPr>
          <a:xfrm>
            <a:off x="4566818" y="4846320"/>
            <a:ext cx="3058058" cy="1005840"/>
          </a:xfrm>
          <a:prstGeom prst="rect">
            <a:avLst/>
          </a:prstGeom>
          <a:noFill/>
          <a:ln/>
        </p:spPr>
        <p:txBody>
          <a:bodyPr wrap="square" lIns="0" tIns="0" rIns="0" bIns="0" rtlCol="0" anchor="t"/>
          <a:lstStyle/>
          <a:p>
            <a:pPr indent="0" marL="0">
              <a:buNone/>
            </a:pPr>
            <a:r>
              <a:rPr lang="en-US" sz="1200" dirty="0">
                <a:solidFill>
                  <a:srgbClr val="383D44"/>
                </a:solidFill>
                <a:latin typeface="Calibri" pitchFamily="34" charset="0"/>
                <a:ea typeface="Calibri" pitchFamily="34" charset="-122"/>
                <a:cs typeface="Calibri" pitchFamily="34" charset="-120"/>
              </a:rPr>
              <a:t>Every claim has a source, every action has lineage. Append-only signed audit and human gates are first-class.</a:t>
            </a:r>
            <a:endParaRPr lang="en-US" sz="1200" dirty="0"/>
          </a:p>
        </p:txBody>
      </p:sp>
      <p:sp>
        <p:nvSpPr>
          <p:cNvPr id="32" name="Shape 24"/>
          <p:cNvSpPr/>
          <p:nvPr/>
        </p:nvSpPr>
        <p:spPr>
          <a:xfrm>
            <a:off x="8127797" y="4023360"/>
            <a:ext cx="3515258" cy="1874520"/>
          </a:xfrm>
          <a:prstGeom prst="roundRect">
            <a:avLst>
              <a:gd name="adj" fmla="val 3902"/>
            </a:avLst>
          </a:prstGeom>
          <a:solidFill>
            <a:srgbClr val="FFFFFF"/>
          </a:solidFill>
          <a:ln w="9525">
            <a:solidFill>
              <a:srgbClr val="D6D9DE"/>
            </a:solidFill>
            <a:prstDash val="solid"/>
          </a:ln>
        </p:spPr>
      </p:sp>
      <p:sp>
        <p:nvSpPr>
          <p:cNvPr id="33" name="Shape 25"/>
          <p:cNvSpPr/>
          <p:nvPr/>
        </p:nvSpPr>
        <p:spPr>
          <a:xfrm>
            <a:off x="8356397" y="4251960"/>
            <a:ext cx="457200" cy="457200"/>
          </a:xfrm>
          <a:prstGeom prst="ellipse">
            <a:avLst/>
          </a:prstGeom>
          <a:solidFill>
            <a:srgbClr val="E4E6EA"/>
          </a:solidFill>
          <a:ln w="6350">
            <a:solidFill>
              <a:srgbClr val="D6D9DE"/>
            </a:solidFill>
            <a:prstDash val="solid"/>
          </a:ln>
        </p:spPr>
      </p:sp>
      <p:pic>
        <p:nvPicPr>
          <p:cNvPr id="34" name="Image 5" descr="preencoded.png">    </p:cNvPr>
          <p:cNvPicPr>
            <a:picLocks noChangeAspect="1"/>
          </p:cNvPicPr>
          <p:nvPr/>
        </p:nvPicPr>
        <p:blipFill>
          <a:blip r:embed="rId6"/>
          <a:stretch>
            <a:fillRect/>
          </a:stretch>
        </p:blipFill>
        <p:spPr>
          <a:xfrm>
            <a:off x="8466125" y="4361688"/>
            <a:ext cx="237744" cy="237744"/>
          </a:xfrm>
          <a:prstGeom prst="rect">
            <a:avLst/>
          </a:prstGeom>
        </p:spPr>
      </p:pic>
      <p:sp>
        <p:nvSpPr>
          <p:cNvPr id="35" name="Text 26"/>
          <p:cNvSpPr txBox="1"/>
          <p:nvPr/>
        </p:nvSpPr>
        <p:spPr>
          <a:xfrm>
            <a:off x="8950757" y="4297680"/>
            <a:ext cx="2509418" cy="365760"/>
          </a:xfrm>
          <a:prstGeom prst="rect">
            <a:avLst/>
          </a:prstGeom>
          <a:noFill/>
          <a:ln/>
        </p:spPr>
        <p:txBody>
          <a:bodyPr wrap="square" lIns="0" tIns="0" rIns="0" bIns="0" rtlCol="0" anchor="t"/>
          <a:lstStyle/>
          <a:p>
            <a:pPr indent="0" marL="0">
              <a:buNone/>
            </a:pPr>
            <a:r>
              <a:rPr lang="en-US" sz="1500" b="1" dirty="0">
                <a:solidFill>
                  <a:srgbClr val="101114"/>
                </a:solidFill>
                <a:latin typeface="Calibri" pitchFamily="34" charset="0"/>
                <a:ea typeface="Calibri" pitchFamily="34" charset="-122"/>
                <a:cs typeface="Calibri" pitchFamily="34" charset="-120"/>
              </a:rPr>
              <a:t>Open-source core</a:t>
            </a:r>
            <a:endParaRPr lang="en-US" sz="1500" dirty="0"/>
          </a:p>
        </p:txBody>
      </p:sp>
      <p:sp>
        <p:nvSpPr>
          <p:cNvPr id="36" name="Text 27"/>
          <p:cNvSpPr txBox="1"/>
          <p:nvPr/>
        </p:nvSpPr>
        <p:spPr>
          <a:xfrm>
            <a:off x="8356397" y="4846320"/>
            <a:ext cx="3058058" cy="1005840"/>
          </a:xfrm>
          <a:prstGeom prst="rect">
            <a:avLst/>
          </a:prstGeom>
          <a:noFill/>
          <a:ln/>
        </p:spPr>
        <p:txBody>
          <a:bodyPr wrap="square" lIns="0" tIns="0" rIns="0" bIns="0" rtlCol="0" anchor="t"/>
          <a:lstStyle/>
          <a:p>
            <a:pPr indent="0" marL="0">
              <a:buNone/>
            </a:pPr>
            <a:r>
              <a:rPr lang="en-US" sz="1200" dirty="0">
                <a:solidFill>
                  <a:srgbClr val="383D44"/>
                </a:solidFill>
                <a:latin typeface="Calibri" pitchFamily="34" charset="0"/>
                <a:ea typeface="Calibri" pitchFamily="34" charset="-122"/>
                <a:cs typeface="Calibri" pitchFamily="34" charset="-120"/>
              </a:rPr>
              <a:t>Apache-2.0. Reproducible builds, a CycloneDX SBOM per release, every binary signed and attested.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F0F3"/>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8A909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8A9099"/>
                </a:solidFill>
                <a:latin typeface="Consolas" pitchFamily="34" charset="0"/>
                <a:ea typeface="Consolas" pitchFamily="34" charset="-122"/>
                <a:cs typeface="Consolas" pitchFamily="34" charset="-120"/>
              </a:rPr>
              <a:t>06</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A8171E"/>
                </a:solidFill>
                <a:latin typeface="Consolas" pitchFamily="34" charset="0"/>
                <a:ea typeface="Consolas" pitchFamily="34" charset="-122"/>
                <a:cs typeface="Consolas" pitchFamily="34" charset="-120"/>
              </a:rPr>
              <a:t>05 // ARCHITECTURE</a:t>
            </a:r>
            <a:endParaRPr lang="en-US" sz="1050" dirty="0"/>
          </a:p>
        </p:txBody>
      </p:sp>
      <p:sp>
        <p:nvSpPr>
          <p:cNvPr id="6" name="Text 3"/>
          <p:cNvSpPr txBox="1"/>
          <p:nvPr/>
        </p:nvSpPr>
        <p:spPr>
          <a:xfrm>
            <a:off x="548640" y="822960"/>
            <a:ext cx="9144000" cy="822960"/>
          </a:xfrm>
          <a:prstGeom prst="rect">
            <a:avLst/>
          </a:prstGeom>
          <a:noFill/>
          <a:ln/>
        </p:spPr>
        <p:txBody>
          <a:bodyPr wrap="square" lIns="0" tIns="0" rIns="0" bIns="0" rtlCol="0" anchor="t">
            <a:normAutofit/>
          </a:bodyPr>
          <a:lstStyle/>
          <a:p>
            <a:pPr indent="0" marL="0">
              <a:buNone/>
            </a:pPr>
            <a:r>
              <a:rPr lang="en-US" sz="3200" b="1" dirty="0">
                <a:solidFill>
                  <a:srgbClr val="101114"/>
                </a:solidFill>
                <a:latin typeface="Arial" pitchFamily="34" charset="0"/>
                <a:ea typeface="Arial" pitchFamily="34" charset="-122"/>
                <a:cs typeface="Arial" pitchFamily="34" charset="-120"/>
              </a:rPr>
              <a:t>One boundary. Everything inside it.</a:t>
            </a:r>
            <a:endParaRPr lang="en-US" sz="3200" dirty="0"/>
          </a:p>
        </p:txBody>
      </p:sp>
      <p:sp>
        <p:nvSpPr>
          <p:cNvPr id="7" name="Shape 4"/>
          <p:cNvSpPr/>
          <p:nvPr/>
        </p:nvSpPr>
        <p:spPr>
          <a:xfrm>
            <a:off x="3246120" y="1783080"/>
            <a:ext cx="8366760" cy="4434840"/>
          </a:xfrm>
          <a:prstGeom prst="roundRect">
            <a:avLst>
              <a:gd name="adj" fmla="val 2062"/>
            </a:avLst>
          </a:prstGeom>
          <a:solidFill>
            <a:srgbClr val="F7F8FA"/>
          </a:solidFill>
          <a:ln w="12700">
            <a:solidFill>
              <a:srgbClr val="CA1D25"/>
            </a:solidFill>
            <a:prstDash val="dash"/>
          </a:ln>
        </p:spPr>
      </p:sp>
      <p:sp>
        <p:nvSpPr>
          <p:cNvPr id="8" name="Text 5"/>
          <p:cNvSpPr txBox="1"/>
          <p:nvPr/>
        </p:nvSpPr>
        <p:spPr>
          <a:xfrm>
            <a:off x="3429000" y="1874520"/>
            <a:ext cx="8001000" cy="228600"/>
          </a:xfrm>
          <a:prstGeom prst="rect">
            <a:avLst/>
          </a:prstGeom>
          <a:noFill/>
          <a:ln/>
        </p:spPr>
        <p:txBody>
          <a:bodyPr wrap="square" lIns="0" tIns="0" rIns="0" bIns="0" rtlCol="0" anchor="ctr"/>
          <a:lstStyle/>
          <a:p>
            <a:pPr indent="0" marL="0">
              <a:buNone/>
            </a:pPr>
            <a:r>
              <a:rPr lang="en-US" sz="850" spc="150" kern="0" dirty="0">
                <a:solidFill>
                  <a:srgbClr val="A8171E"/>
                </a:solidFill>
                <a:latin typeface="Consolas" pitchFamily="34" charset="0"/>
                <a:ea typeface="Consolas" pitchFamily="34" charset="-122"/>
                <a:cs typeface="Consolas" pitchFamily="34" charset="-120"/>
              </a:rPr>
              <a:t>THE ENCLOSURE · AIR-GAP BOUNDARY · NO OUTBOUND CALL REQUIRED</a:t>
            </a:r>
            <a:endParaRPr lang="en-US" sz="850" dirty="0"/>
          </a:p>
        </p:txBody>
      </p:sp>
      <p:sp>
        <p:nvSpPr>
          <p:cNvPr id="9" name="Shape 6"/>
          <p:cNvSpPr/>
          <p:nvPr/>
        </p:nvSpPr>
        <p:spPr>
          <a:xfrm>
            <a:off x="548640" y="2240280"/>
            <a:ext cx="2331720" cy="1234440"/>
          </a:xfrm>
          <a:prstGeom prst="roundRect">
            <a:avLst>
              <a:gd name="adj" fmla="val 4444"/>
            </a:avLst>
          </a:prstGeom>
          <a:solidFill>
            <a:srgbClr val="FFFFFF"/>
          </a:solidFill>
          <a:ln w="9525">
            <a:solidFill>
              <a:srgbClr val="D6D9DE"/>
            </a:solidFill>
            <a:prstDash val="solid"/>
          </a:ln>
        </p:spPr>
      </p:sp>
      <p:sp>
        <p:nvSpPr>
          <p:cNvPr id="10" name="Text 7"/>
          <p:cNvSpPr txBox="1"/>
          <p:nvPr/>
        </p:nvSpPr>
        <p:spPr>
          <a:xfrm>
            <a:off x="658368" y="2313432"/>
            <a:ext cx="2112264" cy="292608"/>
          </a:xfrm>
          <a:prstGeom prst="rect">
            <a:avLst/>
          </a:prstGeom>
          <a:noFill/>
          <a:ln/>
        </p:spPr>
        <p:txBody>
          <a:bodyPr wrap="square" lIns="0" tIns="0" rIns="0" bIns="0" rtlCol="0" anchor="ctr"/>
          <a:lstStyle/>
          <a:p>
            <a:pPr indent="0" marL="0">
              <a:buNone/>
            </a:pPr>
            <a:r>
              <a:rPr lang="en-US" sz="1150" b="1" dirty="0">
                <a:solidFill>
                  <a:srgbClr val="101114"/>
                </a:solidFill>
                <a:latin typeface="Arial" pitchFamily="34" charset="0"/>
                <a:ea typeface="Arial" pitchFamily="34" charset="-122"/>
                <a:cs typeface="Arial" pitchFamily="34" charset="-120"/>
              </a:rPr>
              <a:t>Operators &amp; clients</a:t>
            </a:r>
            <a:endParaRPr lang="en-US" sz="1150" dirty="0"/>
          </a:p>
        </p:txBody>
      </p:sp>
      <p:sp>
        <p:nvSpPr>
          <p:cNvPr id="11" name="Text 8"/>
          <p:cNvSpPr txBox="1"/>
          <p:nvPr/>
        </p:nvSpPr>
        <p:spPr>
          <a:xfrm>
            <a:off x="658368" y="2606040"/>
            <a:ext cx="2112264" cy="813816"/>
          </a:xfrm>
          <a:prstGeom prst="rect">
            <a:avLst/>
          </a:prstGeom>
          <a:noFill/>
          <a:ln/>
        </p:spPr>
        <p:txBody>
          <a:bodyPr wrap="square" lIns="0" tIns="0" rIns="0" bIns="0" rtlCol="0" anchor="t"/>
          <a:lstStyle/>
          <a:p>
            <a:pPr indent="0" marL="0">
              <a:buNone/>
            </a:pPr>
            <a:r>
              <a:rPr lang="en-US" sz="950" dirty="0">
                <a:solidFill>
                  <a:srgbClr val="383D44"/>
                </a:solidFill>
                <a:latin typeface="Calibri" pitchFamily="34" charset="0"/>
                <a:ea typeface="Calibri" pitchFamily="34" charset="-122"/>
                <a:cs typeface="Calibri" pitchFamily="34" charset="-120"/>
              </a:rPr>
              <a:t>Console · API · client core</a:t>
            </a:r>
            <a:endParaRPr lang="en-US" sz="950" dirty="0"/>
          </a:p>
          <a:p>
            <a:pPr indent="0" marL="0">
              <a:buNone/>
            </a:pPr>
            <a:r>
              <a:rPr lang="en-US" sz="950" dirty="0">
                <a:solidFill>
                  <a:srgbClr val="383D44"/>
                </a:solidFill>
                <a:latin typeface="Calibri" pitchFamily="34" charset="0"/>
                <a:ea typeface="Calibri" pitchFamily="34" charset="-122"/>
                <a:cs typeface="Calibri" pitchFamily="34" charset="-120"/>
              </a:rPr>
              <a:t>Shells specified, not built</a:t>
            </a:r>
            <a:endParaRPr lang="en-US" sz="950" dirty="0"/>
          </a:p>
          <a:p>
            <a:pPr indent="0" marL="0">
              <a:buNone/>
            </a:pPr>
            <a:r>
              <a:rPr lang="en-US" sz="950" dirty="0">
                <a:solidFill>
                  <a:srgbClr val="383D44"/>
                </a:solidFill>
                <a:latin typeface="Calibri" pitchFamily="34" charset="0"/>
                <a:ea typeface="Calibri" pitchFamily="34" charset="-122"/>
                <a:cs typeface="Calibri" pitchFamily="34" charset="-120"/>
              </a:rPr>
              <a:t>TLS 1.3 / PQ-mTLS to the edge</a:t>
            </a:r>
            <a:endParaRPr lang="en-US" sz="950" dirty="0"/>
          </a:p>
        </p:txBody>
      </p:sp>
      <p:sp>
        <p:nvSpPr>
          <p:cNvPr id="12" name="Shape 9"/>
          <p:cNvSpPr/>
          <p:nvPr/>
        </p:nvSpPr>
        <p:spPr>
          <a:xfrm>
            <a:off x="2880360" y="2852928"/>
            <a:ext cx="685800" cy="9144"/>
          </a:xfrm>
          <a:prstGeom prst="line">
            <a:avLst/>
          </a:prstGeom>
          <a:noFill/>
          <a:ln w="15875">
            <a:solidFill>
              <a:srgbClr val="A8171E"/>
            </a:solidFill>
            <a:prstDash val="solid"/>
            <a:tailEnd type="triangle"/>
          </a:ln>
        </p:spPr>
      </p:sp>
      <p:sp>
        <p:nvSpPr>
          <p:cNvPr id="13" name="Shape 10"/>
          <p:cNvSpPr/>
          <p:nvPr/>
        </p:nvSpPr>
        <p:spPr>
          <a:xfrm>
            <a:off x="548640" y="4069080"/>
            <a:ext cx="2331720" cy="914400"/>
          </a:xfrm>
          <a:prstGeom prst="roundRect">
            <a:avLst>
              <a:gd name="adj" fmla="val 6000"/>
            </a:avLst>
          </a:prstGeom>
          <a:solidFill>
            <a:srgbClr val="F7F8FA"/>
          </a:solidFill>
          <a:ln w="9525">
            <a:solidFill>
              <a:srgbClr val="D6D9DE"/>
            </a:solidFill>
            <a:prstDash val="solid"/>
          </a:ln>
        </p:spPr>
      </p:sp>
      <p:sp>
        <p:nvSpPr>
          <p:cNvPr id="14" name="Text 11"/>
          <p:cNvSpPr txBox="1"/>
          <p:nvPr/>
        </p:nvSpPr>
        <p:spPr>
          <a:xfrm>
            <a:off x="658368" y="4142232"/>
            <a:ext cx="2112264" cy="292608"/>
          </a:xfrm>
          <a:prstGeom prst="rect">
            <a:avLst/>
          </a:prstGeom>
          <a:noFill/>
          <a:ln/>
        </p:spPr>
        <p:txBody>
          <a:bodyPr wrap="square" lIns="0" tIns="0" rIns="0" bIns="0" rtlCol="0" anchor="ctr"/>
          <a:lstStyle/>
          <a:p>
            <a:pPr indent="0" marL="0">
              <a:buNone/>
            </a:pPr>
            <a:r>
              <a:rPr lang="en-US" sz="1150" b="1" dirty="0">
                <a:solidFill>
                  <a:srgbClr val="5C636B"/>
                </a:solidFill>
                <a:latin typeface="Arial" pitchFamily="34" charset="0"/>
                <a:ea typeface="Arial" pitchFamily="34" charset="-122"/>
                <a:cs typeface="Arial" pitchFamily="34" charset="-120"/>
              </a:rPr>
              <a:t>External sources</a:t>
            </a:r>
            <a:endParaRPr lang="en-US" sz="1150" dirty="0"/>
          </a:p>
        </p:txBody>
      </p:sp>
      <p:sp>
        <p:nvSpPr>
          <p:cNvPr id="15" name="Text 12"/>
          <p:cNvSpPr txBox="1"/>
          <p:nvPr/>
        </p:nvSpPr>
        <p:spPr>
          <a:xfrm>
            <a:off x="658368" y="4434840"/>
            <a:ext cx="2112264" cy="493776"/>
          </a:xfrm>
          <a:prstGeom prst="rect">
            <a:avLst/>
          </a:prstGeom>
          <a:noFill/>
          <a:ln/>
        </p:spPr>
        <p:txBody>
          <a:bodyPr wrap="square" lIns="0" tIns="0" rIns="0" bIns="0" rtlCol="0" anchor="t"/>
          <a:lstStyle/>
          <a:p>
            <a:pPr indent="0" marL="0">
              <a:buNone/>
            </a:pPr>
            <a:r>
              <a:rPr lang="en-US" sz="950" dirty="0">
                <a:solidFill>
                  <a:srgbClr val="383D44"/>
                </a:solidFill>
                <a:latin typeface="Calibri" pitchFamily="34" charset="0"/>
                <a:ea typeface="Calibri" pitchFamily="34" charset="-122"/>
                <a:cs typeface="Calibri" pitchFamily="34" charset="-120"/>
              </a:rPr>
              <a:t>PostgreSQL · S3 · Kafka</a:t>
            </a:r>
            <a:endParaRPr lang="en-US" sz="950" dirty="0"/>
          </a:p>
          <a:p>
            <a:pPr indent="0" marL="0">
              <a:buNone/>
            </a:pPr>
            <a:r>
              <a:rPr lang="en-US" sz="950" dirty="0">
                <a:solidFill>
                  <a:srgbClr val="383D44"/>
                </a:solidFill>
                <a:latin typeface="Calibri" pitchFamily="34" charset="0"/>
                <a:ea typeface="Calibri" pitchFamily="34" charset="-122"/>
                <a:cs typeface="Calibri" pitchFamily="34" charset="-120"/>
              </a:rPr>
              <a:t>via the egress broker: TLS 1.3, pinned CA</a:t>
            </a:r>
            <a:endParaRPr lang="en-US" sz="950" dirty="0"/>
          </a:p>
        </p:txBody>
      </p:sp>
      <p:sp>
        <p:nvSpPr>
          <p:cNvPr id="16" name="Shape 13"/>
          <p:cNvSpPr/>
          <p:nvPr/>
        </p:nvSpPr>
        <p:spPr>
          <a:xfrm flipH="1">
            <a:off x="2880360" y="4526280"/>
            <a:ext cx="685800" cy="9144"/>
          </a:xfrm>
          <a:prstGeom prst="line">
            <a:avLst/>
          </a:prstGeom>
          <a:noFill/>
          <a:ln w="15875">
            <a:solidFill>
              <a:srgbClr val="D96E1E"/>
            </a:solidFill>
            <a:prstDash val="solid"/>
            <a:tailEnd type="triangle"/>
          </a:ln>
        </p:spPr>
      </p:sp>
      <p:sp>
        <p:nvSpPr>
          <p:cNvPr id="17" name="Text 14"/>
          <p:cNvSpPr txBox="1"/>
          <p:nvPr/>
        </p:nvSpPr>
        <p:spPr>
          <a:xfrm>
            <a:off x="2880360" y="4279392"/>
            <a:ext cx="685800" cy="201168"/>
          </a:xfrm>
          <a:prstGeom prst="rect">
            <a:avLst/>
          </a:prstGeom>
          <a:noFill/>
          <a:ln/>
        </p:spPr>
        <p:txBody>
          <a:bodyPr wrap="square" lIns="0" tIns="0" rIns="0" bIns="0" rtlCol="0" anchor="ctr"/>
          <a:lstStyle/>
          <a:p>
            <a:pPr algn="ctr" indent="0" marL="0">
              <a:buNone/>
            </a:pPr>
            <a:r>
              <a:rPr lang="en-US" sz="650" spc="150" kern="0" dirty="0">
                <a:solidFill>
                  <a:srgbClr val="5C636B"/>
                </a:solidFill>
                <a:latin typeface="Consolas" pitchFamily="34" charset="0"/>
                <a:ea typeface="Consolas" pitchFamily="34" charset="-122"/>
                <a:cs typeface="Consolas" pitchFamily="34" charset="-120"/>
              </a:rPr>
              <a:t>EGRESS</a:t>
            </a:r>
            <a:endParaRPr lang="en-US" sz="650" dirty="0"/>
          </a:p>
        </p:txBody>
      </p:sp>
      <p:sp>
        <p:nvSpPr>
          <p:cNvPr id="18" name="Shape 15"/>
          <p:cNvSpPr/>
          <p:nvPr/>
        </p:nvSpPr>
        <p:spPr>
          <a:xfrm>
            <a:off x="548640" y="5257800"/>
            <a:ext cx="2331720" cy="914400"/>
          </a:xfrm>
          <a:prstGeom prst="roundRect">
            <a:avLst>
              <a:gd name="adj" fmla="val 6000"/>
            </a:avLst>
          </a:prstGeom>
          <a:solidFill>
            <a:srgbClr val="F7F8FA"/>
          </a:solidFill>
          <a:ln w="9525">
            <a:solidFill>
              <a:srgbClr val="D6D9DE"/>
            </a:solidFill>
            <a:prstDash val="solid"/>
          </a:ln>
        </p:spPr>
      </p:sp>
      <p:sp>
        <p:nvSpPr>
          <p:cNvPr id="19" name="Text 16"/>
          <p:cNvSpPr txBox="1"/>
          <p:nvPr/>
        </p:nvSpPr>
        <p:spPr>
          <a:xfrm>
            <a:off x="658368" y="5330952"/>
            <a:ext cx="2112264" cy="292608"/>
          </a:xfrm>
          <a:prstGeom prst="rect">
            <a:avLst/>
          </a:prstGeom>
          <a:noFill/>
          <a:ln/>
        </p:spPr>
        <p:txBody>
          <a:bodyPr wrap="square" lIns="0" tIns="0" rIns="0" bIns="0" rtlCol="0" anchor="ctr"/>
          <a:lstStyle/>
          <a:p>
            <a:pPr indent="0" marL="0">
              <a:buNone/>
            </a:pPr>
            <a:r>
              <a:rPr lang="en-US" sz="1150" b="1" dirty="0">
                <a:solidFill>
                  <a:srgbClr val="6244C2"/>
                </a:solidFill>
                <a:latin typeface="Arial" pitchFamily="34" charset="0"/>
                <a:ea typeface="Arial" pitchFamily="34" charset="-122"/>
                <a:cs typeface="Arial" pitchFamily="34" charset="-120"/>
              </a:rPr>
              <a:t>Air-gapped sites</a:t>
            </a:r>
            <a:endParaRPr lang="en-US" sz="1150" dirty="0"/>
          </a:p>
        </p:txBody>
      </p:sp>
      <p:sp>
        <p:nvSpPr>
          <p:cNvPr id="20" name="Text 17"/>
          <p:cNvSpPr txBox="1"/>
          <p:nvPr/>
        </p:nvSpPr>
        <p:spPr>
          <a:xfrm>
            <a:off x="658368" y="5623560"/>
            <a:ext cx="2112264" cy="493776"/>
          </a:xfrm>
          <a:prstGeom prst="rect">
            <a:avLst/>
          </a:prstGeom>
          <a:noFill/>
          <a:ln/>
        </p:spPr>
        <p:txBody>
          <a:bodyPr wrap="square" lIns="0" tIns="0" rIns="0" bIns="0" rtlCol="0" anchor="t"/>
          <a:lstStyle/>
          <a:p>
            <a:pPr indent="0" marL="0">
              <a:buNone/>
            </a:pPr>
            <a:r>
              <a:rPr lang="en-US" sz="950" dirty="0">
                <a:solidFill>
                  <a:srgbClr val="383D44"/>
                </a:solidFill>
                <a:latin typeface="Calibri" pitchFamily="34" charset="0"/>
                <a:ea typeface="Calibri" pitchFamily="34" charset="-122"/>
                <a:cs typeface="Calibri" pitchFamily="34" charset="-120"/>
              </a:rPr>
              <a:t>Signed .mgbundle on media; every artefact is verified offline before install</a:t>
            </a:r>
            <a:endParaRPr lang="en-US" sz="950" dirty="0"/>
          </a:p>
        </p:txBody>
      </p:sp>
      <p:sp>
        <p:nvSpPr>
          <p:cNvPr id="21" name="Shape 18"/>
          <p:cNvSpPr/>
          <p:nvPr/>
        </p:nvSpPr>
        <p:spPr>
          <a:xfrm flipH="1">
            <a:off x="2880360" y="5715000"/>
            <a:ext cx="685800" cy="9144"/>
          </a:xfrm>
          <a:prstGeom prst="line">
            <a:avLst/>
          </a:prstGeom>
          <a:noFill/>
          <a:ln w="15875">
            <a:solidFill>
              <a:srgbClr val="7D5CE6"/>
            </a:solidFill>
            <a:prstDash val="solid"/>
            <a:tailEnd type="triangle"/>
          </a:ln>
        </p:spPr>
      </p:sp>
      <p:sp>
        <p:nvSpPr>
          <p:cNvPr id="22" name="Text 19"/>
          <p:cNvSpPr txBox="1"/>
          <p:nvPr/>
        </p:nvSpPr>
        <p:spPr>
          <a:xfrm>
            <a:off x="2880360" y="5468112"/>
            <a:ext cx="685800" cy="201168"/>
          </a:xfrm>
          <a:prstGeom prst="rect">
            <a:avLst/>
          </a:prstGeom>
          <a:noFill/>
          <a:ln/>
        </p:spPr>
        <p:txBody>
          <a:bodyPr wrap="square" lIns="0" tIns="0" rIns="0" bIns="0" rtlCol="0" anchor="ctr"/>
          <a:lstStyle/>
          <a:p>
            <a:pPr algn="ctr" indent="0" marL="0">
              <a:buNone/>
            </a:pPr>
            <a:r>
              <a:rPr lang="en-US" sz="650" spc="150" kern="0" dirty="0">
                <a:solidFill>
                  <a:srgbClr val="5C636B"/>
                </a:solidFill>
                <a:latin typeface="Consolas" pitchFamily="34" charset="0"/>
                <a:ea typeface="Consolas" pitchFamily="34" charset="-122"/>
                <a:cs typeface="Consolas" pitchFamily="34" charset="-120"/>
              </a:rPr>
              <a:t>BUNDLE</a:t>
            </a:r>
            <a:endParaRPr lang="en-US" sz="650" dirty="0"/>
          </a:p>
        </p:txBody>
      </p:sp>
      <p:sp>
        <p:nvSpPr>
          <p:cNvPr id="23" name="Shape 20"/>
          <p:cNvSpPr/>
          <p:nvPr/>
        </p:nvSpPr>
        <p:spPr>
          <a:xfrm>
            <a:off x="3566160" y="2240280"/>
            <a:ext cx="2011680" cy="1234440"/>
          </a:xfrm>
          <a:prstGeom prst="roundRect">
            <a:avLst>
              <a:gd name="adj" fmla="val 4444"/>
            </a:avLst>
          </a:prstGeom>
          <a:solidFill>
            <a:srgbClr val="FFFFFF"/>
          </a:solidFill>
          <a:ln w="9525">
            <a:solidFill>
              <a:srgbClr val="D6D9DE"/>
            </a:solidFill>
            <a:prstDash val="solid"/>
          </a:ln>
        </p:spPr>
      </p:sp>
      <p:sp>
        <p:nvSpPr>
          <p:cNvPr id="24" name="Text 21"/>
          <p:cNvSpPr txBox="1"/>
          <p:nvPr/>
        </p:nvSpPr>
        <p:spPr>
          <a:xfrm>
            <a:off x="3675888" y="2313432"/>
            <a:ext cx="1792224" cy="292608"/>
          </a:xfrm>
          <a:prstGeom prst="rect">
            <a:avLst/>
          </a:prstGeom>
          <a:noFill/>
          <a:ln/>
        </p:spPr>
        <p:txBody>
          <a:bodyPr wrap="square" lIns="0" tIns="0" rIns="0" bIns="0" rtlCol="0" anchor="ctr"/>
          <a:lstStyle/>
          <a:p>
            <a:pPr indent="0" marL="0">
              <a:buNone/>
            </a:pPr>
            <a:r>
              <a:rPr lang="en-US" sz="1150" b="1" dirty="0">
                <a:solidFill>
                  <a:srgbClr val="A8171E"/>
                </a:solidFill>
                <a:latin typeface="Arial" pitchFamily="34" charset="0"/>
                <a:ea typeface="Arial" pitchFamily="34" charset="-122"/>
                <a:cs typeface="Arial" pitchFamily="34" charset="-120"/>
              </a:rPr>
              <a:t>Edge · http-gateway</a:t>
            </a:r>
            <a:endParaRPr lang="en-US" sz="1150" dirty="0"/>
          </a:p>
        </p:txBody>
      </p:sp>
      <p:sp>
        <p:nvSpPr>
          <p:cNvPr id="25" name="Text 22"/>
          <p:cNvSpPr txBox="1"/>
          <p:nvPr/>
        </p:nvSpPr>
        <p:spPr>
          <a:xfrm>
            <a:off x="3675888" y="2606040"/>
            <a:ext cx="1792224" cy="813816"/>
          </a:xfrm>
          <a:prstGeom prst="rect">
            <a:avLst/>
          </a:prstGeom>
          <a:noFill/>
          <a:ln/>
        </p:spPr>
        <p:txBody>
          <a:bodyPr wrap="square" lIns="0" tIns="0" rIns="0" bIns="0" rtlCol="0" anchor="t"/>
          <a:lstStyle/>
          <a:p>
            <a:pPr indent="0" marL="0">
              <a:buNone/>
            </a:pPr>
            <a:r>
              <a:rPr lang="en-US" sz="950" dirty="0">
                <a:solidFill>
                  <a:srgbClr val="383D44"/>
                </a:solidFill>
                <a:latin typeface="Calibri" pitchFamily="34" charset="0"/>
                <a:ea typeface="Calibri" pitchFamily="34" charset="-122"/>
                <a:cs typeface="Calibri" pitchFamily="34" charset="-120"/>
              </a:rPr>
              <a:t>Policy decision point</a:t>
            </a:r>
            <a:endParaRPr lang="en-US" sz="950" dirty="0"/>
          </a:p>
          <a:p>
            <a:pPr indent="0" marL="0">
              <a:buNone/>
            </a:pPr>
            <a:r>
              <a:rPr lang="en-US" sz="950" dirty="0">
                <a:solidFill>
                  <a:srgbClr val="383D44"/>
                </a:solidFill>
                <a:latin typeface="Calibri" pitchFamily="34" charset="0"/>
                <a:ea typeface="Calibri" pitchFamily="34" charset="-122"/>
                <a:cs typeface="Calibri" pitchFamily="34" charset="-120"/>
              </a:rPr>
              <a:t>ML-DSA-signed session tokens</a:t>
            </a:r>
            <a:endParaRPr lang="en-US" sz="950" dirty="0"/>
          </a:p>
          <a:p>
            <a:pPr indent="0" marL="0">
              <a:buNone/>
            </a:pPr>
            <a:r>
              <a:rPr lang="en-US" sz="950" dirty="0">
                <a:solidFill>
                  <a:srgbClr val="383D44"/>
                </a:solidFill>
                <a:latin typeface="Calibri" pitchFamily="34" charset="0"/>
                <a:ea typeface="Calibri" pitchFamily="34" charset="-122"/>
                <a:cs typeface="Calibri" pitchFamily="34" charset="-120"/>
              </a:rPr>
              <a:t>Uniform 401, per-object filtering</a:t>
            </a:r>
            <a:endParaRPr lang="en-US" sz="950" dirty="0"/>
          </a:p>
        </p:txBody>
      </p:sp>
      <p:sp>
        <p:nvSpPr>
          <p:cNvPr id="26" name="Shape 23"/>
          <p:cNvSpPr/>
          <p:nvPr/>
        </p:nvSpPr>
        <p:spPr>
          <a:xfrm>
            <a:off x="5577840" y="2852928"/>
            <a:ext cx="365760" cy="9144"/>
          </a:xfrm>
          <a:prstGeom prst="line">
            <a:avLst/>
          </a:prstGeom>
          <a:noFill/>
          <a:ln w="15875">
            <a:solidFill>
              <a:srgbClr val="BFC4CB"/>
            </a:solidFill>
            <a:prstDash val="solid"/>
            <a:tailEnd type="triangle"/>
          </a:ln>
        </p:spPr>
      </p:sp>
      <p:sp>
        <p:nvSpPr>
          <p:cNvPr id="27" name="Shape 24"/>
          <p:cNvSpPr/>
          <p:nvPr/>
        </p:nvSpPr>
        <p:spPr>
          <a:xfrm>
            <a:off x="5943600" y="2240280"/>
            <a:ext cx="2514600" cy="1234440"/>
          </a:xfrm>
          <a:prstGeom prst="roundRect">
            <a:avLst>
              <a:gd name="adj" fmla="val 4444"/>
            </a:avLst>
          </a:prstGeom>
          <a:solidFill>
            <a:srgbClr val="FFFFFF"/>
          </a:solidFill>
          <a:ln w="9525">
            <a:solidFill>
              <a:srgbClr val="D6D9DE"/>
            </a:solidFill>
            <a:prstDash val="solid"/>
          </a:ln>
        </p:spPr>
      </p:sp>
      <p:sp>
        <p:nvSpPr>
          <p:cNvPr id="28" name="Text 25"/>
          <p:cNvSpPr txBox="1"/>
          <p:nvPr/>
        </p:nvSpPr>
        <p:spPr>
          <a:xfrm>
            <a:off x="6053328" y="2313432"/>
            <a:ext cx="2295144" cy="292608"/>
          </a:xfrm>
          <a:prstGeom prst="rect">
            <a:avLst/>
          </a:prstGeom>
          <a:noFill/>
          <a:ln/>
        </p:spPr>
        <p:txBody>
          <a:bodyPr wrap="square" lIns="0" tIns="0" rIns="0" bIns="0" rtlCol="0" anchor="ctr"/>
          <a:lstStyle/>
          <a:p>
            <a:pPr indent="0" marL="0">
              <a:buNone/>
            </a:pPr>
            <a:r>
              <a:rPr lang="en-US" sz="1150" b="1" dirty="0">
                <a:solidFill>
                  <a:srgbClr val="A8171E"/>
                </a:solidFill>
                <a:latin typeface="Arial" pitchFamily="34" charset="0"/>
                <a:ea typeface="Arial" pitchFamily="34" charset="-122"/>
                <a:cs typeface="Arial" pitchFamily="34" charset="-120"/>
              </a:rPr>
              <a:t>Enclosure core</a:t>
            </a:r>
            <a:endParaRPr lang="en-US" sz="1150" dirty="0"/>
          </a:p>
        </p:txBody>
      </p:sp>
      <p:sp>
        <p:nvSpPr>
          <p:cNvPr id="29" name="Text 26"/>
          <p:cNvSpPr txBox="1"/>
          <p:nvPr/>
        </p:nvSpPr>
        <p:spPr>
          <a:xfrm>
            <a:off x="6053328" y="2606040"/>
            <a:ext cx="2295144" cy="813816"/>
          </a:xfrm>
          <a:prstGeom prst="rect">
            <a:avLst/>
          </a:prstGeom>
          <a:noFill/>
          <a:ln/>
        </p:spPr>
        <p:txBody>
          <a:bodyPr wrap="square" lIns="0" tIns="0" rIns="0" bIns="0" rtlCol="0" anchor="t"/>
          <a:lstStyle/>
          <a:p>
            <a:pPr indent="0" marL="0">
              <a:buNone/>
            </a:pPr>
            <a:r>
              <a:rPr lang="en-US" sz="950" dirty="0">
                <a:solidFill>
                  <a:srgbClr val="383D44"/>
                </a:solidFill>
                <a:latin typeface="Calibri" pitchFamily="34" charset="0"/>
                <a:ea typeface="Calibri" pitchFamily="34" charset="-122"/>
                <a:cs typeface="Calibri" pitchFamily="34" charset="-120"/>
              </a:rPr>
              <a:t>IAM · Object fabric · KMS</a:t>
            </a:r>
            <a:endParaRPr lang="en-US" sz="950" dirty="0"/>
          </a:p>
          <a:p>
            <a:pPr indent="0" marL="0">
              <a:buNone/>
            </a:pPr>
            <a:r>
              <a:rPr lang="en-US" sz="950" dirty="0">
                <a:solidFill>
                  <a:srgbClr val="383D44"/>
                </a:solidFill>
                <a:latin typeface="Calibri" pitchFamily="34" charset="0"/>
                <a:ea typeface="Calibri" pitchFamily="34" charset="-122"/>
                <a:cs typeface="Calibri" pitchFamily="34" charset="-120"/>
              </a:rPr>
              <a:t>Governance: one PQ-signed ledger</a:t>
            </a:r>
            <a:endParaRPr lang="en-US" sz="950" dirty="0"/>
          </a:p>
          <a:p>
            <a:pPr indent="0" marL="0">
              <a:buNone/>
            </a:pPr>
            <a:r>
              <a:rPr lang="en-US" sz="950" dirty="0">
                <a:solidFill>
                  <a:srgbClr val="383D44"/>
                </a:solidFill>
                <a:latin typeface="Calibri" pitchFamily="34" charset="0"/>
                <a:ea typeface="Calibri" pitchFamily="34" charset="-122"/>
                <a:cs typeface="Calibri" pitchFamily="34" charset="-120"/>
              </a:rPr>
              <a:t>Sealed, append-only journals</a:t>
            </a:r>
            <a:endParaRPr lang="en-US" sz="950" dirty="0"/>
          </a:p>
        </p:txBody>
      </p:sp>
      <p:sp>
        <p:nvSpPr>
          <p:cNvPr id="30" name="Shape 27"/>
          <p:cNvSpPr/>
          <p:nvPr/>
        </p:nvSpPr>
        <p:spPr>
          <a:xfrm>
            <a:off x="8778240" y="2240280"/>
            <a:ext cx="2606040" cy="658368"/>
          </a:xfrm>
          <a:prstGeom prst="roundRect">
            <a:avLst>
              <a:gd name="adj" fmla="val 8333"/>
            </a:avLst>
          </a:prstGeom>
          <a:solidFill>
            <a:srgbClr val="FFFFFF"/>
          </a:solidFill>
          <a:ln w="9525">
            <a:solidFill>
              <a:srgbClr val="D6D9DE"/>
            </a:solidFill>
            <a:prstDash val="solid"/>
          </a:ln>
        </p:spPr>
      </p:sp>
      <p:sp>
        <p:nvSpPr>
          <p:cNvPr id="31" name="Text 28"/>
          <p:cNvSpPr txBox="1"/>
          <p:nvPr/>
        </p:nvSpPr>
        <p:spPr>
          <a:xfrm>
            <a:off x="8887968" y="2313432"/>
            <a:ext cx="2386584" cy="292608"/>
          </a:xfrm>
          <a:prstGeom prst="rect">
            <a:avLst/>
          </a:prstGeom>
          <a:noFill/>
          <a:ln/>
        </p:spPr>
        <p:txBody>
          <a:bodyPr wrap="square" lIns="0" tIns="0" rIns="0" bIns="0" rtlCol="0" anchor="ctr"/>
          <a:lstStyle/>
          <a:p>
            <a:pPr indent="0" marL="0">
              <a:buNone/>
            </a:pPr>
            <a:r>
              <a:rPr lang="en-US" sz="1150" b="1" dirty="0">
                <a:solidFill>
                  <a:srgbClr val="B25715"/>
                </a:solidFill>
                <a:latin typeface="Arial" pitchFamily="34" charset="0"/>
                <a:ea typeface="Arial" pitchFamily="34" charset="-122"/>
                <a:cs typeface="Arial" pitchFamily="34" charset="-120"/>
              </a:rPr>
              <a:t>Forge worker</a:t>
            </a:r>
            <a:endParaRPr lang="en-US" sz="1150" dirty="0"/>
          </a:p>
        </p:txBody>
      </p:sp>
      <p:sp>
        <p:nvSpPr>
          <p:cNvPr id="32" name="Text 29"/>
          <p:cNvSpPr txBox="1"/>
          <p:nvPr/>
        </p:nvSpPr>
        <p:spPr>
          <a:xfrm>
            <a:off x="8887968" y="2606040"/>
            <a:ext cx="2386584" cy="237744"/>
          </a:xfrm>
          <a:prstGeom prst="rect">
            <a:avLst/>
          </a:prstGeom>
          <a:noFill/>
          <a:ln/>
        </p:spPr>
        <p:txBody>
          <a:bodyPr wrap="square" lIns="0" tIns="0" rIns="0" bIns="0" rtlCol="0" anchor="t"/>
          <a:lstStyle/>
          <a:p>
            <a:pPr indent="0" marL="0">
              <a:buNone/>
            </a:pPr>
            <a:r>
              <a:rPr lang="en-US" sz="950" dirty="0">
                <a:solidFill>
                  <a:srgbClr val="383D44"/>
                </a:solidFill>
                <a:latin typeface="Calibri" pitchFamily="34" charset="0"/>
                <a:ea typeface="Calibri" pitchFamily="34" charset="-122"/>
                <a:cs typeface="Calibri" pitchFamily="34" charset="-120"/>
              </a:rPr>
              <a:t>connectors · datasets · projection</a:t>
            </a:r>
            <a:endParaRPr lang="en-US" sz="950" dirty="0"/>
          </a:p>
        </p:txBody>
      </p:sp>
      <p:sp>
        <p:nvSpPr>
          <p:cNvPr id="33" name="Shape 30"/>
          <p:cNvSpPr/>
          <p:nvPr/>
        </p:nvSpPr>
        <p:spPr>
          <a:xfrm flipV="1">
            <a:off x="8458200" y="2569464"/>
            <a:ext cx="320040" cy="283464"/>
          </a:xfrm>
          <a:prstGeom prst="line">
            <a:avLst/>
          </a:prstGeom>
          <a:noFill/>
          <a:ln w="15875">
            <a:solidFill>
              <a:srgbClr val="D96E1E"/>
            </a:solidFill>
            <a:prstDash val="solid"/>
            <a:tailEnd type="triangle"/>
          </a:ln>
        </p:spPr>
      </p:sp>
      <p:sp>
        <p:nvSpPr>
          <p:cNvPr id="34" name="Shape 31"/>
          <p:cNvSpPr/>
          <p:nvPr/>
        </p:nvSpPr>
        <p:spPr>
          <a:xfrm>
            <a:off x="8778240" y="3026664"/>
            <a:ext cx="2606040" cy="658368"/>
          </a:xfrm>
          <a:prstGeom prst="roundRect">
            <a:avLst>
              <a:gd name="adj" fmla="val 8333"/>
            </a:avLst>
          </a:prstGeom>
          <a:solidFill>
            <a:srgbClr val="FFFFFF"/>
          </a:solidFill>
          <a:ln w="9525">
            <a:solidFill>
              <a:srgbClr val="D6D9DE"/>
            </a:solidFill>
            <a:prstDash val="solid"/>
          </a:ln>
        </p:spPr>
      </p:sp>
      <p:sp>
        <p:nvSpPr>
          <p:cNvPr id="35" name="Text 32"/>
          <p:cNvSpPr txBox="1"/>
          <p:nvPr/>
        </p:nvSpPr>
        <p:spPr>
          <a:xfrm>
            <a:off x="8887968" y="3099816"/>
            <a:ext cx="2386584" cy="292608"/>
          </a:xfrm>
          <a:prstGeom prst="rect">
            <a:avLst/>
          </a:prstGeom>
          <a:noFill/>
          <a:ln/>
        </p:spPr>
        <p:txBody>
          <a:bodyPr wrap="square" lIns="0" tIns="0" rIns="0" bIns="0" rtlCol="0" anchor="ctr"/>
          <a:lstStyle/>
          <a:p>
            <a:pPr indent="0" marL="0">
              <a:buNone/>
            </a:pPr>
            <a:r>
              <a:rPr lang="en-US" sz="1150" b="1" dirty="0">
                <a:solidFill>
                  <a:srgbClr val="17828E"/>
                </a:solidFill>
                <a:latin typeface="Arial" pitchFamily="34" charset="0"/>
                <a:ea typeface="Arial" pitchFamily="34" charset="-122"/>
                <a:cs typeface="Arial" pitchFamily="34" charset="-120"/>
              </a:rPr>
              <a:t>Mimir server</a:t>
            </a:r>
            <a:endParaRPr lang="en-US" sz="1150" dirty="0"/>
          </a:p>
        </p:txBody>
      </p:sp>
      <p:sp>
        <p:nvSpPr>
          <p:cNvPr id="36" name="Text 33"/>
          <p:cNvSpPr txBox="1"/>
          <p:nvPr/>
        </p:nvSpPr>
        <p:spPr>
          <a:xfrm>
            <a:off x="8887968" y="3392424"/>
            <a:ext cx="2386584" cy="237744"/>
          </a:xfrm>
          <a:prstGeom prst="rect">
            <a:avLst/>
          </a:prstGeom>
          <a:noFill/>
          <a:ln/>
        </p:spPr>
        <p:txBody>
          <a:bodyPr wrap="square" lIns="0" tIns="0" rIns="0" bIns="0" rtlCol="0" anchor="t"/>
          <a:lstStyle/>
          <a:p>
            <a:pPr indent="0" marL="0">
              <a:buNone/>
            </a:pPr>
            <a:r>
              <a:rPr lang="en-US" sz="950" dirty="0">
                <a:solidFill>
                  <a:srgbClr val="383D44"/>
                </a:solidFill>
                <a:latin typeface="Calibri" pitchFamily="34" charset="0"/>
                <a:ea typeface="Calibri" pitchFamily="34" charset="-122"/>
                <a:cs typeface="Calibri" pitchFamily="34" charset="-120"/>
              </a:rPr>
              <a:t>signed models · guardrails · agents</a:t>
            </a:r>
            <a:endParaRPr lang="en-US" sz="950" dirty="0"/>
          </a:p>
        </p:txBody>
      </p:sp>
      <p:sp>
        <p:nvSpPr>
          <p:cNvPr id="37" name="Shape 34"/>
          <p:cNvSpPr/>
          <p:nvPr/>
        </p:nvSpPr>
        <p:spPr>
          <a:xfrm>
            <a:off x="8458200" y="2852928"/>
            <a:ext cx="320040" cy="502920"/>
          </a:xfrm>
          <a:prstGeom prst="line">
            <a:avLst/>
          </a:prstGeom>
          <a:noFill/>
          <a:ln w="15875">
            <a:solidFill>
              <a:srgbClr val="23A8B6"/>
            </a:solidFill>
            <a:prstDash val="solid"/>
            <a:tailEnd type="triangle"/>
          </a:ln>
        </p:spPr>
      </p:sp>
      <p:sp>
        <p:nvSpPr>
          <p:cNvPr id="38" name="Shape 35"/>
          <p:cNvSpPr/>
          <p:nvPr/>
        </p:nvSpPr>
        <p:spPr>
          <a:xfrm>
            <a:off x="8778240" y="3813048"/>
            <a:ext cx="2606040" cy="658368"/>
          </a:xfrm>
          <a:prstGeom prst="roundRect">
            <a:avLst>
              <a:gd name="adj" fmla="val 8333"/>
            </a:avLst>
          </a:prstGeom>
          <a:solidFill>
            <a:srgbClr val="FFFFFF"/>
          </a:solidFill>
          <a:ln w="9525">
            <a:solidFill>
              <a:srgbClr val="D6D9DE"/>
            </a:solidFill>
            <a:prstDash val="solid"/>
          </a:ln>
        </p:spPr>
      </p:sp>
      <p:sp>
        <p:nvSpPr>
          <p:cNvPr id="39" name="Text 36"/>
          <p:cNvSpPr txBox="1"/>
          <p:nvPr/>
        </p:nvSpPr>
        <p:spPr>
          <a:xfrm>
            <a:off x="8887968" y="3886200"/>
            <a:ext cx="2386584" cy="292608"/>
          </a:xfrm>
          <a:prstGeom prst="rect">
            <a:avLst/>
          </a:prstGeom>
          <a:noFill/>
          <a:ln/>
        </p:spPr>
        <p:txBody>
          <a:bodyPr wrap="square" lIns="0" tIns="0" rIns="0" bIns="0" rtlCol="0" anchor="ctr"/>
          <a:lstStyle/>
          <a:p>
            <a:pPr indent="0" marL="0">
              <a:buNone/>
            </a:pPr>
            <a:r>
              <a:rPr lang="en-US" sz="1150" b="1" dirty="0">
                <a:solidFill>
                  <a:srgbClr val="6244C2"/>
                </a:solidFill>
                <a:latin typeface="Arial" pitchFamily="34" charset="0"/>
                <a:ea typeface="Arial" pitchFamily="34" charset="-122"/>
                <a:cs typeface="Arial" pitchFamily="34" charset="-120"/>
              </a:rPr>
              <a:t>Bifrost fleet</a:t>
            </a:r>
            <a:endParaRPr lang="en-US" sz="1150" dirty="0"/>
          </a:p>
        </p:txBody>
      </p:sp>
      <p:sp>
        <p:nvSpPr>
          <p:cNvPr id="40" name="Text 37"/>
          <p:cNvSpPr txBox="1"/>
          <p:nvPr/>
        </p:nvSpPr>
        <p:spPr>
          <a:xfrm>
            <a:off x="8887968" y="4178808"/>
            <a:ext cx="2386584" cy="237744"/>
          </a:xfrm>
          <a:prstGeom prst="rect">
            <a:avLst/>
          </a:prstGeom>
          <a:noFill/>
          <a:ln/>
        </p:spPr>
        <p:txBody>
          <a:bodyPr wrap="square" lIns="0" tIns="0" rIns="0" bIns="0" rtlCol="0" anchor="t"/>
          <a:lstStyle/>
          <a:p>
            <a:pPr indent="0" marL="0">
              <a:buNone/>
            </a:pPr>
            <a:r>
              <a:rPr lang="en-US" sz="950" dirty="0">
                <a:solidFill>
                  <a:srgbClr val="383D44"/>
                </a:solidFill>
                <a:latin typeface="Calibri" pitchFamily="34" charset="0"/>
                <a:ea typeface="Calibri" pitchFamily="34" charset="-122"/>
                <a:cs typeface="Calibri" pitchFamily="34" charset="-120"/>
              </a:rPr>
              <a:t>artefacts · rings · bundles</a:t>
            </a:r>
            <a:endParaRPr lang="en-US" sz="950" dirty="0"/>
          </a:p>
        </p:txBody>
      </p:sp>
      <p:sp>
        <p:nvSpPr>
          <p:cNvPr id="41" name="Shape 38"/>
          <p:cNvSpPr/>
          <p:nvPr/>
        </p:nvSpPr>
        <p:spPr>
          <a:xfrm>
            <a:off x="8458200" y="2852928"/>
            <a:ext cx="320040" cy="1289304"/>
          </a:xfrm>
          <a:prstGeom prst="line">
            <a:avLst/>
          </a:prstGeom>
          <a:noFill/>
          <a:ln w="15875">
            <a:solidFill>
              <a:srgbClr val="7D5CE6"/>
            </a:solidFill>
            <a:prstDash val="solid"/>
            <a:tailEnd type="triangle"/>
          </a:ln>
        </p:spPr>
      </p:sp>
      <p:sp>
        <p:nvSpPr>
          <p:cNvPr id="42" name="Shape 39"/>
          <p:cNvSpPr/>
          <p:nvPr/>
        </p:nvSpPr>
        <p:spPr>
          <a:xfrm>
            <a:off x="8778240" y="4599432"/>
            <a:ext cx="2606040" cy="658368"/>
          </a:xfrm>
          <a:prstGeom prst="roundRect">
            <a:avLst>
              <a:gd name="adj" fmla="val 8333"/>
            </a:avLst>
          </a:prstGeom>
          <a:solidFill>
            <a:srgbClr val="FFFFFF"/>
          </a:solidFill>
          <a:ln w="9525">
            <a:solidFill>
              <a:srgbClr val="D6D9DE"/>
            </a:solidFill>
            <a:prstDash val="solid"/>
          </a:ln>
        </p:spPr>
      </p:sp>
      <p:sp>
        <p:nvSpPr>
          <p:cNvPr id="43" name="Text 40"/>
          <p:cNvSpPr txBox="1"/>
          <p:nvPr/>
        </p:nvSpPr>
        <p:spPr>
          <a:xfrm>
            <a:off x="8887968" y="4672584"/>
            <a:ext cx="2386584" cy="292608"/>
          </a:xfrm>
          <a:prstGeom prst="rect">
            <a:avLst/>
          </a:prstGeom>
          <a:noFill/>
          <a:ln/>
        </p:spPr>
        <p:txBody>
          <a:bodyPr wrap="square" lIns="0" tIns="0" rIns="0" bIns="0" rtlCol="0" anchor="ctr"/>
          <a:lstStyle/>
          <a:p>
            <a:pPr indent="0" marL="0">
              <a:buNone/>
            </a:pPr>
            <a:r>
              <a:rPr lang="en-US" sz="1150" b="1" dirty="0">
                <a:solidFill>
                  <a:srgbClr val="A17A17"/>
                </a:solidFill>
                <a:latin typeface="Arial" pitchFamily="34" charset="0"/>
                <a:ea typeface="Arial" pitchFamily="34" charset="-122"/>
                <a:cs typeface="Arial" pitchFamily="34" charset="-120"/>
              </a:rPr>
              <a:t>Heimdall feed</a:t>
            </a:r>
            <a:endParaRPr lang="en-US" sz="1150" dirty="0"/>
          </a:p>
        </p:txBody>
      </p:sp>
      <p:sp>
        <p:nvSpPr>
          <p:cNvPr id="44" name="Text 41"/>
          <p:cNvSpPr txBox="1"/>
          <p:nvPr/>
        </p:nvSpPr>
        <p:spPr>
          <a:xfrm>
            <a:off x="8887968" y="4965192"/>
            <a:ext cx="2386584" cy="237744"/>
          </a:xfrm>
          <a:prstGeom prst="rect">
            <a:avLst/>
          </a:prstGeom>
          <a:noFill/>
          <a:ln/>
        </p:spPr>
        <p:txBody>
          <a:bodyPr wrap="square" lIns="0" tIns="0" rIns="0" bIns="0" rtlCol="0" anchor="t"/>
          <a:lstStyle/>
          <a:p>
            <a:pPr indent="0" marL="0">
              <a:buNone/>
            </a:pPr>
            <a:r>
              <a:rPr lang="en-US" sz="950" dirty="0">
                <a:solidFill>
                  <a:srgbClr val="383D44"/>
                </a:solidFill>
                <a:latin typeface="Calibri" pitchFamily="34" charset="0"/>
                <a:ea typeface="Calibri" pitchFamily="34" charset="-122"/>
                <a:cs typeface="Calibri" pitchFamily="34" charset="-120"/>
              </a:rPr>
              <a:t>signed observations · fused picture</a:t>
            </a:r>
            <a:endParaRPr lang="en-US" sz="950" dirty="0"/>
          </a:p>
        </p:txBody>
      </p:sp>
      <p:sp>
        <p:nvSpPr>
          <p:cNvPr id="45" name="Shape 42"/>
          <p:cNvSpPr/>
          <p:nvPr/>
        </p:nvSpPr>
        <p:spPr>
          <a:xfrm>
            <a:off x="8458200" y="2852928"/>
            <a:ext cx="320040" cy="2075688"/>
          </a:xfrm>
          <a:prstGeom prst="line">
            <a:avLst/>
          </a:prstGeom>
          <a:noFill/>
          <a:ln w="15875">
            <a:solidFill>
              <a:srgbClr val="C99A22"/>
            </a:solidFill>
            <a:prstDash val="solid"/>
            <a:tailEnd type="triangle"/>
          </a:ln>
        </p:spPr>
      </p:sp>
      <p:sp>
        <p:nvSpPr>
          <p:cNvPr id="46" name="Text 43"/>
          <p:cNvSpPr txBox="1"/>
          <p:nvPr/>
        </p:nvSpPr>
        <p:spPr>
          <a:xfrm>
            <a:off x="3566160" y="3611880"/>
            <a:ext cx="4892040" cy="201168"/>
          </a:xfrm>
          <a:prstGeom prst="rect">
            <a:avLst/>
          </a:prstGeom>
          <a:noFill/>
          <a:ln/>
        </p:spPr>
        <p:txBody>
          <a:bodyPr wrap="square" lIns="0" tIns="0" rIns="0" bIns="0" rtlCol="0" anchor="ctr"/>
          <a:lstStyle/>
          <a:p>
            <a:pPr indent="0" marL="0">
              <a:buNone/>
            </a:pPr>
            <a:r>
              <a:rPr lang="en-US" sz="750" spc="150" kern="0" dirty="0">
                <a:solidFill>
                  <a:srgbClr val="5C636B"/>
                </a:solidFill>
                <a:latin typeface="Consolas" pitchFamily="34" charset="0"/>
                <a:ea typeface="Consolas" pitchFamily="34" charset="-122"/>
                <a:cs typeface="Consolas" pitchFamily="34" charset="-120"/>
              </a:rPr>
              <a:t>PQ-mTLS SERVICE MESH · HYBRID X25519 + ML-KEM-768</a:t>
            </a:r>
            <a:endParaRPr lang="en-US" sz="750" dirty="0"/>
          </a:p>
        </p:txBody>
      </p:sp>
      <p:sp>
        <p:nvSpPr>
          <p:cNvPr id="47" name="Shape 44"/>
          <p:cNvSpPr/>
          <p:nvPr/>
        </p:nvSpPr>
        <p:spPr>
          <a:xfrm>
            <a:off x="3566160" y="3931920"/>
            <a:ext cx="4892040" cy="868680"/>
          </a:xfrm>
          <a:prstGeom prst="roundRect">
            <a:avLst>
              <a:gd name="adj" fmla="val 6316"/>
            </a:avLst>
          </a:prstGeom>
          <a:solidFill>
            <a:srgbClr val="F7F8FA"/>
          </a:solidFill>
          <a:ln w="9525">
            <a:solidFill>
              <a:srgbClr val="D6D9DE"/>
            </a:solidFill>
            <a:prstDash val="solid"/>
          </a:ln>
        </p:spPr>
      </p:sp>
      <p:sp>
        <p:nvSpPr>
          <p:cNvPr id="48" name="Text 45"/>
          <p:cNvSpPr txBox="1"/>
          <p:nvPr/>
        </p:nvSpPr>
        <p:spPr>
          <a:xfrm>
            <a:off x="3675888" y="4005072"/>
            <a:ext cx="4672584" cy="292608"/>
          </a:xfrm>
          <a:prstGeom prst="rect">
            <a:avLst/>
          </a:prstGeom>
          <a:noFill/>
          <a:ln/>
        </p:spPr>
        <p:txBody>
          <a:bodyPr wrap="square" lIns="0" tIns="0" rIns="0" bIns="0" rtlCol="0" anchor="ctr"/>
          <a:lstStyle/>
          <a:p>
            <a:pPr indent="0" marL="0">
              <a:buNone/>
            </a:pPr>
            <a:r>
              <a:rPr lang="en-US" sz="1150" b="1" dirty="0">
                <a:solidFill>
                  <a:srgbClr val="101114"/>
                </a:solidFill>
                <a:latin typeface="Arial" pitchFamily="34" charset="0"/>
                <a:ea typeface="Arial" pitchFamily="34" charset="-122"/>
                <a:cs typeface="Arial" pitchFamily="34" charset="-120"/>
              </a:rPr>
              <a:t>Admin Control Panel</a:t>
            </a:r>
            <a:endParaRPr lang="en-US" sz="1150" dirty="0"/>
          </a:p>
        </p:txBody>
      </p:sp>
      <p:sp>
        <p:nvSpPr>
          <p:cNvPr id="49" name="Text 46"/>
          <p:cNvSpPr txBox="1"/>
          <p:nvPr/>
        </p:nvSpPr>
        <p:spPr>
          <a:xfrm>
            <a:off x="3675888" y="4297680"/>
            <a:ext cx="4672584" cy="448056"/>
          </a:xfrm>
          <a:prstGeom prst="rect">
            <a:avLst/>
          </a:prstGeom>
          <a:noFill/>
          <a:ln/>
        </p:spPr>
        <p:txBody>
          <a:bodyPr wrap="square" lIns="0" tIns="0" rIns="0" bIns="0" rtlCol="0" anchor="t"/>
          <a:lstStyle/>
          <a:p>
            <a:pPr indent="0" marL="0">
              <a:buNone/>
            </a:pPr>
            <a:r>
              <a:rPr lang="en-US" sz="950" dirty="0">
                <a:solidFill>
                  <a:srgbClr val="383D44"/>
                </a:solidFill>
                <a:latin typeface="Calibri" pitchFamily="34" charset="0"/>
                <a:ea typeface="Calibri" pitchFamily="34" charset="-122"/>
                <a:cs typeface="Calibri" pitchFamily="34" charset="-120"/>
              </a:rPr>
              <a:t>Dual control on enrolment today · no super-admin · break-glass and signed configuration are tested libraries, not yet served</a:t>
            </a:r>
            <a:endParaRPr lang="en-US" sz="950" dirty="0"/>
          </a:p>
        </p:txBody>
      </p:sp>
      <p:sp>
        <p:nvSpPr>
          <p:cNvPr id="50" name="Shape 47"/>
          <p:cNvSpPr/>
          <p:nvPr/>
        </p:nvSpPr>
        <p:spPr>
          <a:xfrm>
            <a:off x="3566160" y="4983480"/>
            <a:ext cx="4892040" cy="1005840"/>
          </a:xfrm>
          <a:prstGeom prst="roundRect">
            <a:avLst>
              <a:gd name="adj" fmla="val 5455"/>
            </a:avLst>
          </a:prstGeom>
          <a:solidFill>
            <a:srgbClr val="F7F8FA"/>
          </a:solidFill>
          <a:ln w="9525">
            <a:solidFill>
              <a:srgbClr val="D6D9DE"/>
            </a:solidFill>
            <a:prstDash val="solid"/>
          </a:ln>
        </p:spPr>
      </p:sp>
      <p:sp>
        <p:nvSpPr>
          <p:cNvPr id="51" name="Text 48"/>
          <p:cNvSpPr txBox="1"/>
          <p:nvPr/>
        </p:nvSpPr>
        <p:spPr>
          <a:xfrm>
            <a:off x="3675888" y="5056632"/>
            <a:ext cx="4672584" cy="292608"/>
          </a:xfrm>
          <a:prstGeom prst="rect">
            <a:avLst/>
          </a:prstGeom>
          <a:noFill/>
          <a:ln/>
        </p:spPr>
        <p:txBody>
          <a:bodyPr wrap="square" lIns="0" tIns="0" rIns="0" bIns="0" rtlCol="0" anchor="ctr"/>
          <a:lstStyle/>
          <a:p>
            <a:pPr indent="0" marL="0">
              <a:buNone/>
            </a:pPr>
            <a:r>
              <a:rPr lang="en-US" sz="1150" b="1" dirty="0">
                <a:solidFill>
                  <a:srgbClr val="101114"/>
                </a:solidFill>
                <a:latin typeface="Arial" pitchFamily="34" charset="0"/>
                <a:ea typeface="Arial" pitchFamily="34" charset="-122"/>
                <a:cs typeface="Arial" pitchFamily="34" charset="-120"/>
              </a:rPr>
              <a:t>Deployment</a:t>
            </a:r>
            <a:endParaRPr lang="en-US" sz="1150" dirty="0"/>
          </a:p>
        </p:txBody>
      </p:sp>
      <p:sp>
        <p:nvSpPr>
          <p:cNvPr id="52" name="Text 49"/>
          <p:cNvSpPr txBox="1"/>
          <p:nvPr/>
        </p:nvSpPr>
        <p:spPr>
          <a:xfrm>
            <a:off x="3675888" y="5349240"/>
            <a:ext cx="4672584" cy="585216"/>
          </a:xfrm>
          <a:prstGeom prst="rect">
            <a:avLst/>
          </a:prstGeom>
          <a:noFill/>
          <a:ln/>
        </p:spPr>
        <p:txBody>
          <a:bodyPr wrap="square" lIns="0" tIns="0" rIns="0" bIns="0" rtlCol="0" anchor="t"/>
          <a:lstStyle/>
          <a:p>
            <a:pPr indent="0" marL="0">
              <a:buNone/>
            </a:pPr>
            <a:r>
              <a:rPr lang="en-US" sz="950" dirty="0">
                <a:solidFill>
                  <a:srgbClr val="383D44"/>
                </a:solidFill>
                <a:latin typeface="Calibri" pitchFamily="34" charset="0"/>
                <a:ea typeface="Calibri" pitchFamily="34" charset="-122"/>
                <a:cs typeface="Calibri" pitchFamily="34" charset="-120"/>
              </a:rPr>
              <a:t>Laptop (dev mode) · docker compose (5 services) · Kubernetes via Helm (hardened pods, default-deny network) · signed air-gap bundle for disconnected sites</a:t>
            </a:r>
            <a:endParaRPr lang="en-US" sz="950" dirty="0"/>
          </a:p>
        </p:txBody>
      </p:sp>
      <p:sp>
        <p:nvSpPr>
          <p:cNvPr id="53" name="Shape 50"/>
          <p:cNvSpPr/>
          <p:nvPr/>
        </p:nvSpPr>
        <p:spPr>
          <a:xfrm>
            <a:off x="8778240" y="5440680"/>
            <a:ext cx="2606040" cy="548640"/>
          </a:xfrm>
          <a:prstGeom prst="roundRect">
            <a:avLst>
              <a:gd name="adj" fmla="val 10000"/>
            </a:avLst>
          </a:prstGeom>
          <a:solidFill>
            <a:srgbClr val="F7F8FA"/>
          </a:solidFill>
          <a:ln w="9525">
            <a:solidFill>
              <a:srgbClr val="D6D9DE"/>
            </a:solidFill>
            <a:prstDash val="solid"/>
          </a:ln>
        </p:spPr>
      </p:sp>
      <p:sp>
        <p:nvSpPr>
          <p:cNvPr id="54" name="Text 51"/>
          <p:cNvSpPr txBox="1"/>
          <p:nvPr/>
        </p:nvSpPr>
        <p:spPr>
          <a:xfrm>
            <a:off x="8887968" y="5513832"/>
            <a:ext cx="2386584" cy="292608"/>
          </a:xfrm>
          <a:prstGeom prst="rect">
            <a:avLst/>
          </a:prstGeom>
          <a:noFill/>
          <a:ln/>
        </p:spPr>
        <p:txBody>
          <a:bodyPr wrap="square" lIns="0" tIns="0" rIns="0" bIns="0" rtlCol="0" anchor="ctr"/>
          <a:lstStyle/>
          <a:p>
            <a:pPr indent="0" marL="0">
              <a:buNone/>
            </a:pPr>
            <a:r>
              <a:rPr lang="en-US" sz="1150" b="1" dirty="0">
                <a:solidFill>
                  <a:srgbClr val="168A57"/>
                </a:solidFill>
                <a:latin typeface="Arial" pitchFamily="34" charset="0"/>
                <a:ea typeface="Arial" pitchFamily="34" charset="-122"/>
                <a:cs typeface="Arial" pitchFamily="34" charset="-120"/>
              </a:rPr>
              <a:t>Every hop audited</a:t>
            </a:r>
            <a:endParaRPr lang="en-US" sz="1150" dirty="0"/>
          </a:p>
        </p:txBody>
      </p:sp>
      <p:sp>
        <p:nvSpPr>
          <p:cNvPr id="55" name="Text 52"/>
          <p:cNvSpPr txBox="1"/>
          <p:nvPr/>
        </p:nvSpPr>
        <p:spPr>
          <a:xfrm>
            <a:off x="8887968" y="5806440"/>
            <a:ext cx="2386584" cy="128016"/>
          </a:xfrm>
          <a:prstGeom prst="rect">
            <a:avLst/>
          </a:prstGeom>
          <a:noFill/>
          <a:ln/>
        </p:spPr>
        <p:txBody>
          <a:bodyPr wrap="square" lIns="0" tIns="0" rIns="0" bIns="0" rtlCol="0" anchor="t"/>
          <a:lstStyle/>
          <a:p>
            <a:pPr indent="0" marL="0">
              <a:buNone/>
            </a:pPr>
            <a:r>
              <a:rPr lang="en-US" sz="950" dirty="0">
                <a:solidFill>
                  <a:srgbClr val="383D44"/>
                </a:solidFill>
                <a:latin typeface="Calibri" pitchFamily="34" charset="0"/>
                <a:ea typeface="Calibri" pitchFamily="34" charset="-122"/>
                <a:cs typeface="Calibri" pitchFamily="34" charset="-120"/>
              </a:rPr>
              <a:t>one ledger, ML-DSA-65, re-verified on start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F0F3"/>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8A909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8A9099"/>
                </a:solidFill>
                <a:latin typeface="Consolas" pitchFamily="34" charset="0"/>
                <a:ea typeface="Consolas" pitchFamily="34" charset="-122"/>
                <a:cs typeface="Consolas" pitchFamily="34" charset="-120"/>
              </a:rPr>
              <a:t>07</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A8171E"/>
                </a:solidFill>
                <a:latin typeface="Consolas" pitchFamily="34" charset="0"/>
                <a:ea typeface="Consolas" pitchFamily="34" charset="-122"/>
                <a:cs typeface="Consolas" pitchFamily="34" charset="-120"/>
              </a:rPr>
              <a:t>06 // THE ENCLOSURE · OBJECT FABRIC</a:t>
            </a:r>
            <a:endParaRPr lang="en-US" sz="1050" dirty="0"/>
          </a:p>
        </p:txBody>
      </p:sp>
      <p:sp>
        <p:nvSpPr>
          <p:cNvPr id="6" name="Text 3"/>
          <p:cNvSpPr txBox="1"/>
          <p:nvPr/>
        </p:nvSpPr>
        <p:spPr>
          <a:xfrm>
            <a:off x="548640" y="822960"/>
            <a:ext cx="4480560" cy="1188720"/>
          </a:xfrm>
          <a:prstGeom prst="rect">
            <a:avLst/>
          </a:prstGeom>
          <a:noFill/>
          <a:ln/>
        </p:spPr>
        <p:txBody>
          <a:bodyPr wrap="square" lIns="0" tIns="0" rIns="0" bIns="0" rtlCol="0" anchor="t">
            <a:normAutofit/>
          </a:bodyPr>
          <a:lstStyle/>
          <a:p>
            <a:pPr indent="0" marL="0">
              <a:buNone/>
            </a:pPr>
            <a:r>
              <a:rPr lang="en-US" sz="2800" b="1" dirty="0">
                <a:solidFill>
                  <a:srgbClr val="101114"/>
                </a:solidFill>
                <a:latin typeface="Arial" pitchFamily="34" charset="0"/>
                <a:ea typeface="Arial" pitchFamily="34" charset="-122"/>
                <a:cs typeface="Arial" pitchFamily="34" charset="-120"/>
              </a:rPr>
              <a:t>Your organisation, described once</a:t>
            </a:r>
            <a:endParaRPr lang="en-US" sz="2800" dirty="0"/>
          </a:p>
        </p:txBody>
      </p:sp>
      <p:sp>
        <p:nvSpPr>
          <p:cNvPr id="7" name="Shape 4"/>
          <p:cNvSpPr/>
          <p:nvPr/>
        </p:nvSpPr>
        <p:spPr>
          <a:xfrm>
            <a:off x="548640" y="2148840"/>
            <a:ext cx="457200" cy="457200"/>
          </a:xfrm>
          <a:prstGeom prst="ellipse">
            <a:avLst/>
          </a:prstGeom>
          <a:solidFill>
            <a:srgbClr val="E4E6EA"/>
          </a:solidFill>
          <a:ln w="6350">
            <a:solidFill>
              <a:srgbClr val="D6D9DE"/>
            </a:solidFill>
            <a:prstDash val="solid"/>
          </a:ln>
        </p:spPr>
      </p:sp>
      <p:pic>
        <p:nvPicPr>
          <p:cNvPr id="8" name="Image 0" descr="preencoded.png">    </p:cNvPr>
          <p:cNvPicPr>
            <a:picLocks noChangeAspect="1"/>
          </p:cNvPicPr>
          <p:nvPr/>
        </p:nvPicPr>
        <p:blipFill>
          <a:blip r:embed="rId1"/>
          <a:stretch>
            <a:fillRect/>
          </a:stretch>
        </p:blipFill>
        <p:spPr>
          <a:xfrm>
            <a:off x="658368" y="2258568"/>
            <a:ext cx="237744" cy="237744"/>
          </a:xfrm>
          <a:prstGeom prst="rect">
            <a:avLst/>
          </a:prstGeom>
        </p:spPr>
      </p:pic>
      <p:sp>
        <p:nvSpPr>
          <p:cNvPr id="9" name="Text 5"/>
          <p:cNvSpPr txBox="1"/>
          <p:nvPr/>
        </p:nvSpPr>
        <p:spPr>
          <a:xfrm>
            <a:off x="548640" y="2743200"/>
            <a:ext cx="4480560" cy="32918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Objects, properties and links: aircraft, facilities, crew, sensor feeds as real things, not rows in a table.</a:t>
            </a:r>
            <a:endParaRPr lang="en-US" sz="1350" dirty="0"/>
          </a:p>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Markings (clearance band plus compartment) and purposes are enforced per object at query time. What you cannot read never appears.</a:t>
            </a:r>
            <a:endParaRPr lang="en-US" sz="1350" dirty="0"/>
          </a:p>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Actions are typed and policy-authorised, and gated by default: refused without a human-gate token. Tying that token to a named person is still to do.</a:t>
            </a:r>
            <a:endParaRPr lang="en-US" sz="1350" dirty="0"/>
          </a:p>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Every response carries the audit id of the signed ledger entry that authorised it.</a:t>
            </a:r>
            <a:endParaRPr lang="en-US" sz="1350" dirty="0"/>
          </a:p>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Schema comes from an ontology file; data is imported offline and validated against it, all or nothing.</a:t>
            </a:r>
            <a:endParaRPr lang="en-US" sz="1350" dirty="0"/>
          </a:p>
        </p:txBody>
      </p:sp>
      <p:sp>
        <p:nvSpPr>
          <p:cNvPr id="10" name="Shape 6"/>
          <p:cNvSpPr/>
          <p:nvPr/>
        </p:nvSpPr>
        <p:spPr>
          <a:xfrm>
            <a:off x="5340096" y="1479699"/>
            <a:ext cx="6357823" cy="3624282"/>
          </a:xfrm>
          <a:prstGeom prst="roundRect">
            <a:avLst>
              <a:gd name="adj" fmla="val 1514"/>
            </a:avLst>
          </a:prstGeom>
          <a:solidFill>
            <a:srgbClr val="FFFFFF"/>
          </a:solidFill>
          <a:ln w="9525">
            <a:solidFill>
              <a:srgbClr val="BFC4CB"/>
            </a:solidFill>
            <a:prstDash val="solid"/>
          </a:ln>
          <a:effectLst>
            <a:outerShdw sx="100000" sy="100000" kx="0" ky="0" algn="bl" rotWithShape="0" blurRad="228600" dist="76200" dir="5400000">
              <a:srgbClr val="000000">
                <a:alpha val="18000"/>
              </a:srgbClr>
            </a:outerShdw>
          </a:effectLst>
        </p:spPr>
      </p:sp>
      <p:pic>
        <p:nvPicPr>
          <p:cNvPr id="11" name="Image 1" descr="/home/user/midgard-app/docs/launch/pipeline/out-light/screens/06-midgard-humangate-authorised.png">    </p:cNvPr>
          <p:cNvPicPr>
            <a:picLocks noChangeAspect="1"/>
          </p:cNvPicPr>
          <p:nvPr/>
        </p:nvPicPr>
        <p:blipFill>
          <a:blip r:embed="rId2"/>
          <a:stretch>
            <a:fillRect/>
          </a:stretch>
        </p:blipFill>
        <p:spPr>
          <a:xfrm>
            <a:off x="5394960" y="1534563"/>
            <a:ext cx="6248095" cy="3514554"/>
          </a:xfrm>
          <a:prstGeom prst="rect">
            <a:avLst/>
          </a:prstGeom>
        </p:spPr>
      </p:pic>
      <p:sp>
        <p:nvSpPr>
          <p:cNvPr id="12" name="Text 7"/>
          <p:cNvSpPr txBox="1"/>
          <p:nvPr/>
        </p:nvSpPr>
        <p:spPr>
          <a:xfrm>
            <a:off x="5394960" y="5806440"/>
            <a:ext cx="6248095" cy="274320"/>
          </a:xfrm>
          <a:prstGeom prst="rect">
            <a:avLst/>
          </a:prstGeom>
          <a:noFill/>
          <a:ln/>
        </p:spPr>
        <p:txBody>
          <a:bodyPr wrap="square" lIns="0" tIns="0" rIns="0" bIns="0" rtlCol="0" anchor="ctr"/>
          <a:lstStyle/>
          <a:p>
            <a:pPr indent="0" marL="0">
              <a:buNone/>
            </a:pPr>
            <a:r>
              <a:rPr lang="en-US" sz="850" spc="150" kern="0" dirty="0">
                <a:solidFill>
                  <a:srgbClr val="8A9099"/>
                </a:solidFill>
                <a:latin typeface="Consolas" pitchFamily="34" charset="0"/>
                <a:ea typeface="Consolas" pitchFamily="34" charset="-122"/>
                <a:cs typeface="Consolas" pitchFamily="34" charset="-120"/>
              </a:rPr>
              <a:t>MIDGARD CONSOLE · HUMAN-GATED ACTION AUTHORISED AGAINST THE REAL EDGE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F0F3"/>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8A909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8A9099"/>
                </a:solidFill>
                <a:latin typeface="Consolas" pitchFamily="34" charset="0"/>
                <a:ea typeface="Consolas" pitchFamily="34" charset="-122"/>
                <a:cs typeface="Consolas" pitchFamily="34" charset="-120"/>
              </a:rPr>
              <a:t>08</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A8171E"/>
                </a:solidFill>
                <a:latin typeface="Consolas" pitchFamily="34" charset="0"/>
                <a:ea typeface="Consolas" pitchFamily="34" charset="-122"/>
                <a:cs typeface="Consolas" pitchFamily="34" charset="-120"/>
              </a:rPr>
              <a:t>07 // THE ENCLOSURE · GOVERNANCE</a:t>
            </a:r>
            <a:endParaRPr lang="en-US" sz="1050" dirty="0"/>
          </a:p>
        </p:txBody>
      </p:sp>
      <p:sp>
        <p:nvSpPr>
          <p:cNvPr id="6" name="Text 3"/>
          <p:cNvSpPr txBox="1"/>
          <p:nvPr/>
        </p:nvSpPr>
        <p:spPr>
          <a:xfrm>
            <a:off x="548640" y="822960"/>
            <a:ext cx="4480560" cy="914400"/>
          </a:xfrm>
          <a:prstGeom prst="rect">
            <a:avLst/>
          </a:prstGeom>
          <a:noFill/>
          <a:ln/>
        </p:spPr>
        <p:txBody>
          <a:bodyPr wrap="square" lIns="0" tIns="0" rIns="0" bIns="0" rtlCol="0" anchor="t">
            <a:normAutofit/>
          </a:bodyPr>
          <a:lstStyle/>
          <a:p>
            <a:pPr indent="0" marL="0">
              <a:buNone/>
            </a:pPr>
            <a:r>
              <a:rPr lang="en-US" sz="2800" b="1" dirty="0">
                <a:solidFill>
                  <a:srgbClr val="101114"/>
                </a:solidFill>
                <a:latin typeface="Arial" pitchFamily="34" charset="0"/>
                <a:ea typeface="Arial" pitchFamily="34" charset="-122"/>
                <a:cs typeface="Arial" pitchFamily="34" charset="-120"/>
              </a:rPr>
              <a:t>Access is proven, not assumed</a:t>
            </a:r>
            <a:endParaRPr lang="en-US" sz="2800" dirty="0"/>
          </a:p>
        </p:txBody>
      </p:sp>
      <p:sp>
        <p:nvSpPr>
          <p:cNvPr id="7" name="Shape 4"/>
          <p:cNvSpPr/>
          <p:nvPr/>
        </p:nvSpPr>
        <p:spPr>
          <a:xfrm>
            <a:off x="548640" y="1828800"/>
            <a:ext cx="457200" cy="457200"/>
          </a:xfrm>
          <a:prstGeom prst="ellipse">
            <a:avLst/>
          </a:prstGeom>
          <a:solidFill>
            <a:srgbClr val="E4E6EA"/>
          </a:solidFill>
          <a:ln w="6350">
            <a:solidFill>
              <a:srgbClr val="D6D9DE"/>
            </a:solidFill>
            <a:prstDash val="solid"/>
          </a:ln>
        </p:spPr>
      </p:sp>
      <p:pic>
        <p:nvPicPr>
          <p:cNvPr id="8" name="Image 0" descr="preencoded.png">    </p:cNvPr>
          <p:cNvPicPr>
            <a:picLocks noChangeAspect="1"/>
          </p:cNvPicPr>
          <p:nvPr/>
        </p:nvPicPr>
        <p:blipFill>
          <a:blip r:embed="rId1"/>
          <a:stretch>
            <a:fillRect/>
          </a:stretch>
        </p:blipFill>
        <p:spPr>
          <a:xfrm>
            <a:off x="658368" y="1938528"/>
            <a:ext cx="237744" cy="237744"/>
          </a:xfrm>
          <a:prstGeom prst="rect">
            <a:avLst/>
          </a:prstGeom>
        </p:spPr>
      </p:pic>
      <p:sp>
        <p:nvSpPr>
          <p:cNvPr id="9" name="Text 5"/>
          <p:cNvSpPr txBox="1"/>
          <p:nvPr/>
        </p:nvSpPr>
        <p:spPr>
          <a:xfrm>
            <a:off x="548640" y="2423160"/>
            <a:ext cx="4480560" cy="347472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Deny by default. Role, marking and purpose must all match a written rule; mandatory access control runs first.</a:t>
            </a:r>
            <a:endParaRPr lang="en-US" sz="1350" dirty="0"/>
          </a:p>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Dry-run any decision before it goes live. The decision is ML-DSA-signed and audited like everything else.</a:t>
            </a:r>
            <a:endParaRPr lang="en-US" sz="1350" dirty="0"/>
          </a:p>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One append-only ledger for reads, writes and actions at the edge, re-verified on every start.</a:t>
            </a:r>
            <a:endParaRPr lang="en-US" sz="1350" dirty="0"/>
          </a:p>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Fail closed. A tampered ledger, keystore or policy file stops the service from starting.</a:t>
            </a:r>
            <a:endParaRPr lang="en-US" sz="1350" dirty="0"/>
          </a:p>
        </p:txBody>
      </p:sp>
      <p:sp>
        <p:nvSpPr>
          <p:cNvPr id="10" name="Shape 6"/>
          <p:cNvSpPr/>
          <p:nvPr/>
        </p:nvSpPr>
        <p:spPr>
          <a:xfrm>
            <a:off x="6101791" y="825246"/>
            <a:ext cx="5596128" cy="3195828"/>
          </a:xfrm>
          <a:prstGeom prst="roundRect">
            <a:avLst>
              <a:gd name="adj" fmla="val 1717"/>
            </a:avLst>
          </a:prstGeom>
          <a:solidFill>
            <a:srgbClr val="FFFFFF"/>
          </a:solidFill>
          <a:ln w="9525">
            <a:solidFill>
              <a:srgbClr val="BFC4CB"/>
            </a:solidFill>
            <a:prstDash val="solid"/>
          </a:ln>
          <a:effectLst>
            <a:outerShdw sx="100000" sy="100000" kx="0" ky="0" algn="bl" rotWithShape="0" blurRad="228600" dist="76200" dir="5400000">
              <a:srgbClr val="000000">
                <a:alpha val="18000"/>
              </a:srgbClr>
            </a:outerShdw>
          </a:effectLst>
        </p:spPr>
      </p:sp>
      <p:pic>
        <p:nvPicPr>
          <p:cNvPr id="11" name="Image 1" descr="/home/user/midgard-app/docs/launch/pipeline/out-light/screens/08-midgard-policy-dryrun.png">    </p:cNvPr>
          <p:cNvPicPr>
            <a:picLocks noChangeAspect="1"/>
          </p:cNvPicPr>
          <p:nvPr/>
        </p:nvPicPr>
        <p:blipFill>
          <a:blip r:embed="rId2"/>
          <a:stretch>
            <a:fillRect/>
          </a:stretch>
        </p:blipFill>
        <p:spPr>
          <a:xfrm>
            <a:off x="6156655" y="880110"/>
            <a:ext cx="5486400" cy="3086100"/>
          </a:xfrm>
          <a:prstGeom prst="rect">
            <a:avLst/>
          </a:prstGeom>
        </p:spPr>
      </p:pic>
      <p:sp>
        <p:nvSpPr>
          <p:cNvPr id="12" name="Shape 7"/>
          <p:cNvSpPr/>
          <p:nvPr/>
        </p:nvSpPr>
        <p:spPr>
          <a:xfrm>
            <a:off x="6101791" y="4113657"/>
            <a:ext cx="5596128" cy="1899666"/>
          </a:xfrm>
          <a:prstGeom prst="roundRect">
            <a:avLst>
              <a:gd name="adj" fmla="val 2888"/>
            </a:avLst>
          </a:prstGeom>
          <a:solidFill>
            <a:srgbClr val="FFFFFF"/>
          </a:solidFill>
          <a:ln w="9525">
            <a:solidFill>
              <a:srgbClr val="BFC4CB"/>
            </a:solidFill>
            <a:prstDash val="solid"/>
          </a:ln>
          <a:effectLst>
            <a:outerShdw sx="100000" sy="100000" kx="0" ky="0" algn="bl" rotWithShape="0" blurRad="228600" dist="76200" dir="5400000">
              <a:srgbClr val="000000">
                <a:alpha val="18000"/>
              </a:srgbClr>
            </a:outerShdw>
          </a:effectLst>
        </p:spPr>
      </p:sp>
      <p:pic>
        <p:nvPicPr>
          <p:cNvPr id="13" name="Image 2" descr="/home/user/midgard-app/docs/launch/pipeline/out-light/crop-09-midgard-audit.png">    </p:cNvPr>
          <p:cNvPicPr>
            <a:picLocks noChangeAspect="1"/>
          </p:cNvPicPr>
          <p:nvPr/>
        </p:nvPicPr>
        <p:blipFill>
          <a:blip r:embed="rId3"/>
          <a:stretch>
            <a:fillRect/>
          </a:stretch>
        </p:blipFill>
        <p:spPr>
          <a:xfrm>
            <a:off x="6156655" y="4168521"/>
            <a:ext cx="5486400" cy="1789938"/>
          </a:xfrm>
          <a:prstGeom prst="rect">
            <a:avLst/>
          </a:prstGeom>
        </p:spPr>
      </p:pic>
      <p:sp>
        <p:nvSpPr>
          <p:cNvPr id="14" name="Text 8"/>
          <p:cNvSpPr txBox="1"/>
          <p:nvPr/>
        </p:nvSpPr>
        <p:spPr>
          <a:xfrm>
            <a:off x="6156655" y="6068187"/>
            <a:ext cx="5486400" cy="228600"/>
          </a:xfrm>
          <a:prstGeom prst="rect">
            <a:avLst/>
          </a:prstGeom>
          <a:noFill/>
          <a:ln/>
        </p:spPr>
        <p:txBody>
          <a:bodyPr wrap="square" lIns="0" tIns="0" rIns="0" bIns="0" rtlCol="0" anchor="ctr"/>
          <a:lstStyle/>
          <a:p>
            <a:pPr indent="0" marL="0">
              <a:buNone/>
            </a:pPr>
            <a:r>
              <a:rPr lang="en-US" sz="800" spc="150" kern="0" dirty="0">
                <a:solidFill>
                  <a:srgbClr val="8A9099"/>
                </a:solidFill>
                <a:latin typeface="Consolas" pitchFamily="34" charset="0"/>
                <a:ea typeface="Consolas" pitchFamily="34" charset="-122"/>
                <a:cs typeface="Consolas" pitchFamily="34" charset="-120"/>
              </a:rPr>
              <a:t>POLICY DRY-RUN AND AUDIT LINEAGE · EVERY ENTRY RE-VERIFIED · ML-DSA-65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F0F3"/>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8A909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8A9099"/>
                </a:solidFill>
                <a:latin typeface="Consolas" pitchFamily="34" charset="0"/>
                <a:ea typeface="Consolas" pitchFamily="34" charset="-122"/>
                <a:cs typeface="Consolas" pitchFamily="34" charset="-120"/>
              </a:rPr>
              <a:t>09</a:t>
            </a:r>
            <a:endParaRPr lang="en-US" sz="800" dirty="0"/>
          </a:p>
        </p:txBody>
      </p:sp>
      <p:sp>
        <p:nvSpPr>
          <p:cNvPr id="5" name="Text 2"/>
          <p:cNvSpPr txBox="1"/>
          <p:nvPr/>
        </p:nvSpPr>
        <p:spPr>
          <a:xfrm>
            <a:off x="7162495" y="502920"/>
            <a:ext cx="7315200" cy="256032"/>
          </a:xfrm>
          <a:prstGeom prst="rect">
            <a:avLst/>
          </a:prstGeom>
          <a:noFill/>
          <a:ln/>
        </p:spPr>
        <p:txBody>
          <a:bodyPr wrap="square" lIns="0" tIns="0" rIns="0" bIns="0" rtlCol="0" anchor="ctr"/>
          <a:lstStyle/>
          <a:p>
            <a:pPr indent="0" marL="0">
              <a:buNone/>
            </a:pPr>
            <a:r>
              <a:rPr lang="en-US" sz="1050" spc="250" kern="0" dirty="0">
                <a:solidFill>
                  <a:srgbClr val="B25715"/>
                </a:solidFill>
                <a:latin typeface="Consolas" pitchFamily="34" charset="0"/>
                <a:ea typeface="Consolas" pitchFamily="34" charset="-122"/>
                <a:cs typeface="Consolas" pitchFamily="34" charset="-120"/>
              </a:rPr>
              <a:t>08 // FORGE · DATA OPERATIONS</a:t>
            </a:r>
            <a:endParaRPr lang="en-US" sz="1050" dirty="0"/>
          </a:p>
        </p:txBody>
      </p:sp>
      <p:sp>
        <p:nvSpPr>
          <p:cNvPr id="6" name="Text 3"/>
          <p:cNvSpPr txBox="1"/>
          <p:nvPr/>
        </p:nvSpPr>
        <p:spPr>
          <a:xfrm>
            <a:off x="7162495" y="822960"/>
            <a:ext cx="4480560" cy="1188720"/>
          </a:xfrm>
          <a:prstGeom prst="rect">
            <a:avLst/>
          </a:prstGeom>
          <a:noFill/>
          <a:ln/>
        </p:spPr>
        <p:txBody>
          <a:bodyPr wrap="square" lIns="0" tIns="0" rIns="0" bIns="0" rtlCol="0" anchor="t">
            <a:normAutofit/>
          </a:bodyPr>
          <a:lstStyle/>
          <a:p>
            <a:pPr indent="0" marL="0">
              <a:buNone/>
            </a:pPr>
            <a:r>
              <a:rPr lang="en-US" sz="2800" b="1" dirty="0">
                <a:solidFill>
                  <a:srgbClr val="101114"/>
                </a:solidFill>
                <a:latin typeface="Arial" pitchFamily="34" charset="0"/>
                <a:ea typeface="Arial" pitchFamily="34" charset="-122"/>
                <a:cs typeface="Arial" pitchFamily="34" charset="-120"/>
              </a:rPr>
              <a:t>Getting data in, without losing track of it</a:t>
            </a:r>
            <a:endParaRPr lang="en-US" sz="2800" dirty="0"/>
          </a:p>
        </p:txBody>
      </p:sp>
      <p:sp>
        <p:nvSpPr>
          <p:cNvPr id="7" name="Shape 4"/>
          <p:cNvSpPr/>
          <p:nvPr/>
        </p:nvSpPr>
        <p:spPr>
          <a:xfrm>
            <a:off x="7162495" y="2148840"/>
            <a:ext cx="457200" cy="457200"/>
          </a:xfrm>
          <a:prstGeom prst="ellipse">
            <a:avLst/>
          </a:prstGeom>
          <a:solidFill>
            <a:srgbClr val="E4E6EA"/>
          </a:solidFill>
          <a:ln w="6350">
            <a:solidFill>
              <a:srgbClr val="D6D9DE"/>
            </a:solidFill>
            <a:prstDash val="solid"/>
          </a:ln>
        </p:spPr>
      </p:sp>
      <p:pic>
        <p:nvPicPr>
          <p:cNvPr id="8" name="Image 0" descr="preencoded.png">    </p:cNvPr>
          <p:cNvPicPr>
            <a:picLocks noChangeAspect="1"/>
          </p:cNvPicPr>
          <p:nvPr/>
        </p:nvPicPr>
        <p:blipFill>
          <a:blip r:embed="rId1"/>
          <a:stretch>
            <a:fillRect/>
          </a:stretch>
        </p:blipFill>
        <p:spPr>
          <a:xfrm>
            <a:off x="7272223" y="2258568"/>
            <a:ext cx="237744" cy="237744"/>
          </a:xfrm>
          <a:prstGeom prst="rect">
            <a:avLst/>
          </a:prstGeom>
        </p:spPr>
      </p:pic>
      <p:sp>
        <p:nvSpPr>
          <p:cNvPr id="9" name="Text 5"/>
          <p:cNvSpPr txBox="1"/>
          <p:nvPr/>
        </p:nvSpPr>
        <p:spPr>
          <a:xfrm>
            <a:off x="7162495" y="2743200"/>
            <a:ext cx="4480560" cy="32918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Connectors for PostgreSQL, S3 and Kafka, syncing incrementally from checkpoints inside an air-gapped sandbox.</a:t>
            </a:r>
            <a:endParaRPr lang="en-US" sz="1350" dirty="0"/>
          </a:p>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Sources outside the enclosure are reached only through the egress broker: TLS 1.3, one pinned CA per route.</a:t>
            </a:r>
            <a:endParaRPr lang="en-US" sz="1350" dirty="0"/>
          </a:p>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Datasets are content-addressed and versioned with ingest lineage; an unchanged source is the same version.</a:t>
            </a:r>
            <a:endParaRPr lang="en-US" sz="1350" dirty="0"/>
          </a:p>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Expectation checks that block promotion are a tested library; the running worker does not apply them yet.</a:t>
            </a:r>
            <a:endParaRPr lang="en-US" sz="1350" dirty="0"/>
          </a:p>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A pure-Rust partitioned compute engine: join, aggregate, sort and window, with spill to disk.</a:t>
            </a:r>
            <a:endParaRPr lang="en-US" sz="1350" dirty="0"/>
          </a:p>
        </p:txBody>
      </p:sp>
      <p:sp>
        <p:nvSpPr>
          <p:cNvPr id="10" name="Shape 6"/>
          <p:cNvSpPr/>
          <p:nvPr/>
        </p:nvSpPr>
        <p:spPr>
          <a:xfrm>
            <a:off x="493776" y="1479699"/>
            <a:ext cx="6357823" cy="3624282"/>
          </a:xfrm>
          <a:prstGeom prst="roundRect">
            <a:avLst>
              <a:gd name="adj" fmla="val 1514"/>
            </a:avLst>
          </a:prstGeom>
          <a:solidFill>
            <a:srgbClr val="FFFFFF"/>
          </a:solidFill>
          <a:ln w="9525">
            <a:solidFill>
              <a:srgbClr val="BFC4CB"/>
            </a:solidFill>
            <a:prstDash val="solid"/>
          </a:ln>
          <a:effectLst>
            <a:outerShdw sx="100000" sy="100000" kx="0" ky="0" algn="bl" rotWithShape="0" blurRad="228600" dist="76200" dir="5400000">
              <a:srgbClr val="000000">
                <a:alpha val="18000"/>
              </a:srgbClr>
            </a:outerShdw>
          </a:effectLst>
        </p:spPr>
      </p:sp>
      <p:pic>
        <p:nvPicPr>
          <p:cNvPr id="11" name="Image 1" descr="/home/user/midgard-app/docs/launch/pipeline/out-light/screens/12-forge-pipeline.png">    </p:cNvPr>
          <p:cNvPicPr>
            <a:picLocks noChangeAspect="1"/>
          </p:cNvPicPr>
          <p:nvPr/>
        </p:nvPicPr>
        <p:blipFill>
          <a:blip r:embed="rId2"/>
          <a:stretch>
            <a:fillRect/>
          </a:stretch>
        </p:blipFill>
        <p:spPr>
          <a:xfrm>
            <a:off x="548640" y="1534563"/>
            <a:ext cx="6248095" cy="3514554"/>
          </a:xfrm>
          <a:prstGeom prst="rect">
            <a:avLst/>
          </a:prstGeom>
        </p:spPr>
      </p:pic>
      <p:sp>
        <p:nvSpPr>
          <p:cNvPr id="12" name="Text 7"/>
          <p:cNvSpPr txBox="1"/>
          <p:nvPr/>
        </p:nvSpPr>
        <p:spPr>
          <a:xfrm>
            <a:off x="548640" y="5806440"/>
            <a:ext cx="6248095" cy="274320"/>
          </a:xfrm>
          <a:prstGeom prst="rect">
            <a:avLst/>
          </a:prstGeom>
          <a:noFill/>
          <a:ln/>
        </p:spPr>
        <p:txBody>
          <a:bodyPr wrap="square" lIns="0" tIns="0" rIns="0" bIns="0" rtlCol="0" anchor="ctr"/>
          <a:lstStyle/>
          <a:p>
            <a:pPr indent="0" marL="0">
              <a:buNone/>
            </a:pPr>
            <a:r>
              <a:rPr lang="en-US" sz="850" spc="150" kern="0" dirty="0">
                <a:solidFill>
                  <a:srgbClr val="8A9099"/>
                </a:solidFill>
                <a:latin typeface="Consolas" pitchFamily="34" charset="0"/>
                <a:ea typeface="Consolas" pitchFamily="34" charset="-122"/>
                <a:cs typeface="Consolas" pitchFamily="34" charset="-120"/>
              </a:rPr>
              <a:t>FORGE CONSOLE · PIPELINE BUILDER · BUILT-IN SAMPLE DATA</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FF0F3"/>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8A909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8A9099"/>
                </a:solidFill>
                <a:latin typeface="Consolas" pitchFamily="34" charset="0"/>
                <a:ea typeface="Consolas" pitchFamily="34" charset="-122"/>
                <a:cs typeface="Consolas" pitchFamily="34" charset="-120"/>
              </a:rPr>
              <a:t>10</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17828E"/>
                </a:solidFill>
                <a:latin typeface="Consolas" pitchFamily="34" charset="0"/>
                <a:ea typeface="Consolas" pitchFamily="34" charset="-122"/>
                <a:cs typeface="Consolas" pitchFamily="34" charset="-120"/>
              </a:rPr>
              <a:t>09 // MIMIR · LOCAL AGENTIC AI</a:t>
            </a:r>
            <a:endParaRPr lang="en-US" sz="1050" dirty="0"/>
          </a:p>
        </p:txBody>
      </p:sp>
      <p:sp>
        <p:nvSpPr>
          <p:cNvPr id="6" name="Text 3"/>
          <p:cNvSpPr txBox="1"/>
          <p:nvPr/>
        </p:nvSpPr>
        <p:spPr>
          <a:xfrm>
            <a:off x="548640" y="822960"/>
            <a:ext cx="4480560" cy="1188720"/>
          </a:xfrm>
          <a:prstGeom prst="rect">
            <a:avLst/>
          </a:prstGeom>
          <a:noFill/>
          <a:ln/>
        </p:spPr>
        <p:txBody>
          <a:bodyPr wrap="square" lIns="0" tIns="0" rIns="0" bIns="0" rtlCol="0" anchor="t">
            <a:normAutofit/>
          </a:bodyPr>
          <a:lstStyle/>
          <a:p>
            <a:pPr indent="0" marL="0">
              <a:buNone/>
            </a:pPr>
            <a:r>
              <a:rPr lang="en-US" sz="2800" b="1" dirty="0">
                <a:solidFill>
                  <a:srgbClr val="101114"/>
                </a:solidFill>
                <a:latin typeface="Arial" pitchFamily="34" charset="0"/>
                <a:ea typeface="Arial" pitchFamily="34" charset="-122"/>
                <a:cs typeface="Arial" pitchFamily="34" charset="-120"/>
              </a:rPr>
              <a:t>AI that never phones home</a:t>
            </a:r>
            <a:endParaRPr lang="en-US" sz="2800" dirty="0"/>
          </a:p>
        </p:txBody>
      </p:sp>
      <p:sp>
        <p:nvSpPr>
          <p:cNvPr id="7" name="Shape 4"/>
          <p:cNvSpPr/>
          <p:nvPr/>
        </p:nvSpPr>
        <p:spPr>
          <a:xfrm>
            <a:off x="548640" y="2148840"/>
            <a:ext cx="457200" cy="457200"/>
          </a:xfrm>
          <a:prstGeom prst="ellipse">
            <a:avLst/>
          </a:prstGeom>
          <a:solidFill>
            <a:srgbClr val="E4E6EA"/>
          </a:solidFill>
          <a:ln w="6350">
            <a:solidFill>
              <a:srgbClr val="D6D9DE"/>
            </a:solidFill>
            <a:prstDash val="solid"/>
          </a:ln>
        </p:spPr>
      </p:sp>
      <p:pic>
        <p:nvPicPr>
          <p:cNvPr id="8" name="Image 0" descr="preencoded.png">    </p:cNvPr>
          <p:cNvPicPr>
            <a:picLocks noChangeAspect="1"/>
          </p:cNvPicPr>
          <p:nvPr/>
        </p:nvPicPr>
        <p:blipFill>
          <a:blip r:embed="rId1"/>
          <a:stretch>
            <a:fillRect/>
          </a:stretch>
        </p:blipFill>
        <p:spPr>
          <a:xfrm>
            <a:off x="658368" y="2258568"/>
            <a:ext cx="237744" cy="237744"/>
          </a:xfrm>
          <a:prstGeom prst="rect">
            <a:avLst/>
          </a:prstGeom>
        </p:spPr>
      </p:pic>
      <p:sp>
        <p:nvSpPr>
          <p:cNvPr id="9" name="Text 5"/>
          <p:cNvSpPr txBox="1"/>
          <p:nvPr/>
        </p:nvSpPr>
        <p:spPr>
          <a:xfrm>
            <a:off x="548640" y="2743200"/>
            <a:ext cx="4480560" cy="32918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All inference runs in-enclosure over PQ-mTLS. Every product calls Mimir; nothing calls a hosted model.</a:t>
            </a:r>
            <a:endParaRPr lang="en-US" sz="1350" dirty="0"/>
          </a:p>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A model loads only from a signed manifest whose weights stream to the signed digest. One changed byte and the service refuses to start.</a:t>
            </a:r>
            <a:endParaRPr lang="en-US" sz="1350" dirty="0"/>
          </a:p>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Granite 3.3 2B Instruct (Apache-2.0) served on llama.cpp today: first token in 325 ms on a 12-core CPU. vLLM on GPU is wired, not yet run.</a:t>
            </a:r>
            <a:endParaRPr lang="en-US" sz="1350" dirty="0"/>
          </a:p>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Grounded, cited answers and input guardrails are tested libraries. The running service answers a prompt without retrieval.</a:t>
            </a:r>
            <a:endParaRPr lang="en-US" sz="1350" dirty="0"/>
          </a:p>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AI proposes, humans dispose: in the agent loop, a tested library, no consequential action runs without a recorded human decision.</a:t>
            </a:r>
            <a:endParaRPr lang="en-US" sz="1350" dirty="0"/>
          </a:p>
        </p:txBody>
      </p:sp>
      <p:sp>
        <p:nvSpPr>
          <p:cNvPr id="10" name="Shape 6"/>
          <p:cNvSpPr/>
          <p:nvPr/>
        </p:nvSpPr>
        <p:spPr>
          <a:xfrm>
            <a:off x="5340096" y="1479699"/>
            <a:ext cx="6357823" cy="3624282"/>
          </a:xfrm>
          <a:prstGeom prst="roundRect">
            <a:avLst>
              <a:gd name="adj" fmla="val 1514"/>
            </a:avLst>
          </a:prstGeom>
          <a:solidFill>
            <a:srgbClr val="FFFFFF"/>
          </a:solidFill>
          <a:ln w="9525">
            <a:solidFill>
              <a:srgbClr val="BFC4CB"/>
            </a:solidFill>
            <a:prstDash val="solid"/>
          </a:ln>
          <a:effectLst>
            <a:outerShdw sx="100000" sy="100000" kx="0" ky="0" algn="bl" rotWithShape="0" blurRad="228600" dist="76200" dir="5400000">
              <a:srgbClr val="000000">
                <a:alpha val="18000"/>
              </a:srgbClr>
            </a:outerShdw>
          </a:effectLst>
        </p:spPr>
      </p:sp>
      <p:pic>
        <p:nvPicPr>
          <p:cNvPr id="11" name="Image 1" descr="/home/user/midgard-app/docs/launch/pipeline/out-light/screens/14-mimir-studio.png">    </p:cNvPr>
          <p:cNvPicPr>
            <a:picLocks noChangeAspect="1"/>
          </p:cNvPicPr>
          <p:nvPr/>
        </p:nvPicPr>
        <p:blipFill>
          <a:blip r:embed="rId2"/>
          <a:stretch>
            <a:fillRect/>
          </a:stretch>
        </p:blipFill>
        <p:spPr>
          <a:xfrm>
            <a:off x="5394960" y="1534563"/>
            <a:ext cx="6248095" cy="3514554"/>
          </a:xfrm>
          <a:prstGeom prst="rect">
            <a:avLst/>
          </a:prstGeom>
        </p:spPr>
      </p:pic>
      <p:sp>
        <p:nvSpPr>
          <p:cNvPr id="12" name="Text 7"/>
          <p:cNvSpPr txBox="1"/>
          <p:nvPr/>
        </p:nvSpPr>
        <p:spPr>
          <a:xfrm>
            <a:off x="5394960" y="5806440"/>
            <a:ext cx="6248095" cy="274320"/>
          </a:xfrm>
          <a:prstGeom prst="rect">
            <a:avLst/>
          </a:prstGeom>
          <a:noFill/>
          <a:ln/>
        </p:spPr>
        <p:txBody>
          <a:bodyPr wrap="square" lIns="0" tIns="0" rIns="0" bIns="0" rtlCol="0" anchor="ctr"/>
          <a:lstStyle/>
          <a:p>
            <a:pPr indent="0" marL="0">
              <a:buNone/>
            </a:pPr>
            <a:r>
              <a:rPr lang="en-US" sz="850" spc="150" kern="0" dirty="0">
                <a:solidFill>
                  <a:srgbClr val="8A9099"/>
                </a:solidFill>
                <a:latin typeface="Consolas" pitchFamily="34" charset="0"/>
                <a:ea typeface="Consolas" pitchFamily="34" charset="-122"/>
                <a:cs typeface="Consolas" pitchFamily="34" charset="-120"/>
              </a:rPr>
              <a:t>MIMIR CONSOLE · AGENT STUDIO · BUILT-IN SAMPLE DATA</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F0F3"/>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8A909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8A9099"/>
                </a:solidFill>
                <a:latin typeface="Consolas" pitchFamily="34" charset="0"/>
                <a:ea typeface="Consolas" pitchFamily="34" charset="-122"/>
                <a:cs typeface="Consolas" pitchFamily="34" charset="-120"/>
              </a:rPr>
              <a:t>11</a:t>
            </a:r>
            <a:endParaRPr lang="en-US" sz="800" dirty="0"/>
          </a:p>
        </p:txBody>
      </p:sp>
      <p:sp>
        <p:nvSpPr>
          <p:cNvPr id="5" name="Text 2"/>
          <p:cNvSpPr txBox="1"/>
          <p:nvPr/>
        </p:nvSpPr>
        <p:spPr>
          <a:xfrm>
            <a:off x="7162495" y="502920"/>
            <a:ext cx="7315200" cy="256032"/>
          </a:xfrm>
          <a:prstGeom prst="rect">
            <a:avLst/>
          </a:prstGeom>
          <a:noFill/>
          <a:ln/>
        </p:spPr>
        <p:txBody>
          <a:bodyPr wrap="square" lIns="0" tIns="0" rIns="0" bIns="0" rtlCol="0" anchor="ctr"/>
          <a:lstStyle/>
          <a:p>
            <a:pPr indent="0" marL="0">
              <a:buNone/>
            </a:pPr>
            <a:r>
              <a:rPr lang="en-US" sz="1050" spc="250" kern="0" dirty="0">
                <a:solidFill>
                  <a:srgbClr val="A17A17"/>
                </a:solidFill>
                <a:latin typeface="Consolas" pitchFamily="34" charset="0"/>
                <a:ea typeface="Consolas" pitchFamily="34" charset="-122"/>
                <a:cs typeface="Consolas" pitchFamily="34" charset="-120"/>
              </a:rPr>
              <a:t>10 // HEIMDALL · OPERATIONAL FUSION</a:t>
            </a:r>
            <a:endParaRPr lang="en-US" sz="1050" dirty="0"/>
          </a:p>
        </p:txBody>
      </p:sp>
      <p:sp>
        <p:nvSpPr>
          <p:cNvPr id="6" name="Text 3"/>
          <p:cNvSpPr txBox="1"/>
          <p:nvPr/>
        </p:nvSpPr>
        <p:spPr>
          <a:xfrm>
            <a:off x="7162495" y="822960"/>
            <a:ext cx="4480560" cy="1188720"/>
          </a:xfrm>
          <a:prstGeom prst="rect">
            <a:avLst/>
          </a:prstGeom>
          <a:noFill/>
          <a:ln/>
        </p:spPr>
        <p:txBody>
          <a:bodyPr wrap="square" lIns="0" tIns="0" rIns="0" bIns="0" rtlCol="0" anchor="t">
            <a:normAutofit/>
          </a:bodyPr>
          <a:lstStyle/>
          <a:p>
            <a:pPr indent="0" marL="0">
              <a:buNone/>
            </a:pPr>
            <a:r>
              <a:rPr lang="en-US" sz="2800" b="1" dirty="0">
                <a:solidFill>
                  <a:srgbClr val="101114"/>
                </a:solidFill>
                <a:latin typeface="Arial" pitchFamily="34" charset="0"/>
                <a:ea typeface="Arial" pitchFamily="34" charset="-122"/>
                <a:cs typeface="Arial" pitchFamily="34" charset="-120"/>
              </a:rPr>
              <a:t>Many feeds, one picture everyone shares</a:t>
            </a:r>
            <a:endParaRPr lang="en-US" sz="2800" dirty="0"/>
          </a:p>
        </p:txBody>
      </p:sp>
      <p:sp>
        <p:nvSpPr>
          <p:cNvPr id="7" name="Shape 4"/>
          <p:cNvSpPr/>
          <p:nvPr/>
        </p:nvSpPr>
        <p:spPr>
          <a:xfrm>
            <a:off x="7162495" y="2148840"/>
            <a:ext cx="457200" cy="457200"/>
          </a:xfrm>
          <a:prstGeom prst="ellipse">
            <a:avLst/>
          </a:prstGeom>
          <a:solidFill>
            <a:srgbClr val="E4E6EA"/>
          </a:solidFill>
          <a:ln w="6350">
            <a:solidFill>
              <a:srgbClr val="D6D9DE"/>
            </a:solidFill>
            <a:prstDash val="solid"/>
          </a:ln>
        </p:spPr>
      </p:sp>
      <p:pic>
        <p:nvPicPr>
          <p:cNvPr id="8" name="Image 0" descr="preencoded.png">    </p:cNvPr>
          <p:cNvPicPr>
            <a:picLocks noChangeAspect="1"/>
          </p:cNvPicPr>
          <p:nvPr/>
        </p:nvPicPr>
        <p:blipFill>
          <a:blip r:embed="rId1"/>
          <a:stretch>
            <a:fillRect/>
          </a:stretch>
        </p:blipFill>
        <p:spPr>
          <a:xfrm>
            <a:off x="7272223" y="2258568"/>
            <a:ext cx="237744" cy="237744"/>
          </a:xfrm>
          <a:prstGeom prst="rect">
            <a:avLst/>
          </a:prstGeom>
        </p:spPr>
      </p:pic>
      <p:sp>
        <p:nvSpPr>
          <p:cNvPr id="9" name="Text 5"/>
          <p:cNvSpPr txBox="1"/>
          <p:nvPr/>
        </p:nvSpPr>
        <p:spPr>
          <a:xfrm>
            <a:off x="7162495" y="2743200"/>
            <a:ext cx="4480560" cy="32918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Sources submit observations signed with their certified mesh key; an observation is fused only if policy, feed identity, signature and audit all pass.</a:t>
            </a:r>
            <a:endParaRPr lang="en-US" sz="1350" dirty="0"/>
          </a:p>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Observations sharing an entity key fuse into one tracked entity with contributing feeds, first and last seen, and latest attributes.</a:t>
            </a:r>
            <a:endParaRPr lang="en-US" sz="1350" dirty="0"/>
          </a:p>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The picture is sealed at rest after each change and recovered on restart; analysts read it as JSON or in the console.</a:t>
            </a:r>
            <a:endParaRPr lang="en-US" sz="1350" dirty="0"/>
          </a:p>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Ranked, cited options and human-authorised workflows are tested libraries. The running service does not generate options yet.</a:t>
            </a:r>
            <a:endParaRPr lang="en-US" sz="1350" dirty="0"/>
          </a:p>
        </p:txBody>
      </p:sp>
      <p:sp>
        <p:nvSpPr>
          <p:cNvPr id="10" name="Shape 6"/>
          <p:cNvSpPr/>
          <p:nvPr/>
        </p:nvSpPr>
        <p:spPr>
          <a:xfrm>
            <a:off x="493776" y="1479699"/>
            <a:ext cx="6357823" cy="3624282"/>
          </a:xfrm>
          <a:prstGeom prst="roundRect">
            <a:avLst>
              <a:gd name="adj" fmla="val 1514"/>
            </a:avLst>
          </a:prstGeom>
          <a:solidFill>
            <a:srgbClr val="FFFFFF"/>
          </a:solidFill>
          <a:ln w="9525">
            <a:solidFill>
              <a:srgbClr val="BFC4CB"/>
            </a:solidFill>
            <a:prstDash val="solid"/>
          </a:ln>
          <a:effectLst>
            <a:outerShdw sx="100000" sy="100000" kx="0" ky="0" algn="bl" rotWithShape="0" blurRad="228600" dist="76200" dir="5400000">
              <a:srgbClr val="000000">
                <a:alpha val="18000"/>
              </a:srgbClr>
            </a:outerShdw>
          </a:effectLst>
        </p:spPr>
      </p:sp>
      <p:pic>
        <p:nvPicPr>
          <p:cNvPr id="11" name="Image 1" descr="/home/user/midgard-app/docs/launch/pipeline/out-light/screens/16-heimdall-picture.png">    </p:cNvPr>
          <p:cNvPicPr>
            <a:picLocks noChangeAspect="1"/>
          </p:cNvPicPr>
          <p:nvPr/>
        </p:nvPicPr>
        <p:blipFill>
          <a:blip r:embed="rId2"/>
          <a:stretch>
            <a:fillRect/>
          </a:stretch>
        </p:blipFill>
        <p:spPr>
          <a:xfrm>
            <a:off x="548640" y="1534563"/>
            <a:ext cx="6248095" cy="3514554"/>
          </a:xfrm>
          <a:prstGeom prst="rect">
            <a:avLst/>
          </a:prstGeom>
        </p:spPr>
      </p:pic>
      <p:sp>
        <p:nvSpPr>
          <p:cNvPr id="12" name="Text 7"/>
          <p:cNvSpPr txBox="1"/>
          <p:nvPr/>
        </p:nvSpPr>
        <p:spPr>
          <a:xfrm>
            <a:off x="548640" y="5806440"/>
            <a:ext cx="6248095" cy="274320"/>
          </a:xfrm>
          <a:prstGeom prst="rect">
            <a:avLst/>
          </a:prstGeom>
          <a:noFill/>
          <a:ln/>
        </p:spPr>
        <p:txBody>
          <a:bodyPr wrap="square" lIns="0" tIns="0" rIns="0" bIns="0" rtlCol="0" anchor="ctr"/>
          <a:lstStyle/>
          <a:p>
            <a:pPr indent="0" marL="0">
              <a:buNone/>
            </a:pPr>
            <a:r>
              <a:rPr lang="en-US" sz="850" spc="150" kern="0" dirty="0">
                <a:solidFill>
                  <a:srgbClr val="8A9099"/>
                </a:solidFill>
                <a:latin typeface="Consolas" pitchFamily="34" charset="0"/>
                <a:ea typeface="Consolas" pitchFamily="34" charset="-122"/>
                <a:cs typeface="Consolas" pitchFamily="34" charset="-120"/>
              </a:rPr>
              <a:t>HEIMDALL CONSOLE · COMMON OPERATING PICTURE · SYNTHETIC REFERENCE LAYOUT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FF0F3"/>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8A909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8A9099"/>
                </a:solidFill>
                <a:latin typeface="Consolas" pitchFamily="34" charset="0"/>
                <a:ea typeface="Consolas" pitchFamily="34" charset="-122"/>
                <a:cs typeface="Consolas" pitchFamily="34" charset="-120"/>
              </a:rPr>
              <a:t>12</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6244C2"/>
                </a:solidFill>
                <a:latin typeface="Consolas" pitchFamily="34" charset="0"/>
                <a:ea typeface="Consolas" pitchFamily="34" charset="-122"/>
                <a:cs typeface="Consolas" pitchFamily="34" charset="-120"/>
              </a:rPr>
              <a:t>11 // BIFROST · CONTINUOUS DELIVERY</a:t>
            </a:r>
            <a:endParaRPr lang="en-US" sz="1050" dirty="0"/>
          </a:p>
        </p:txBody>
      </p:sp>
      <p:sp>
        <p:nvSpPr>
          <p:cNvPr id="6" name="Text 3"/>
          <p:cNvSpPr txBox="1"/>
          <p:nvPr/>
        </p:nvSpPr>
        <p:spPr>
          <a:xfrm>
            <a:off x="548640" y="822960"/>
            <a:ext cx="4480560" cy="1188720"/>
          </a:xfrm>
          <a:prstGeom prst="rect">
            <a:avLst/>
          </a:prstGeom>
          <a:noFill/>
          <a:ln/>
        </p:spPr>
        <p:txBody>
          <a:bodyPr wrap="square" lIns="0" tIns="0" rIns="0" bIns="0" rtlCol="0" anchor="t">
            <a:normAutofit/>
          </a:bodyPr>
          <a:lstStyle/>
          <a:p>
            <a:pPr indent="0" marL="0">
              <a:buNone/>
            </a:pPr>
            <a:r>
              <a:rPr lang="en-US" sz="2800" b="1" dirty="0">
                <a:solidFill>
                  <a:srgbClr val="101114"/>
                </a:solidFill>
                <a:latin typeface="Arial" pitchFamily="34" charset="0"/>
                <a:ea typeface="Arial" pitchFamily="34" charset="-122"/>
                <a:cs typeface="Arial" pitchFamily="34" charset="-120"/>
              </a:rPr>
              <a:t>Nothing deploys unless it proves itself</a:t>
            </a:r>
            <a:endParaRPr lang="en-US" sz="2800" dirty="0"/>
          </a:p>
        </p:txBody>
      </p:sp>
      <p:sp>
        <p:nvSpPr>
          <p:cNvPr id="7" name="Shape 4"/>
          <p:cNvSpPr/>
          <p:nvPr/>
        </p:nvSpPr>
        <p:spPr>
          <a:xfrm>
            <a:off x="548640" y="2148840"/>
            <a:ext cx="457200" cy="457200"/>
          </a:xfrm>
          <a:prstGeom prst="ellipse">
            <a:avLst/>
          </a:prstGeom>
          <a:solidFill>
            <a:srgbClr val="E4E6EA"/>
          </a:solidFill>
          <a:ln w="6350">
            <a:solidFill>
              <a:srgbClr val="D6D9DE"/>
            </a:solidFill>
            <a:prstDash val="solid"/>
          </a:ln>
        </p:spPr>
      </p:sp>
      <p:pic>
        <p:nvPicPr>
          <p:cNvPr id="8" name="Image 0" descr="preencoded.png">    </p:cNvPr>
          <p:cNvPicPr>
            <a:picLocks noChangeAspect="1"/>
          </p:cNvPicPr>
          <p:nvPr/>
        </p:nvPicPr>
        <p:blipFill>
          <a:blip r:embed="rId1"/>
          <a:stretch>
            <a:fillRect/>
          </a:stretch>
        </p:blipFill>
        <p:spPr>
          <a:xfrm>
            <a:off x="658368" y="2258568"/>
            <a:ext cx="237744" cy="237744"/>
          </a:xfrm>
          <a:prstGeom prst="rect">
            <a:avLst/>
          </a:prstGeom>
        </p:spPr>
      </p:pic>
      <p:sp>
        <p:nvSpPr>
          <p:cNvPr id="9" name="Text 5"/>
          <p:cNvSpPr txBox="1"/>
          <p:nvPr/>
        </p:nvSpPr>
        <p:spPr>
          <a:xfrm>
            <a:off x="548640" y="2743200"/>
            <a:ext cx="4480560" cy="32918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Every binary is rebuilt bit-for-bit, gets a CycloneDX SBOM, an offline CVE and licence scan, an ML-DSA signature and an attestation, in that order, each gate fail-closed.</a:t>
            </a:r>
            <a:endParaRPr lang="en-US" sz="1350" dirty="0"/>
          </a:p>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Services ship as verify-before-run images: the binary is re-verified inside the container before it starts.</a:t>
            </a:r>
            <a:endParaRPr lang="en-US" sz="1350" dirty="0"/>
          </a:p>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Ring-by-ring rollout with health gates and automatic rollback is a tested library. Services run one replica today.</a:t>
            </a:r>
            <a:endParaRPr lang="en-US" sz="1350" dirty="0"/>
          </a:p>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The fleet manager records every installation's version, liveness and drift from its channel over PQ-mTLS.</a:t>
            </a:r>
            <a:endParaRPr lang="en-US" sz="1350" dirty="0"/>
          </a:p>
          <a:p>
            <a:pPr marL="342900" indent="-342900">
              <a:spcAft>
                <a:spcPts val="800"/>
              </a:spcAft>
              <a:buSzPct val="100000"/>
              <a:buChar char="▪"/>
            </a:pPr>
            <a:r>
              <a:rPr lang="en-US" sz="1350" dirty="0">
                <a:solidFill>
                  <a:srgbClr val="383D44"/>
                </a:solidFill>
                <a:latin typeface="Calibri" pitchFamily="34" charset="0"/>
                <a:ea typeface="Calibri" pitchFamily="34" charset="-122"/>
                <a:cs typeface="Calibri" pitchFamily="34" charset="-120"/>
              </a:rPr>
              <a:t>Air-gapped sites receive one signed bundle on media. It verifies itself offline and streams a model's weights without holding them in memory.</a:t>
            </a:r>
            <a:endParaRPr lang="en-US" sz="1350" dirty="0"/>
          </a:p>
        </p:txBody>
      </p:sp>
      <p:sp>
        <p:nvSpPr>
          <p:cNvPr id="10" name="Shape 6"/>
          <p:cNvSpPr/>
          <p:nvPr/>
        </p:nvSpPr>
        <p:spPr>
          <a:xfrm>
            <a:off x="5340096" y="1479699"/>
            <a:ext cx="6357823" cy="3624282"/>
          </a:xfrm>
          <a:prstGeom prst="roundRect">
            <a:avLst>
              <a:gd name="adj" fmla="val 1514"/>
            </a:avLst>
          </a:prstGeom>
          <a:solidFill>
            <a:srgbClr val="FFFFFF"/>
          </a:solidFill>
          <a:ln w="9525">
            <a:solidFill>
              <a:srgbClr val="BFC4CB"/>
            </a:solidFill>
            <a:prstDash val="solid"/>
          </a:ln>
          <a:effectLst>
            <a:outerShdw sx="100000" sy="100000" kx="0" ky="0" algn="bl" rotWithShape="0" blurRad="228600" dist="76200" dir="5400000">
              <a:srgbClr val="000000">
                <a:alpha val="18000"/>
              </a:srgbClr>
            </a:outerShdw>
          </a:effectLst>
        </p:spPr>
      </p:sp>
      <p:pic>
        <p:nvPicPr>
          <p:cNvPr id="11" name="Image 1" descr="/home/user/midgard-app/docs/launch/pipeline/out-light/screens/18-bifrost-release.png">    </p:cNvPr>
          <p:cNvPicPr>
            <a:picLocks noChangeAspect="1"/>
          </p:cNvPicPr>
          <p:nvPr/>
        </p:nvPicPr>
        <p:blipFill>
          <a:blip r:embed="rId2"/>
          <a:stretch>
            <a:fillRect/>
          </a:stretch>
        </p:blipFill>
        <p:spPr>
          <a:xfrm>
            <a:off x="5394960" y="1534563"/>
            <a:ext cx="6248095" cy="3514554"/>
          </a:xfrm>
          <a:prstGeom prst="rect">
            <a:avLst/>
          </a:prstGeom>
        </p:spPr>
      </p:pic>
      <p:sp>
        <p:nvSpPr>
          <p:cNvPr id="12" name="Text 7"/>
          <p:cNvSpPr txBox="1"/>
          <p:nvPr/>
        </p:nvSpPr>
        <p:spPr>
          <a:xfrm>
            <a:off x="5394960" y="5806440"/>
            <a:ext cx="6248095" cy="274320"/>
          </a:xfrm>
          <a:prstGeom prst="rect">
            <a:avLst/>
          </a:prstGeom>
          <a:noFill/>
          <a:ln/>
        </p:spPr>
        <p:txBody>
          <a:bodyPr wrap="square" lIns="0" tIns="0" rIns="0" bIns="0" rtlCol="0" anchor="ctr"/>
          <a:lstStyle/>
          <a:p>
            <a:pPr indent="0" marL="0">
              <a:buNone/>
            </a:pPr>
            <a:r>
              <a:rPr lang="en-US" sz="850" spc="150" kern="0" dirty="0">
                <a:solidFill>
                  <a:srgbClr val="8A9099"/>
                </a:solidFill>
                <a:latin typeface="Consolas" pitchFamily="34" charset="0"/>
                <a:ea typeface="Consolas" pitchFamily="34" charset="-122"/>
                <a:cs typeface="Consolas" pitchFamily="34" charset="-120"/>
              </a:rPr>
              <a:t>BIFROST CONSOLE · RELEASE CONSOLE · BUILT-IN SAMPLE DATA</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FF0F3"/>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8A909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8A9099"/>
                </a:solidFill>
                <a:latin typeface="Consolas" pitchFamily="34" charset="0"/>
                <a:ea typeface="Consolas" pitchFamily="34" charset="-122"/>
                <a:cs typeface="Consolas" pitchFamily="34" charset="-120"/>
              </a:rPr>
              <a:t>13</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A8171E"/>
                </a:solidFill>
                <a:latin typeface="Consolas" pitchFamily="34" charset="0"/>
                <a:ea typeface="Consolas" pitchFamily="34" charset="-122"/>
                <a:cs typeface="Consolas" pitchFamily="34" charset="-120"/>
              </a:rPr>
              <a:t>12 // CONTROL &amp; REACH</a:t>
            </a:r>
            <a:endParaRPr lang="en-US" sz="1050" dirty="0"/>
          </a:p>
        </p:txBody>
      </p:sp>
      <p:sp>
        <p:nvSpPr>
          <p:cNvPr id="6" name="Text 3"/>
          <p:cNvSpPr txBox="1"/>
          <p:nvPr/>
        </p:nvSpPr>
        <p:spPr>
          <a:xfrm>
            <a:off x="548640" y="822960"/>
            <a:ext cx="10972800" cy="914400"/>
          </a:xfrm>
          <a:prstGeom prst="rect">
            <a:avLst/>
          </a:prstGeom>
          <a:noFill/>
          <a:ln/>
        </p:spPr>
        <p:txBody>
          <a:bodyPr wrap="square" lIns="0" tIns="0" rIns="0" bIns="0" rtlCol="0" anchor="t">
            <a:normAutofit/>
          </a:bodyPr>
          <a:lstStyle/>
          <a:p>
            <a:pPr indent="0" marL="0">
              <a:buNone/>
            </a:pPr>
            <a:r>
              <a:rPr lang="en-US" sz="2600" b="1" dirty="0">
                <a:solidFill>
                  <a:srgbClr val="101114"/>
                </a:solidFill>
                <a:latin typeface="Arial" pitchFamily="34" charset="0"/>
                <a:ea typeface="Arial" pitchFamily="34" charset="-122"/>
                <a:cs typeface="Arial" pitchFamily="34" charset="-120"/>
              </a:rPr>
              <a:t>No single person can do the dangerous things. And it works where the work happens.</a:t>
            </a:r>
            <a:endParaRPr lang="en-US" sz="2600" dirty="0"/>
          </a:p>
        </p:txBody>
      </p:sp>
      <p:sp>
        <p:nvSpPr>
          <p:cNvPr id="7" name="Shape 4"/>
          <p:cNvSpPr/>
          <p:nvPr/>
        </p:nvSpPr>
        <p:spPr>
          <a:xfrm>
            <a:off x="493776" y="1911139"/>
            <a:ext cx="5474056" cy="3127162"/>
          </a:xfrm>
          <a:prstGeom prst="roundRect">
            <a:avLst>
              <a:gd name="adj" fmla="val 1754"/>
            </a:avLst>
          </a:prstGeom>
          <a:solidFill>
            <a:srgbClr val="FFFFFF"/>
          </a:solidFill>
          <a:ln w="9525">
            <a:solidFill>
              <a:srgbClr val="BFC4CB"/>
            </a:solidFill>
            <a:prstDash val="solid"/>
          </a:ln>
          <a:effectLst>
            <a:outerShdw sx="100000" sy="100000" kx="0" ky="0" algn="bl" rotWithShape="0" blurRad="228600" dist="76200" dir="5400000">
              <a:srgbClr val="000000">
                <a:alpha val="18000"/>
              </a:srgbClr>
            </a:outerShdw>
          </a:effectLst>
        </p:spPr>
      </p:sp>
      <p:pic>
        <p:nvPicPr>
          <p:cNvPr id="8" name="Image 0" descr="/home/user/midgard-app/docs/launch/pipeline/out-light/screens/20-admin-approvals.png">    </p:cNvPr>
          <p:cNvPicPr>
            <a:picLocks noChangeAspect="1"/>
          </p:cNvPicPr>
          <p:nvPr/>
        </p:nvPicPr>
        <p:blipFill>
          <a:blip r:embed="rId1"/>
          <a:stretch>
            <a:fillRect/>
          </a:stretch>
        </p:blipFill>
        <p:spPr>
          <a:xfrm>
            <a:off x="548640" y="1966003"/>
            <a:ext cx="5364328" cy="3017434"/>
          </a:xfrm>
          <a:prstGeom prst="rect">
            <a:avLst/>
          </a:prstGeom>
        </p:spPr>
      </p:pic>
      <p:sp>
        <p:nvSpPr>
          <p:cNvPr id="9" name="Shape 5"/>
          <p:cNvSpPr/>
          <p:nvPr/>
        </p:nvSpPr>
        <p:spPr>
          <a:xfrm>
            <a:off x="6223864" y="1911139"/>
            <a:ext cx="5474056" cy="3127162"/>
          </a:xfrm>
          <a:prstGeom prst="roundRect">
            <a:avLst>
              <a:gd name="adj" fmla="val 1754"/>
            </a:avLst>
          </a:prstGeom>
          <a:solidFill>
            <a:srgbClr val="FFFFFF"/>
          </a:solidFill>
          <a:ln w="9525">
            <a:solidFill>
              <a:srgbClr val="BFC4CB"/>
            </a:solidFill>
            <a:prstDash val="solid"/>
          </a:ln>
          <a:effectLst>
            <a:outerShdw sx="100000" sy="100000" kx="0" ky="0" algn="bl" rotWithShape="0" blurRad="228600" dist="76200" dir="5400000">
              <a:srgbClr val="000000">
                <a:alpha val="18000"/>
              </a:srgbClr>
            </a:outerShdw>
          </a:effectLst>
        </p:spPr>
      </p:sp>
      <p:pic>
        <p:nvPicPr>
          <p:cNvPr id="10" name="Image 1" descr="/home/user/midgard-app/docs/launch/pipeline/out-light/screens/22-clients-mobile.png">    </p:cNvPr>
          <p:cNvPicPr>
            <a:picLocks noChangeAspect="1"/>
          </p:cNvPicPr>
          <p:nvPr/>
        </p:nvPicPr>
        <p:blipFill>
          <a:blip r:embed="rId2"/>
          <a:stretch>
            <a:fillRect/>
          </a:stretch>
        </p:blipFill>
        <p:spPr>
          <a:xfrm>
            <a:off x="6278728" y="1966003"/>
            <a:ext cx="5364328" cy="3017434"/>
          </a:xfrm>
          <a:prstGeom prst="rect">
            <a:avLst/>
          </a:prstGeom>
        </p:spPr>
      </p:pic>
      <p:sp>
        <p:nvSpPr>
          <p:cNvPr id="11" name="Text 6"/>
          <p:cNvSpPr txBox="1"/>
          <p:nvPr/>
        </p:nvSpPr>
        <p:spPr>
          <a:xfrm>
            <a:off x="548640" y="5212080"/>
            <a:ext cx="5364328" cy="320040"/>
          </a:xfrm>
          <a:prstGeom prst="rect">
            <a:avLst/>
          </a:prstGeom>
          <a:noFill/>
          <a:ln/>
        </p:spPr>
        <p:txBody>
          <a:bodyPr wrap="square" lIns="0" tIns="0" rIns="0" bIns="0" rtlCol="0" anchor="t"/>
          <a:lstStyle/>
          <a:p>
            <a:pPr indent="0" marL="0">
              <a:buNone/>
            </a:pPr>
            <a:r>
              <a:rPr lang="en-US" sz="1500" b="1" dirty="0">
                <a:solidFill>
                  <a:srgbClr val="101114"/>
                </a:solidFill>
                <a:latin typeface="Calibri" pitchFamily="34" charset="0"/>
                <a:ea typeface="Calibri" pitchFamily="34" charset="-122"/>
                <a:cs typeface="Calibri" pitchFamily="34" charset="-120"/>
              </a:rPr>
              <a:t>Admin Control Panel</a:t>
            </a:r>
            <a:endParaRPr lang="en-US" sz="1500" dirty="0"/>
          </a:p>
        </p:txBody>
      </p:sp>
      <p:sp>
        <p:nvSpPr>
          <p:cNvPr id="12" name="Text 7"/>
          <p:cNvSpPr txBox="1"/>
          <p:nvPr/>
        </p:nvSpPr>
        <p:spPr>
          <a:xfrm>
            <a:off x="548640" y="5532120"/>
            <a:ext cx="5364328" cy="731520"/>
          </a:xfrm>
          <a:prstGeom prst="rect">
            <a:avLst/>
          </a:prstGeom>
          <a:noFill/>
          <a:ln/>
        </p:spPr>
        <p:txBody>
          <a:bodyPr wrap="square" lIns="0" tIns="0" rIns="0" bIns="0" rtlCol="0" anchor="t"/>
          <a:lstStyle/>
          <a:p>
            <a:pPr indent="0" marL="0">
              <a:buNone/>
            </a:pPr>
            <a:r>
              <a:rPr lang="en-US" sz="1200" dirty="0">
                <a:solidFill>
                  <a:srgbClr val="383D44"/>
                </a:solidFill>
                <a:latin typeface="Calibri" pitchFamily="34" charset="0"/>
                <a:ea typeface="Calibri" pitchFamily="34" charset="-122"/>
                <a:cs typeface="Calibri" pitchFamily="34" charset="-120"/>
              </a:rPr>
              <a:t>Dual control with a second, different approver: live for enrolment, a tested library for other high-risk changes. Break-glass is a tested library.</a:t>
            </a:r>
            <a:endParaRPr lang="en-US" sz="1200" dirty="0"/>
          </a:p>
        </p:txBody>
      </p:sp>
      <p:sp>
        <p:nvSpPr>
          <p:cNvPr id="13" name="Text 8"/>
          <p:cNvSpPr txBox="1"/>
          <p:nvPr/>
        </p:nvSpPr>
        <p:spPr>
          <a:xfrm>
            <a:off x="6278728" y="5212080"/>
            <a:ext cx="5364328" cy="320040"/>
          </a:xfrm>
          <a:prstGeom prst="rect">
            <a:avLst/>
          </a:prstGeom>
          <a:noFill/>
          <a:ln/>
        </p:spPr>
        <p:txBody>
          <a:bodyPr wrap="square" lIns="0" tIns="0" rIns="0" bIns="0" rtlCol="0" anchor="t"/>
          <a:lstStyle/>
          <a:p>
            <a:pPr indent="0" marL="0">
              <a:buNone/>
            </a:pPr>
            <a:r>
              <a:rPr lang="en-US" sz="1500" b="1" dirty="0">
                <a:solidFill>
                  <a:srgbClr val="101114"/>
                </a:solidFill>
                <a:latin typeface="Calibri" pitchFamily="34" charset="0"/>
                <a:ea typeface="Calibri" pitchFamily="34" charset="-122"/>
                <a:cs typeface="Calibri" pitchFamily="34" charset="-120"/>
              </a:rPr>
              <a:t>Client platforms</a:t>
            </a:r>
            <a:endParaRPr lang="en-US" sz="1500" dirty="0"/>
          </a:p>
        </p:txBody>
      </p:sp>
      <p:sp>
        <p:nvSpPr>
          <p:cNvPr id="14" name="Text 9"/>
          <p:cNvSpPr txBox="1"/>
          <p:nvPr/>
        </p:nvSpPr>
        <p:spPr>
          <a:xfrm>
            <a:off x="6278728" y="5532120"/>
            <a:ext cx="5364328" cy="731520"/>
          </a:xfrm>
          <a:prstGeom prst="rect">
            <a:avLst/>
          </a:prstGeom>
          <a:noFill/>
          <a:ln/>
        </p:spPr>
        <p:txBody>
          <a:bodyPr wrap="square" lIns="0" tIns="0" rIns="0" bIns="0" rtlCol="0" anchor="t"/>
          <a:lstStyle/>
          <a:p>
            <a:pPr indent="0" marL="0">
              <a:buNone/>
            </a:pPr>
            <a:r>
              <a:rPr lang="en-US" sz="1200" dirty="0">
                <a:solidFill>
                  <a:srgbClr val="383D44"/>
                </a:solidFill>
                <a:latin typeface="Calibri" pitchFamily="34" charset="0"/>
                <a:ea typeface="Calibri" pitchFamily="34" charset="-122"/>
                <a:cs typeface="Calibri" pitchFamily="34" charset="-120"/>
              </a:rPr>
              <a:t>One shared core, tested as a library. Native, desktop, web and extension shells are specified in SAD_06; none is built, so no key is held in device hardware.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FF0F3"/>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8A909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8A9099"/>
                </a:solidFill>
                <a:latin typeface="Consolas" pitchFamily="34" charset="0"/>
                <a:ea typeface="Consolas" pitchFamily="34" charset="-122"/>
                <a:cs typeface="Consolas" pitchFamily="34" charset="-120"/>
              </a:rPr>
              <a:t>14</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A8171E"/>
                </a:solidFill>
                <a:latin typeface="Consolas" pitchFamily="34" charset="0"/>
                <a:ea typeface="Consolas" pitchFamily="34" charset="-122"/>
                <a:cs typeface="Consolas" pitchFamily="34" charset="-120"/>
              </a:rPr>
              <a:t>13 // LIVE DEMO</a:t>
            </a:r>
            <a:endParaRPr lang="en-US" sz="1050" dirty="0"/>
          </a:p>
        </p:txBody>
      </p:sp>
      <p:sp>
        <p:nvSpPr>
          <p:cNvPr id="6" name="Text 3"/>
          <p:cNvSpPr txBox="1"/>
          <p:nvPr/>
        </p:nvSpPr>
        <p:spPr>
          <a:xfrm>
            <a:off x="548640" y="822960"/>
            <a:ext cx="7315200" cy="822960"/>
          </a:xfrm>
          <a:prstGeom prst="rect">
            <a:avLst/>
          </a:prstGeom>
          <a:noFill/>
          <a:ln/>
        </p:spPr>
        <p:txBody>
          <a:bodyPr wrap="square" lIns="0" tIns="0" rIns="0" bIns="0" rtlCol="0" anchor="t">
            <a:normAutofit/>
          </a:bodyPr>
          <a:lstStyle/>
          <a:p>
            <a:pPr indent="0" marL="0">
              <a:buNone/>
            </a:pPr>
            <a:r>
              <a:rPr lang="en-US" sz="3200" b="1" dirty="0">
                <a:solidFill>
                  <a:srgbClr val="101114"/>
                </a:solidFill>
                <a:latin typeface="Arial" pitchFamily="34" charset="0"/>
                <a:ea typeface="Arial" pitchFamily="34" charset="-122"/>
                <a:cs typeface="Arial" pitchFamily="34" charset="-120"/>
              </a:rPr>
              <a:t>The enclosure edge, end to end</a:t>
            </a:r>
            <a:endParaRPr lang="en-US" sz="3200" dirty="0"/>
          </a:p>
        </p:txBody>
      </p:sp>
      <p:sp>
        <p:nvSpPr>
          <p:cNvPr id="7" name="Shape 4"/>
          <p:cNvSpPr/>
          <p:nvPr/>
        </p:nvSpPr>
        <p:spPr>
          <a:xfrm>
            <a:off x="493776" y="1682496"/>
            <a:ext cx="7424928" cy="4224528"/>
          </a:xfrm>
          <a:prstGeom prst="roundRect">
            <a:avLst>
              <a:gd name="adj" fmla="val 1299"/>
            </a:avLst>
          </a:prstGeom>
          <a:solidFill>
            <a:srgbClr val="FFFFFF"/>
          </a:solidFill>
          <a:ln w="9525">
            <a:solidFill>
              <a:srgbClr val="BFC4CB"/>
            </a:solidFill>
            <a:prstDash val="solid"/>
          </a:ln>
        </p:spPr>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737360"/>
            <a:ext cx="7315200" cy="4114800"/>
          </a:xfrm>
          <a:prstGeom prst="rect">
            <a:avLst/>
          </a:prstGeom>
        </p:spPr>
      </p:pic>
      <p:sp>
        <p:nvSpPr>
          <p:cNvPr id="9" name="Text 5"/>
          <p:cNvSpPr txBox="1"/>
          <p:nvPr/>
        </p:nvSpPr>
        <p:spPr>
          <a:xfrm>
            <a:off x="548640" y="5989320"/>
            <a:ext cx="7315200" cy="274320"/>
          </a:xfrm>
          <a:prstGeom prst="rect">
            <a:avLst/>
          </a:prstGeom>
          <a:noFill/>
          <a:ln/>
        </p:spPr>
        <p:txBody>
          <a:bodyPr wrap="square" lIns="0" tIns="0" rIns="0" bIns="0" rtlCol="0" anchor="ctr"/>
          <a:lstStyle/>
          <a:p>
            <a:pPr indent="0" marL="0">
              <a:buNone/>
            </a:pPr>
            <a:r>
              <a:rPr lang="en-US" sz="800" spc="150" kern="0" dirty="0">
                <a:solidFill>
                  <a:srgbClr val="8A9099"/>
                </a:solidFill>
                <a:latin typeface="Consolas" pitchFamily="34" charset="0"/>
                <a:ea typeface="Consolas" pitchFamily="34" charset="-122"/>
                <a:cs typeface="Consolas" pitchFamily="34" charset="-120"/>
              </a:rPr>
              <a:t>MIDGARD-LAUNCH-DEMO-LIGHT.MP4 · 1920×1080 · 3 MIN 43 S · CLICK TO PLAY</a:t>
            </a:r>
            <a:endParaRPr lang="en-US" sz="800" dirty="0"/>
          </a:p>
        </p:txBody>
      </p:sp>
      <p:sp>
        <p:nvSpPr>
          <p:cNvPr id="10" name="Text 6"/>
          <p:cNvSpPr txBox="1"/>
          <p:nvPr/>
        </p:nvSpPr>
        <p:spPr>
          <a:xfrm>
            <a:off x="8321040" y="1737360"/>
            <a:ext cx="3322015" cy="365760"/>
          </a:xfrm>
          <a:prstGeom prst="rect">
            <a:avLst/>
          </a:prstGeom>
          <a:noFill/>
          <a:ln/>
        </p:spPr>
        <p:txBody>
          <a:bodyPr wrap="square" lIns="0" tIns="0" rIns="0" bIns="0" rtlCol="0" anchor="t"/>
          <a:lstStyle/>
          <a:p>
            <a:pPr indent="0" marL="0">
              <a:buNone/>
            </a:pPr>
            <a:r>
              <a:rPr lang="en-US" sz="1500" b="1" dirty="0">
                <a:solidFill>
                  <a:srgbClr val="101114"/>
                </a:solidFill>
                <a:latin typeface="Calibri" pitchFamily="34" charset="0"/>
                <a:ea typeface="Calibri" pitchFamily="34" charset="-122"/>
                <a:cs typeface="Calibri" pitchFamily="34" charset="-120"/>
              </a:rPr>
              <a:t>What you will see</a:t>
            </a:r>
            <a:endParaRPr lang="en-US" sz="1500" dirty="0"/>
          </a:p>
        </p:txBody>
      </p:sp>
      <p:sp>
        <p:nvSpPr>
          <p:cNvPr id="11" name="Text 7"/>
          <p:cNvSpPr txBox="1"/>
          <p:nvPr/>
        </p:nvSpPr>
        <p:spPr>
          <a:xfrm>
            <a:off x="8321040" y="2240280"/>
            <a:ext cx="457200" cy="365760"/>
          </a:xfrm>
          <a:prstGeom prst="rect">
            <a:avLst/>
          </a:prstGeom>
          <a:noFill/>
          <a:ln/>
        </p:spPr>
        <p:txBody>
          <a:bodyPr wrap="square" lIns="0" tIns="0" rIns="0" bIns="0" rtlCol="0" anchor="ctr"/>
          <a:lstStyle/>
          <a:p>
            <a:pPr indent="0" marL="0">
              <a:buNone/>
            </a:pPr>
            <a:r>
              <a:rPr lang="en-US" sz="1800" b="1" dirty="0">
                <a:solidFill>
                  <a:srgbClr val="A8171E"/>
                </a:solidFill>
                <a:latin typeface="Arial" pitchFamily="34" charset="0"/>
                <a:ea typeface="Arial" pitchFamily="34" charset="-122"/>
                <a:cs typeface="Arial" pitchFamily="34" charset="-120"/>
              </a:rPr>
              <a:t>01</a:t>
            </a:r>
            <a:endParaRPr lang="en-US" sz="1800" dirty="0"/>
          </a:p>
        </p:txBody>
      </p:sp>
      <p:sp>
        <p:nvSpPr>
          <p:cNvPr id="12" name="Text 8"/>
          <p:cNvSpPr txBox="1"/>
          <p:nvPr/>
        </p:nvSpPr>
        <p:spPr>
          <a:xfrm>
            <a:off x="8823960" y="2267712"/>
            <a:ext cx="2819095" cy="914400"/>
          </a:xfrm>
          <a:prstGeom prst="rect">
            <a:avLst/>
          </a:prstGeom>
          <a:noFill/>
          <a:ln/>
        </p:spPr>
        <p:txBody>
          <a:bodyPr wrap="square" lIns="0" tIns="0" rIns="0" bIns="0" rtlCol="0" anchor="t"/>
          <a:lstStyle/>
          <a:p>
            <a:pPr indent="0" marL="0">
              <a:buNone/>
            </a:pPr>
            <a:r>
              <a:rPr lang="en-US" sz="1150" dirty="0">
                <a:solidFill>
                  <a:srgbClr val="383D44"/>
                </a:solidFill>
                <a:latin typeface="Calibri" pitchFamily="34" charset="0"/>
                <a:ea typeface="Calibri" pitchFamily="34" charset="-122"/>
                <a:cs typeface="Calibri" pitchFamily="34" charset="-120"/>
              </a:rPr>
              <a:t>The edge starts in a container. Login returns an ML-DSA-signed token; a query returns only the objects the operator is cleared for, with the audit id that authorised it.</a:t>
            </a:r>
            <a:endParaRPr lang="en-US" sz="1150" dirty="0"/>
          </a:p>
        </p:txBody>
      </p:sp>
      <p:sp>
        <p:nvSpPr>
          <p:cNvPr id="13" name="Text 9"/>
          <p:cNvSpPr txBox="1"/>
          <p:nvPr/>
        </p:nvSpPr>
        <p:spPr>
          <a:xfrm>
            <a:off x="8321040" y="3200400"/>
            <a:ext cx="457200" cy="365760"/>
          </a:xfrm>
          <a:prstGeom prst="rect">
            <a:avLst/>
          </a:prstGeom>
          <a:noFill/>
          <a:ln/>
        </p:spPr>
        <p:txBody>
          <a:bodyPr wrap="square" lIns="0" tIns="0" rIns="0" bIns="0" rtlCol="0" anchor="ctr"/>
          <a:lstStyle/>
          <a:p>
            <a:pPr indent="0" marL="0">
              <a:buNone/>
            </a:pPr>
            <a:r>
              <a:rPr lang="en-US" sz="1800" b="1" dirty="0">
                <a:solidFill>
                  <a:srgbClr val="A8171E"/>
                </a:solidFill>
                <a:latin typeface="Arial" pitchFamily="34" charset="0"/>
                <a:ea typeface="Arial" pitchFamily="34" charset="-122"/>
                <a:cs typeface="Arial" pitchFamily="34" charset="-120"/>
              </a:rPr>
              <a:t>02</a:t>
            </a:r>
            <a:endParaRPr lang="en-US" sz="1800" dirty="0"/>
          </a:p>
        </p:txBody>
      </p:sp>
      <p:sp>
        <p:nvSpPr>
          <p:cNvPr id="14" name="Text 10"/>
          <p:cNvSpPr txBox="1"/>
          <p:nvPr/>
        </p:nvSpPr>
        <p:spPr>
          <a:xfrm>
            <a:off x="8823960" y="3227832"/>
            <a:ext cx="2819095" cy="914400"/>
          </a:xfrm>
          <a:prstGeom prst="rect">
            <a:avLst/>
          </a:prstGeom>
          <a:noFill/>
          <a:ln/>
        </p:spPr>
        <p:txBody>
          <a:bodyPr wrap="square" lIns="0" tIns="0" rIns="0" bIns="0" rtlCol="0" anchor="t"/>
          <a:lstStyle/>
          <a:p>
            <a:pPr indent="0" marL="0">
              <a:buNone/>
            </a:pPr>
            <a:r>
              <a:rPr lang="en-US" sz="1150" dirty="0">
                <a:solidFill>
                  <a:srgbClr val="383D44"/>
                </a:solidFill>
                <a:latin typeface="Calibri" pitchFamily="34" charset="0"/>
                <a:ea typeface="Calibri" pitchFamily="34" charset="-122"/>
                <a:cs typeface="Calibri" pitchFamily="34" charset="-120"/>
              </a:rPr>
              <a:t>Object fabric. "Ground aircraft" is refused until a person authorises it, then the authorisation itself is audited.</a:t>
            </a:r>
            <a:endParaRPr lang="en-US" sz="1150" dirty="0"/>
          </a:p>
        </p:txBody>
      </p:sp>
      <p:sp>
        <p:nvSpPr>
          <p:cNvPr id="15" name="Text 11"/>
          <p:cNvSpPr txBox="1"/>
          <p:nvPr/>
        </p:nvSpPr>
        <p:spPr>
          <a:xfrm>
            <a:off x="8321040" y="4160520"/>
            <a:ext cx="457200" cy="365760"/>
          </a:xfrm>
          <a:prstGeom prst="rect">
            <a:avLst/>
          </a:prstGeom>
          <a:noFill/>
          <a:ln/>
        </p:spPr>
        <p:txBody>
          <a:bodyPr wrap="square" lIns="0" tIns="0" rIns="0" bIns="0" rtlCol="0" anchor="ctr"/>
          <a:lstStyle/>
          <a:p>
            <a:pPr indent="0" marL="0">
              <a:buNone/>
            </a:pPr>
            <a:r>
              <a:rPr lang="en-US" sz="1800" b="1" dirty="0">
                <a:solidFill>
                  <a:srgbClr val="A8171E"/>
                </a:solidFill>
                <a:latin typeface="Arial" pitchFamily="34" charset="0"/>
                <a:ea typeface="Arial" pitchFamily="34" charset="-122"/>
                <a:cs typeface="Arial" pitchFamily="34" charset="-120"/>
              </a:rPr>
              <a:t>03</a:t>
            </a:r>
            <a:endParaRPr lang="en-US" sz="1800" dirty="0"/>
          </a:p>
        </p:txBody>
      </p:sp>
      <p:sp>
        <p:nvSpPr>
          <p:cNvPr id="16" name="Text 12"/>
          <p:cNvSpPr txBox="1"/>
          <p:nvPr/>
        </p:nvSpPr>
        <p:spPr>
          <a:xfrm>
            <a:off x="8823960" y="4187952"/>
            <a:ext cx="2819095" cy="914400"/>
          </a:xfrm>
          <a:prstGeom prst="rect">
            <a:avLst/>
          </a:prstGeom>
          <a:noFill/>
          <a:ln/>
        </p:spPr>
        <p:txBody>
          <a:bodyPr wrap="square" lIns="0" tIns="0" rIns="0" bIns="0" rtlCol="0" anchor="t"/>
          <a:lstStyle/>
          <a:p>
            <a:pPr indent="0" marL="0">
              <a:buNone/>
            </a:pPr>
            <a:r>
              <a:rPr lang="en-US" sz="1150" dirty="0">
                <a:solidFill>
                  <a:srgbClr val="383D44"/>
                </a:solidFill>
                <a:latin typeface="Calibri" pitchFamily="34" charset="0"/>
                <a:ea typeface="Calibri" pitchFamily="34" charset="-122"/>
                <a:cs typeface="Calibri" pitchFamily="34" charset="-120"/>
              </a:rPr>
              <a:t>Policy dry-run and audit lineage. Every entry from the session is already there, each one ML-DSA-65 verified.</a:t>
            </a:r>
            <a:endParaRPr lang="en-US" sz="1150" dirty="0"/>
          </a:p>
        </p:txBody>
      </p:sp>
      <p:sp>
        <p:nvSpPr>
          <p:cNvPr id="17" name="Text 13"/>
          <p:cNvSpPr txBox="1"/>
          <p:nvPr/>
        </p:nvSpPr>
        <p:spPr>
          <a:xfrm>
            <a:off x="8321040" y="5120640"/>
            <a:ext cx="457200" cy="365760"/>
          </a:xfrm>
          <a:prstGeom prst="rect">
            <a:avLst/>
          </a:prstGeom>
          <a:noFill/>
          <a:ln/>
        </p:spPr>
        <p:txBody>
          <a:bodyPr wrap="square" lIns="0" tIns="0" rIns="0" bIns="0" rtlCol="0" anchor="ctr"/>
          <a:lstStyle/>
          <a:p>
            <a:pPr indent="0" marL="0">
              <a:buNone/>
            </a:pPr>
            <a:r>
              <a:rPr lang="en-US" sz="1800" b="1" dirty="0">
                <a:solidFill>
                  <a:srgbClr val="A8171E"/>
                </a:solidFill>
                <a:latin typeface="Arial" pitchFamily="34" charset="0"/>
                <a:ea typeface="Arial" pitchFamily="34" charset="-122"/>
                <a:cs typeface="Arial" pitchFamily="34" charset="-120"/>
              </a:rPr>
              <a:t>04</a:t>
            </a:r>
            <a:endParaRPr lang="en-US" sz="1800" dirty="0"/>
          </a:p>
        </p:txBody>
      </p:sp>
      <p:sp>
        <p:nvSpPr>
          <p:cNvPr id="18" name="Text 14"/>
          <p:cNvSpPr txBox="1"/>
          <p:nvPr/>
        </p:nvSpPr>
        <p:spPr>
          <a:xfrm>
            <a:off x="8823960" y="5148072"/>
            <a:ext cx="2819095" cy="914400"/>
          </a:xfrm>
          <a:prstGeom prst="rect">
            <a:avLst/>
          </a:prstGeom>
          <a:noFill/>
          <a:ln/>
        </p:spPr>
        <p:txBody>
          <a:bodyPr wrap="square" lIns="0" tIns="0" rIns="0" bIns="0" rtlCol="0" anchor="t"/>
          <a:lstStyle/>
          <a:p>
            <a:pPr indent="0" marL="0">
              <a:buNone/>
            </a:pPr>
            <a:r>
              <a:rPr lang="en-US" sz="1150" dirty="0">
                <a:solidFill>
                  <a:srgbClr val="383D44"/>
                </a:solidFill>
                <a:latin typeface="Calibri" pitchFamily="34" charset="0"/>
                <a:ea typeface="Calibri" pitchFamily="34" charset="-122"/>
                <a:cs typeface="Calibri" pitchFamily="34" charset="-120"/>
              </a:rPr>
              <a:t>Forge, Mimir, Heimdall, Bifrost, Admin and the client shells, on built-in sample data.</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FF0F3"/>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8A909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8A9099"/>
                </a:solidFill>
                <a:latin typeface="Consolas" pitchFamily="34" charset="0"/>
                <a:ea typeface="Consolas" pitchFamily="34" charset="-122"/>
                <a:cs typeface="Consolas" pitchFamily="34" charset="-120"/>
              </a:rPr>
              <a:t>15</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A8171E"/>
                </a:solidFill>
                <a:latin typeface="Consolas" pitchFamily="34" charset="0"/>
                <a:ea typeface="Consolas" pitchFamily="34" charset="-122"/>
                <a:cs typeface="Consolas" pitchFamily="34" charset="-120"/>
              </a:rPr>
              <a:t>14 // POST-QUANTUM BY DEFAULT</a:t>
            </a:r>
            <a:endParaRPr lang="en-US" sz="1050" dirty="0"/>
          </a:p>
        </p:txBody>
      </p:sp>
      <p:sp>
        <p:nvSpPr>
          <p:cNvPr id="6" name="Text 3"/>
          <p:cNvSpPr txBox="1"/>
          <p:nvPr/>
        </p:nvSpPr>
        <p:spPr>
          <a:xfrm>
            <a:off x="548640" y="822960"/>
            <a:ext cx="7315200" cy="822960"/>
          </a:xfrm>
          <a:prstGeom prst="rect">
            <a:avLst/>
          </a:prstGeom>
          <a:noFill/>
          <a:ln/>
        </p:spPr>
        <p:txBody>
          <a:bodyPr wrap="square" lIns="0" tIns="0" rIns="0" bIns="0" rtlCol="0" anchor="t">
            <a:normAutofit/>
          </a:bodyPr>
          <a:lstStyle/>
          <a:p>
            <a:pPr indent="0" marL="0">
              <a:buNone/>
            </a:pPr>
            <a:r>
              <a:rPr lang="en-US" sz="3200" b="1" dirty="0">
                <a:solidFill>
                  <a:srgbClr val="101114"/>
                </a:solidFill>
                <a:latin typeface="Arial" pitchFamily="34" charset="0"/>
                <a:ea typeface="Arial" pitchFamily="34" charset="-122"/>
                <a:cs typeface="Arial" pitchFamily="34" charset="-120"/>
              </a:rPr>
              <a:t>Every layer, already migrated</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7589520" cy="914400"/>
        </p:xfrm>
        <a:graphic>
          <a:graphicData uri="http://schemas.openxmlformats.org/drawingml/2006/table">
            <a:tbl>
              <a:tblPr/>
              <a:tblGrid>
                <a:gridCol w="1463040"/>
                <a:gridCol w="4754880"/>
                <a:gridCol w="1371600"/>
              </a:tblGrid>
              <a:tr h="320040">
                <a:tc>
                  <a:txBody>
                    <a:bodyPr/>
                    <a:lstStyle/>
                    <a:p>
                      <a:pPr indent="0" marL="0">
                        <a:buNone/>
                      </a:pPr>
                      <a:r>
                        <a:rPr lang="en-US" sz="900" b="1" spc="150" kern="0" dirty="0">
                          <a:solidFill>
                            <a:srgbClr val="5C636B"/>
                          </a:solidFill>
                          <a:latin typeface="Consolas" pitchFamily="34" charset="0"/>
                          <a:ea typeface="Consolas" pitchFamily="34" charset="-122"/>
                          <a:cs typeface="Consolas" pitchFamily="34" charset="-120"/>
                        </a:rPr>
                        <a:t>LAYER</a:t>
                      </a:r>
                      <a:endParaRPr lang="en-US" sz="900" dirty="0">
                        <a:latin typeface="Consolas" charset="0"/>
                        <a:ea typeface="Consolas" charset="0"/>
                        <a:cs typeface="Consolas" charset="0"/>
                      </a:endParaRPr>
                    </a:p>
                  </a:txBody>
                  <a:tcPr marL="73152" marR="73152" marT="73152" marB="73152">
                    <a:lnL w="6350" cap="flat" cmpd="sng" algn="ctr">
                      <a:solidFill>
                        <a:srgbClr val="D6D9DE"/>
                      </a:solidFill>
                      <a:prstDash val="solid"/>
                      <a:round/>
                      <a:headEnd type="none" w="med" len="med"/>
                      <a:tailEnd type="none" w="med" len="med"/>
                    </a:lnL>
                    <a:lnR w="6350" cap="flat" cmpd="sng" algn="ctr">
                      <a:solidFill>
                        <a:srgbClr val="D6D9DE"/>
                      </a:solidFill>
                      <a:prstDash val="solid"/>
                      <a:round/>
                      <a:headEnd type="none" w="med" len="med"/>
                      <a:tailEnd type="none" w="med" len="med"/>
                    </a:lnR>
                    <a:lnT w="6350" cap="flat" cmpd="sng" algn="ctr">
                      <a:solidFill>
                        <a:srgbClr val="D6D9DE"/>
                      </a:solidFill>
                      <a:prstDash val="solid"/>
                      <a:round/>
                      <a:headEnd type="none" w="med" len="med"/>
                      <a:tailEnd type="none" w="med" len="med"/>
                    </a:lnT>
                    <a:lnB w="6350" cap="flat" cmpd="sng" algn="ctr">
                      <a:solidFill>
                        <a:srgbClr val="D6D9DE"/>
                      </a:solidFill>
                      <a:prstDash val="solid"/>
                      <a:round/>
                      <a:headEnd type="none" w="med" len="med"/>
                      <a:tailEnd type="none" w="med" len="med"/>
                    </a:lnB>
                    <a:solidFill>
                      <a:srgbClr val="F7F8FA"/>
                    </a:solidFill>
                  </a:tcPr>
                </a:tc>
                <a:tc>
                  <a:txBody>
                    <a:bodyPr/>
                    <a:lstStyle/>
                    <a:p>
                      <a:pPr indent="0" marL="0">
                        <a:buNone/>
                      </a:pPr>
                      <a:r>
                        <a:rPr lang="en-US" sz="900" b="1" spc="150" kern="0" dirty="0">
                          <a:solidFill>
                            <a:srgbClr val="5C636B"/>
                          </a:solidFill>
                          <a:latin typeface="Consolas" pitchFamily="34" charset="0"/>
                          <a:ea typeface="Consolas" pitchFamily="34" charset="-122"/>
                          <a:cs typeface="Consolas" pitchFamily="34" charset="-120"/>
                        </a:rPr>
                        <a:t>MECHANISM</a:t>
                      </a:r>
                      <a:endParaRPr lang="en-US" sz="900" dirty="0">
                        <a:latin typeface="Consolas" charset="0"/>
                        <a:ea typeface="Consolas" charset="0"/>
                        <a:cs typeface="Consolas" charset="0"/>
                      </a:endParaRPr>
                    </a:p>
                  </a:txBody>
                  <a:tcPr marL="73152" marR="73152" marT="73152" marB="73152">
                    <a:lnL w="6350" cap="flat" cmpd="sng" algn="ctr">
                      <a:solidFill>
                        <a:srgbClr val="D6D9DE"/>
                      </a:solidFill>
                      <a:prstDash val="solid"/>
                      <a:round/>
                      <a:headEnd type="none" w="med" len="med"/>
                      <a:tailEnd type="none" w="med" len="med"/>
                    </a:lnL>
                    <a:lnR w="6350" cap="flat" cmpd="sng" algn="ctr">
                      <a:solidFill>
                        <a:srgbClr val="D6D9DE"/>
                      </a:solidFill>
                      <a:prstDash val="solid"/>
                      <a:round/>
                      <a:headEnd type="none" w="med" len="med"/>
                      <a:tailEnd type="none" w="med" len="med"/>
                    </a:lnR>
                    <a:lnT w="6350" cap="flat" cmpd="sng" algn="ctr">
                      <a:solidFill>
                        <a:srgbClr val="D6D9DE"/>
                      </a:solidFill>
                      <a:prstDash val="solid"/>
                      <a:round/>
                      <a:headEnd type="none" w="med" len="med"/>
                      <a:tailEnd type="none" w="med" len="med"/>
                    </a:lnT>
                    <a:lnB w="6350" cap="flat" cmpd="sng" algn="ctr">
                      <a:solidFill>
                        <a:srgbClr val="D6D9DE"/>
                      </a:solidFill>
                      <a:prstDash val="solid"/>
                      <a:round/>
                      <a:headEnd type="none" w="med" len="med"/>
                      <a:tailEnd type="none" w="med" len="med"/>
                    </a:lnB>
                    <a:solidFill>
                      <a:srgbClr val="F7F8FA"/>
                    </a:solidFill>
                  </a:tcPr>
                </a:tc>
                <a:tc>
                  <a:txBody>
                    <a:bodyPr/>
                    <a:lstStyle/>
                    <a:p>
                      <a:pPr indent="0" marL="0">
                        <a:buNone/>
                      </a:pPr>
                      <a:r>
                        <a:rPr lang="en-US" sz="900" b="1" spc="150" kern="0" dirty="0">
                          <a:solidFill>
                            <a:srgbClr val="5C636B"/>
                          </a:solidFill>
                          <a:latin typeface="Consolas" pitchFamily="34" charset="0"/>
                          <a:ea typeface="Consolas" pitchFamily="34" charset="-122"/>
                          <a:cs typeface="Consolas" pitchFamily="34" charset="-120"/>
                        </a:rPr>
                        <a:t>STANDARD</a:t>
                      </a:r>
                      <a:endParaRPr lang="en-US" sz="900" dirty="0">
                        <a:latin typeface="Consolas" charset="0"/>
                        <a:ea typeface="Consolas" charset="0"/>
                        <a:cs typeface="Consolas" charset="0"/>
                      </a:endParaRPr>
                    </a:p>
                  </a:txBody>
                  <a:tcPr marL="73152" marR="73152" marT="73152" marB="73152">
                    <a:lnL w="6350" cap="flat" cmpd="sng" algn="ctr">
                      <a:solidFill>
                        <a:srgbClr val="D6D9DE"/>
                      </a:solidFill>
                      <a:prstDash val="solid"/>
                      <a:round/>
                      <a:headEnd type="none" w="med" len="med"/>
                      <a:tailEnd type="none" w="med" len="med"/>
                    </a:lnL>
                    <a:lnR w="6350" cap="flat" cmpd="sng" algn="ctr">
                      <a:solidFill>
                        <a:srgbClr val="D6D9DE"/>
                      </a:solidFill>
                      <a:prstDash val="solid"/>
                      <a:round/>
                      <a:headEnd type="none" w="med" len="med"/>
                      <a:tailEnd type="none" w="med" len="med"/>
                    </a:lnR>
                    <a:lnT w="6350" cap="flat" cmpd="sng" algn="ctr">
                      <a:solidFill>
                        <a:srgbClr val="D6D9DE"/>
                      </a:solidFill>
                      <a:prstDash val="solid"/>
                      <a:round/>
                      <a:headEnd type="none" w="med" len="med"/>
                      <a:tailEnd type="none" w="med" len="med"/>
                    </a:lnT>
                    <a:lnB w="6350" cap="flat" cmpd="sng" algn="ctr">
                      <a:solidFill>
                        <a:srgbClr val="D6D9DE"/>
                      </a:solidFill>
                      <a:prstDash val="solid"/>
                      <a:round/>
                      <a:headEnd type="none" w="med" len="med"/>
                      <a:tailEnd type="none" w="med" len="med"/>
                    </a:lnB>
                    <a:solidFill>
                      <a:srgbClr val="F7F8FA"/>
                    </a:solidFill>
                  </a:tcPr>
                </a:tc>
              </a:tr>
              <a:tr h="658368">
                <a:tc>
                  <a:txBody>
                    <a:bodyPr/>
                    <a:lstStyle/>
                    <a:p>
                      <a:pPr indent="0" marL="0">
                        <a:buNone/>
                      </a:pPr>
                      <a:r>
                        <a:rPr lang="en-US" sz="1150" b="1" dirty="0">
                          <a:solidFill>
                            <a:srgbClr val="101114"/>
                          </a:solidFill>
                          <a:latin typeface="Calibri" pitchFamily="34" charset="0"/>
                          <a:ea typeface="Calibri" pitchFamily="34" charset="-122"/>
                          <a:cs typeface="Calibri" pitchFamily="34" charset="-120"/>
                        </a:rPr>
                        <a:t>In transit</a:t>
                      </a:r>
                      <a:endParaRPr lang="en-US" sz="1150" dirty="0">
                        <a:latin typeface="Calibri" charset="0"/>
                        <a:ea typeface="Calibri" charset="0"/>
                        <a:cs typeface="Calibri" charset="0"/>
                      </a:endParaRPr>
                    </a:p>
                  </a:txBody>
                  <a:tcPr marL="73152" marR="73152" marT="73152" marB="73152" anchor="ctr">
                    <a:lnL w="6350" cap="flat" cmpd="sng" algn="ctr">
                      <a:solidFill>
                        <a:srgbClr val="D6D9DE"/>
                      </a:solidFill>
                      <a:prstDash val="solid"/>
                      <a:round/>
                      <a:headEnd type="none" w="med" len="med"/>
                      <a:tailEnd type="none" w="med" len="med"/>
                    </a:lnL>
                    <a:lnR w="6350" cap="flat" cmpd="sng" algn="ctr">
                      <a:solidFill>
                        <a:srgbClr val="D6D9DE"/>
                      </a:solidFill>
                      <a:prstDash val="solid"/>
                      <a:round/>
                      <a:headEnd type="none" w="med" len="med"/>
                      <a:tailEnd type="none" w="med" len="med"/>
                    </a:lnR>
                    <a:lnT w="6350" cap="flat" cmpd="sng" algn="ctr">
                      <a:solidFill>
                        <a:srgbClr val="D6D9DE"/>
                      </a:solidFill>
                      <a:prstDash val="solid"/>
                      <a:round/>
                      <a:headEnd type="none" w="med" len="med"/>
                      <a:tailEnd type="none" w="med" len="med"/>
                    </a:lnT>
                    <a:lnB w="6350" cap="flat" cmpd="sng" algn="ctr">
                      <a:solidFill>
                        <a:srgbClr val="D6D9DE"/>
                      </a:solidFill>
                      <a:prstDash val="solid"/>
                      <a:round/>
                      <a:headEnd type="none" w="med" len="med"/>
                      <a:tailEnd type="none" w="med" len="med"/>
                    </a:lnB>
                    <a:solidFill>
                      <a:srgbClr val="FFFFFF"/>
                    </a:solidFill>
                  </a:tcPr>
                </a:tc>
                <a:tc>
                  <a:txBody>
                    <a:bodyPr/>
                    <a:lstStyle/>
                    <a:p>
                      <a:pPr indent="0" marL="0">
                        <a:buNone/>
                      </a:pPr>
                      <a:r>
                        <a:rPr lang="en-US" sz="1150" dirty="0">
                          <a:solidFill>
                            <a:srgbClr val="383D44"/>
                          </a:solidFill>
                          <a:latin typeface="Calibri" pitchFamily="34" charset="0"/>
                          <a:ea typeface="Calibri" pitchFamily="34" charset="-122"/>
                          <a:cs typeface="Calibri" pitchFamily="34" charset="-120"/>
                        </a:rPr>
                        <a:t>PQ-mTLS between every service and at the edge: hybrid X25519 + ML-KEM-768, session resumption, certified workload identities</a:t>
                      </a:r>
                      <a:endParaRPr lang="en-US" sz="1150" dirty="0">
                        <a:latin typeface="Calibri" charset="0"/>
                        <a:ea typeface="Calibri" charset="0"/>
                        <a:cs typeface="Calibri" charset="0"/>
                      </a:endParaRPr>
                    </a:p>
                  </a:txBody>
                  <a:tcPr marL="73152" marR="73152" marT="73152" marB="73152" anchor="ctr">
                    <a:lnL w="6350" cap="flat" cmpd="sng" algn="ctr">
                      <a:solidFill>
                        <a:srgbClr val="D6D9DE"/>
                      </a:solidFill>
                      <a:prstDash val="solid"/>
                      <a:round/>
                      <a:headEnd type="none" w="med" len="med"/>
                      <a:tailEnd type="none" w="med" len="med"/>
                    </a:lnL>
                    <a:lnR w="6350" cap="flat" cmpd="sng" algn="ctr">
                      <a:solidFill>
                        <a:srgbClr val="D6D9DE"/>
                      </a:solidFill>
                      <a:prstDash val="solid"/>
                      <a:round/>
                      <a:headEnd type="none" w="med" len="med"/>
                      <a:tailEnd type="none" w="med" len="med"/>
                    </a:lnR>
                    <a:lnT w="6350" cap="flat" cmpd="sng" algn="ctr">
                      <a:solidFill>
                        <a:srgbClr val="D6D9DE"/>
                      </a:solidFill>
                      <a:prstDash val="solid"/>
                      <a:round/>
                      <a:headEnd type="none" w="med" len="med"/>
                      <a:tailEnd type="none" w="med" len="med"/>
                    </a:lnT>
                    <a:lnB w="6350" cap="flat" cmpd="sng" algn="ctr">
                      <a:solidFill>
                        <a:srgbClr val="D6D9DE"/>
                      </a:solidFill>
                      <a:prstDash val="solid"/>
                      <a:round/>
                      <a:headEnd type="none" w="med" len="med"/>
                      <a:tailEnd type="none" w="med" len="med"/>
                    </a:lnB>
                    <a:solidFill>
                      <a:srgbClr val="FFFFFF"/>
                    </a:solidFill>
                  </a:tcPr>
                </a:tc>
                <a:tc>
                  <a:txBody>
                    <a:bodyPr/>
                    <a:lstStyle/>
                    <a:p>
                      <a:pPr indent="0" marL="0">
                        <a:buNone/>
                      </a:pPr>
                      <a:r>
                        <a:rPr lang="en-US" sz="1000" dirty="0">
                          <a:solidFill>
                            <a:srgbClr val="383D44"/>
                          </a:solidFill>
                          <a:latin typeface="Consolas" pitchFamily="34" charset="0"/>
                          <a:ea typeface="Consolas" pitchFamily="34" charset="-122"/>
                          <a:cs typeface="Consolas" pitchFamily="34" charset="-120"/>
                        </a:rPr>
                        <a:t>NIST FIPS 203</a:t>
                      </a:r>
                      <a:endParaRPr lang="en-US" sz="1000" dirty="0">
                        <a:latin typeface="Consolas" charset="0"/>
                        <a:ea typeface="Consolas" charset="0"/>
                        <a:cs typeface="Consolas" charset="0"/>
                      </a:endParaRPr>
                    </a:p>
                  </a:txBody>
                  <a:tcPr marL="73152" marR="73152" marT="73152" marB="73152" anchor="ctr">
                    <a:lnL w="6350" cap="flat" cmpd="sng" algn="ctr">
                      <a:solidFill>
                        <a:srgbClr val="D6D9DE"/>
                      </a:solidFill>
                      <a:prstDash val="solid"/>
                      <a:round/>
                      <a:headEnd type="none" w="med" len="med"/>
                      <a:tailEnd type="none" w="med" len="med"/>
                    </a:lnL>
                    <a:lnR w="6350" cap="flat" cmpd="sng" algn="ctr">
                      <a:solidFill>
                        <a:srgbClr val="D6D9DE"/>
                      </a:solidFill>
                      <a:prstDash val="solid"/>
                      <a:round/>
                      <a:headEnd type="none" w="med" len="med"/>
                      <a:tailEnd type="none" w="med" len="med"/>
                    </a:lnR>
                    <a:lnT w="6350" cap="flat" cmpd="sng" algn="ctr">
                      <a:solidFill>
                        <a:srgbClr val="D6D9DE"/>
                      </a:solidFill>
                      <a:prstDash val="solid"/>
                      <a:round/>
                      <a:headEnd type="none" w="med" len="med"/>
                      <a:tailEnd type="none" w="med" len="med"/>
                    </a:lnT>
                    <a:lnB w="6350" cap="flat" cmpd="sng" algn="ctr">
                      <a:solidFill>
                        <a:srgbClr val="D6D9DE"/>
                      </a:solidFill>
                      <a:prstDash val="solid"/>
                      <a:round/>
                      <a:headEnd type="none" w="med" len="med"/>
                      <a:tailEnd type="none" w="med" len="med"/>
                    </a:lnB>
                    <a:solidFill>
                      <a:srgbClr val="FFFFFF"/>
                    </a:solidFill>
                  </a:tcPr>
                </a:tc>
              </a:tr>
              <a:tr h="658368">
                <a:tc>
                  <a:txBody>
                    <a:bodyPr/>
                    <a:lstStyle/>
                    <a:p>
                      <a:pPr indent="0" marL="0">
                        <a:buNone/>
                      </a:pPr>
                      <a:r>
                        <a:rPr lang="en-US" sz="1150" b="1" dirty="0">
                          <a:solidFill>
                            <a:srgbClr val="101114"/>
                          </a:solidFill>
                          <a:latin typeface="Calibri" pitchFamily="34" charset="0"/>
                          <a:ea typeface="Calibri" pitchFamily="34" charset="-122"/>
                          <a:cs typeface="Calibri" pitchFamily="34" charset="-120"/>
                        </a:rPr>
                        <a:t>At rest</a:t>
                      </a:r>
                      <a:endParaRPr lang="en-US" sz="1150" dirty="0">
                        <a:latin typeface="Calibri" charset="0"/>
                        <a:ea typeface="Calibri" charset="0"/>
                        <a:cs typeface="Calibri" charset="0"/>
                      </a:endParaRPr>
                    </a:p>
                  </a:txBody>
                  <a:tcPr marL="73152" marR="73152" marT="73152" marB="73152" anchor="ctr">
                    <a:lnL w="6350" cap="flat" cmpd="sng" algn="ctr">
                      <a:solidFill>
                        <a:srgbClr val="D6D9DE"/>
                      </a:solidFill>
                      <a:prstDash val="solid"/>
                      <a:round/>
                      <a:headEnd type="none" w="med" len="med"/>
                      <a:tailEnd type="none" w="med" len="med"/>
                    </a:lnL>
                    <a:lnR w="6350" cap="flat" cmpd="sng" algn="ctr">
                      <a:solidFill>
                        <a:srgbClr val="D6D9DE"/>
                      </a:solidFill>
                      <a:prstDash val="solid"/>
                      <a:round/>
                      <a:headEnd type="none" w="med" len="med"/>
                      <a:tailEnd type="none" w="med" len="med"/>
                    </a:lnR>
                    <a:lnT w="6350" cap="flat" cmpd="sng" algn="ctr">
                      <a:solidFill>
                        <a:srgbClr val="D6D9DE"/>
                      </a:solidFill>
                      <a:prstDash val="solid"/>
                      <a:round/>
                      <a:headEnd type="none" w="med" len="med"/>
                      <a:tailEnd type="none" w="med" len="med"/>
                    </a:lnT>
                    <a:lnB w="6350" cap="flat" cmpd="sng" algn="ctr">
                      <a:solidFill>
                        <a:srgbClr val="D6D9DE"/>
                      </a:solidFill>
                      <a:prstDash val="solid"/>
                      <a:round/>
                      <a:headEnd type="none" w="med" len="med"/>
                      <a:tailEnd type="none" w="med" len="med"/>
                    </a:lnB>
                    <a:solidFill>
                      <a:srgbClr val="FFFFFF"/>
                    </a:solidFill>
                  </a:tcPr>
                </a:tc>
                <a:tc>
                  <a:txBody>
                    <a:bodyPr/>
                    <a:lstStyle/>
                    <a:p>
                      <a:pPr indent="0" marL="0">
                        <a:buNone/>
                      </a:pPr>
                      <a:r>
                        <a:rPr lang="en-US" sz="1150" dirty="0">
                          <a:solidFill>
                            <a:srgbClr val="383D44"/>
                          </a:solidFill>
                          <a:latin typeface="Calibri" pitchFamily="34" charset="0"/>
                          <a:ea typeface="Calibri" pitchFamily="34" charset="-122"/>
                          <a:cs typeface="Calibri" pitchFamily="34" charset="-120"/>
                        </a:rPr>
                        <a:t>AES-256-GCM data keys wrapped under ML-KEM-1024 custody roots; every stateful store is a sealed, append-only journal</a:t>
                      </a:r>
                      <a:endParaRPr lang="en-US" sz="1150" dirty="0">
                        <a:latin typeface="Calibri" charset="0"/>
                        <a:ea typeface="Calibri" charset="0"/>
                        <a:cs typeface="Calibri" charset="0"/>
                      </a:endParaRPr>
                    </a:p>
                  </a:txBody>
                  <a:tcPr marL="73152" marR="73152" marT="73152" marB="73152" anchor="ctr">
                    <a:lnL w="6350" cap="flat" cmpd="sng" algn="ctr">
                      <a:solidFill>
                        <a:srgbClr val="D6D9DE"/>
                      </a:solidFill>
                      <a:prstDash val="solid"/>
                      <a:round/>
                      <a:headEnd type="none" w="med" len="med"/>
                      <a:tailEnd type="none" w="med" len="med"/>
                    </a:lnL>
                    <a:lnR w="6350" cap="flat" cmpd="sng" algn="ctr">
                      <a:solidFill>
                        <a:srgbClr val="D6D9DE"/>
                      </a:solidFill>
                      <a:prstDash val="solid"/>
                      <a:round/>
                      <a:headEnd type="none" w="med" len="med"/>
                      <a:tailEnd type="none" w="med" len="med"/>
                    </a:lnR>
                    <a:lnT w="6350" cap="flat" cmpd="sng" algn="ctr">
                      <a:solidFill>
                        <a:srgbClr val="D6D9DE"/>
                      </a:solidFill>
                      <a:prstDash val="solid"/>
                      <a:round/>
                      <a:headEnd type="none" w="med" len="med"/>
                      <a:tailEnd type="none" w="med" len="med"/>
                    </a:lnT>
                    <a:lnB w="6350" cap="flat" cmpd="sng" algn="ctr">
                      <a:solidFill>
                        <a:srgbClr val="D6D9DE"/>
                      </a:solidFill>
                      <a:prstDash val="solid"/>
                      <a:round/>
                      <a:headEnd type="none" w="med" len="med"/>
                      <a:tailEnd type="none" w="med" len="med"/>
                    </a:lnB>
                    <a:solidFill>
                      <a:srgbClr val="FFFFFF"/>
                    </a:solidFill>
                  </a:tcPr>
                </a:tc>
                <a:tc>
                  <a:txBody>
                    <a:bodyPr/>
                    <a:lstStyle/>
                    <a:p>
                      <a:pPr indent="0" marL="0">
                        <a:buNone/>
                      </a:pPr>
                      <a:r>
                        <a:rPr lang="en-US" sz="1000" dirty="0">
                          <a:solidFill>
                            <a:srgbClr val="383D44"/>
                          </a:solidFill>
                          <a:latin typeface="Consolas" pitchFamily="34" charset="0"/>
                          <a:ea typeface="Consolas" pitchFamily="34" charset="-122"/>
                          <a:cs typeface="Consolas" pitchFamily="34" charset="-120"/>
                        </a:rPr>
                        <a:t>FIPS 203 · SP 800-38D</a:t>
                      </a:r>
                      <a:endParaRPr lang="en-US" sz="1000" dirty="0">
                        <a:latin typeface="Consolas" charset="0"/>
                        <a:ea typeface="Consolas" charset="0"/>
                        <a:cs typeface="Consolas" charset="0"/>
                      </a:endParaRPr>
                    </a:p>
                  </a:txBody>
                  <a:tcPr marL="73152" marR="73152" marT="73152" marB="73152" anchor="ctr">
                    <a:lnL w="6350" cap="flat" cmpd="sng" algn="ctr">
                      <a:solidFill>
                        <a:srgbClr val="D6D9DE"/>
                      </a:solidFill>
                      <a:prstDash val="solid"/>
                      <a:round/>
                      <a:headEnd type="none" w="med" len="med"/>
                      <a:tailEnd type="none" w="med" len="med"/>
                    </a:lnL>
                    <a:lnR w="6350" cap="flat" cmpd="sng" algn="ctr">
                      <a:solidFill>
                        <a:srgbClr val="D6D9DE"/>
                      </a:solidFill>
                      <a:prstDash val="solid"/>
                      <a:round/>
                      <a:headEnd type="none" w="med" len="med"/>
                      <a:tailEnd type="none" w="med" len="med"/>
                    </a:lnR>
                    <a:lnT w="6350" cap="flat" cmpd="sng" algn="ctr">
                      <a:solidFill>
                        <a:srgbClr val="D6D9DE"/>
                      </a:solidFill>
                      <a:prstDash val="solid"/>
                      <a:round/>
                      <a:headEnd type="none" w="med" len="med"/>
                      <a:tailEnd type="none" w="med" len="med"/>
                    </a:lnT>
                    <a:lnB w="6350" cap="flat" cmpd="sng" algn="ctr">
                      <a:solidFill>
                        <a:srgbClr val="D6D9DE"/>
                      </a:solidFill>
                      <a:prstDash val="solid"/>
                      <a:round/>
                      <a:headEnd type="none" w="med" len="med"/>
                      <a:tailEnd type="none" w="med" len="med"/>
                    </a:lnB>
                    <a:solidFill>
                      <a:srgbClr val="FFFFFF"/>
                    </a:solidFill>
                  </a:tcPr>
                </a:tc>
              </a:tr>
              <a:tr h="658368">
                <a:tc>
                  <a:txBody>
                    <a:bodyPr/>
                    <a:lstStyle/>
                    <a:p>
                      <a:pPr indent="0" marL="0">
                        <a:buNone/>
                      </a:pPr>
                      <a:r>
                        <a:rPr lang="en-US" sz="1150" b="1" dirty="0">
                          <a:solidFill>
                            <a:srgbClr val="101114"/>
                          </a:solidFill>
                          <a:latin typeface="Calibri" pitchFamily="34" charset="0"/>
                          <a:ea typeface="Calibri" pitchFamily="34" charset="-122"/>
                          <a:cs typeface="Calibri" pitchFamily="34" charset="-120"/>
                        </a:rPr>
                        <a:t>Identity &amp; tokens</a:t>
                      </a:r>
                      <a:endParaRPr lang="en-US" sz="1150" dirty="0">
                        <a:latin typeface="Calibri" charset="0"/>
                        <a:ea typeface="Calibri" charset="0"/>
                        <a:cs typeface="Calibri" charset="0"/>
                      </a:endParaRPr>
                    </a:p>
                  </a:txBody>
                  <a:tcPr marL="73152" marR="73152" marT="73152" marB="73152" anchor="ctr">
                    <a:lnL w="6350" cap="flat" cmpd="sng" algn="ctr">
                      <a:solidFill>
                        <a:srgbClr val="D6D9DE"/>
                      </a:solidFill>
                      <a:prstDash val="solid"/>
                      <a:round/>
                      <a:headEnd type="none" w="med" len="med"/>
                      <a:tailEnd type="none" w="med" len="med"/>
                    </a:lnL>
                    <a:lnR w="6350" cap="flat" cmpd="sng" algn="ctr">
                      <a:solidFill>
                        <a:srgbClr val="D6D9DE"/>
                      </a:solidFill>
                      <a:prstDash val="solid"/>
                      <a:round/>
                      <a:headEnd type="none" w="med" len="med"/>
                      <a:tailEnd type="none" w="med" len="med"/>
                    </a:lnR>
                    <a:lnT w="6350" cap="flat" cmpd="sng" algn="ctr">
                      <a:solidFill>
                        <a:srgbClr val="D6D9DE"/>
                      </a:solidFill>
                      <a:prstDash val="solid"/>
                      <a:round/>
                      <a:headEnd type="none" w="med" len="med"/>
                      <a:tailEnd type="none" w="med" len="med"/>
                    </a:lnT>
                    <a:lnB w="6350" cap="flat" cmpd="sng" algn="ctr">
                      <a:solidFill>
                        <a:srgbClr val="D6D9DE"/>
                      </a:solidFill>
                      <a:prstDash val="solid"/>
                      <a:round/>
                      <a:headEnd type="none" w="med" len="med"/>
                      <a:tailEnd type="none" w="med" len="med"/>
                    </a:lnB>
                    <a:solidFill>
                      <a:srgbClr val="FFFFFF"/>
                    </a:solidFill>
                  </a:tcPr>
                </a:tc>
                <a:tc>
                  <a:txBody>
                    <a:bodyPr/>
                    <a:lstStyle/>
                    <a:p>
                      <a:pPr indent="0" marL="0">
                        <a:buNone/>
                      </a:pPr>
                      <a:r>
                        <a:rPr lang="en-US" sz="1150" dirty="0">
                          <a:solidFill>
                            <a:srgbClr val="383D44"/>
                          </a:solidFill>
                          <a:latin typeface="Calibri" pitchFamily="34" charset="0"/>
                          <a:ea typeface="Calibri" pitchFamily="34" charset="-122"/>
                          <a:cs typeface="Calibri" pitchFamily="34" charset="-120"/>
                        </a:rPr>
                        <a:t>ML-DSA-65 for issuer, audit and mesh keys; ML-DSA-signed session tokens and admin passkeys</a:t>
                      </a:r>
                      <a:endParaRPr lang="en-US" sz="1150" dirty="0">
                        <a:latin typeface="Calibri" charset="0"/>
                        <a:ea typeface="Calibri" charset="0"/>
                        <a:cs typeface="Calibri" charset="0"/>
                      </a:endParaRPr>
                    </a:p>
                  </a:txBody>
                  <a:tcPr marL="73152" marR="73152" marT="73152" marB="73152" anchor="ctr">
                    <a:lnL w="6350" cap="flat" cmpd="sng" algn="ctr">
                      <a:solidFill>
                        <a:srgbClr val="D6D9DE"/>
                      </a:solidFill>
                      <a:prstDash val="solid"/>
                      <a:round/>
                      <a:headEnd type="none" w="med" len="med"/>
                      <a:tailEnd type="none" w="med" len="med"/>
                    </a:lnL>
                    <a:lnR w="6350" cap="flat" cmpd="sng" algn="ctr">
                      <a:solidFill>
                        <a:srgbClr val="D6D9DE"/>
                      </a:solidFill>
                      <a:prstDash val="solid"/>
                      <a:round/>
                      <a:headEnd type="none" w="med" len="med"/>
                      <a:tailEnd type="none" w="med" len="med"/>
                    </a:lnR>
                    <a:lnT w="6350" cap="flat" cmpd="sng" algn="ctr">
                      <a:solidFill>
                        <a:srgbClr val="D6D9DE"/>
                      </a:solidFill>
                      <a:prstDash val="solid"/>
                      <a:round/>
                      <a:headEnd type="none" w="med" len="med"/>
                      <a:tailEnd type="none" w="med" len="med"/>
                    </a:lnT>
                    <a:lnB w="6350" cap="flat" cmpd="sng" algn="ctr">
                      <a:solidFill>
                        <a:srgbClr val="D6D9DE"/>
                      </a:solidFill>
                      <a:prstDash val="solid"/>
                      <a:round/>
                      <a:headEnd type="none" w="med" len="med"/>
                      <a:tailEnd type="none" w="med" len="med"/>
                    </a:lnB>
                    <a:solidFill>
                      <a:srgbClr val="FFFFFF"/>
                    </a:solidFill>
                  </a:tcPr>
                </a:tc>
                <a:tc>
                  <a:txBody>
                    <a:bodyPr/>
                    <a:lstStyle/>
                    <a:p>
                      <a:pPr indent="0" marL="0">
                        <a:buNone/>
                      </a:pPr>
                      <a:r>
                        <a:rPr lang="en-US" sz="1000" dirty="0">
                          <a:solidFill>
                            <a:srgbClr val="383D44"/>
                          </a:solidFill>
                          <a:latin typeface="Consolas" pitchFamily="34" charset="0"/>
                          <a:ea typeface="Consolas" pitchFamily="34" charset="-122"/>
                          <a:cs typeface="Consolas" pitchFamily="34" charset="-120"/>
                        </a:rPr>
                        <a:t>NIST FIPS 204</a:t>
                      </a:r>
                      <a:endParaRPr lang="en-US" sz="1000" dirty="0">
                        <a:latin typeface="Consolas" charset="0"/>
                        <a:ea typeface="Consolas" charset="0"/>
                        <a:cs typeface="Consolas" charset="0"/>
                      </a:endParaRPr>
                    </a:p>
                  </a:txBody>
                  <a:tcPr marL="73152" marR="73152" marT="73152" marB="73152" anchor="ctr">
                    <a:lnL w="6350" cap="flat" cmpd="sng" algn="ctr">
                      <a:solidFill>
                        <a:srgbClr val="D6D9DE"/>
                      </a:solidFill>
                      <a:prstDash val="solid"/>
                      <a:round/>
                      <a:headEnd type="none" w="med" len="med"/>
                      <a:tailEnd type="none" w="med" len="med"/>
                    </a:lnL>
                    <a:lnR w="6350" cap="flat" cmpd="sng" algn="ctr">
                      <a:solidFill>
                        <a:srgbClr val="D6D9DE"/>
                      </a:solidFill>
                      <a:prstDash val="solid"/>
                      <a:round/>
                      <a:headEnd type="none" w="med" len="med"/>
                      <a:tailEnd type="none" w="med" len="med"/>
                    </a:lnR>
                    <a:lnT w="6350" cap="flat" cmpd="sng" algn="ctr">
                      <a:solidFill>
                        <a:srgbClr val="D6D9DE"/>
                      </a:solidFill>
                      <a:prstDash val="solid"/>
                      <a:round/>
                      <a:headEnd type="none" w="med" len="med"/>
                      <a:tailEnd type="none" w="med" len="med"/>
                    </a:lnT>
                    <a:lnB w="6350" cap="flat" cmpd="sng" algn="ctr">
                      <a:solidFill>
                        <a:srgbClr val="D6D9DE"/>
                      </a:solidFill>
                      <a:prstDash val="solid"/>
                      <a:round/>
                      <a:headEnd type="none" w="med" len="med"/>
                      <a:tailEnd type="none" w="med" len="med"/>
                    </a:lnB>
                    <a:solidFill>
                      <a:srgbClr val="FFFFFF"/>
                    </a:solidFill>
                  </a:tcPr>
                </a:tc>
              </a:tr>
              <a:tr h="658368">
                <a:tc>
                  <a:txBody>
                    <a:bodyPr/>
                    <a:lstStyle/>
                    <a:p>
                      <a:pPr indent="0" marL="0">
                        <a:buNone/>
                      </a:pPr>
                      <a:r>
                        <a:rPr lang="en-US" sz="1150" b="1" dirty="0">
                          <a:solidFill>
                            <a:srgbClr val="101114"/>
                          </a:solidFill>
                          <a:latin typeface="Calibri" pitchFamily="34" charset="0"/>
                          <a:ea typeface="Calibri" pitchFamily="34" charset="-122"/>
                          <a:cs typeface="Calibri" pitchFamily="34" charset="-120"/>
                        </a:rPr>
                        <a:t>Release signing</a:t>
                      </a:r>
                      <a:endParaRPr lang="en-US" sz="1150" dirty="0">
                        <a:latin typeface="Calibri" charset="0"/>
                        <a:ea typeface="Calibri" charset="0"/>
                        <a:cs typeface="Calibri" charset="0"/>
                      </a:endParaRPr>
                    </a:p>
                  </a:txBody>
                  <a:tcPr marL="73152" marR="73152" marT="73152" marB="73152" anchor="ctr">
                    <a:lnL w="6350" cap="flat" cmpd="sng" algn="ctr">
                      <a:solidFill>
                        <a:srgbClr val="D6D9DE"/>
                      </a:solidFill>
                      <a:prstDash val="solid"/>
                      <a:round/>
                      <a:headEnd type="none" w="med" len="med"/>
                      <a:tailEnd type="none" w="med" len="med"/>
                    </a:lnL>
                    <a:lnR w="6350" cap="flat" cmpd="sng" algn="ctr">
                      <a:solidFill>
                        <a:srgbClr val="D6D9DE"/>
                      </a:solidFill>
                      <a:prstDash val="solid"/>
                      <a:round/>
                      <a:headEnd type="none" w="med" len="med"/>
                      <a:tailEnd type="none" w="med" len="med"/>
                    </a:lnR>
                    <a:lnT w="6350" cap="flat" cmpd="sng" algn="ctr">
                      <a:solidFill>
                        <a:srgbClr val="D6D9DE"/>
                      </a:solidFill>
                      <a:prstDash val="solid"/>
                      <a:round/>
                      <a:headEnd type="none" w="med" len="med"/>
                      <a:tailEnd type="none" w="med" len="med"/>
                    </a:lnT>
                    <a:lnB w="6350" cap="flat" cmpd="sng" algn="ctr">
                      <a:solidFill>
                        <a:srgbClr val="D6D9DE"/>
                      </a:solidFill>
                      <a:prstDash val="solid"/>
                      <a:round/>
                      <a:headEnd type="none" w="med" len="med"/>
                      <a:tailEnd type="none" w="med" len="med"/>
                    </a:lnB>
                    <a:solidFill>
                      <a:srgbClr val="FFFFFF"/>
                    </a:solidFill>
                  </a:tcPr>
                </a:tc>
                <a:tc>
                  <a:txBody>
                    <a:bodyPr/>
                    <a:lstStyle/>
                    <a:p>
                      <a:pPr indent="0" marL="0">
                        <a:buNone/>
                      </a:pPr>
                      <a:r>
                        <a:rPr lang="en-US" sz="1150" dirty="0">
                          <a:solidFill>
                            <a:srgbClr val="383D44"/>
                          </a:solidFill>
                          <a:latin typeface="Calibri" pitchFamily="34" charset="0"/>
                          <a:ea typeface="Calibri" pitchFamily="34" charset="-122"/>
                          <a:cs typeface="Calibri" pitchFamily="34" charset="-120"/>
                        </a:rPr>
                        <a:t>ML-DSA-87 release key; ML-DSA-65 Bifrost admission key; SLH-DSA available for long-lived artefacts</a:t>
                      </a:r>
                      <a:endParaRPr lang="en-US" sz="1150" dirty="0">
                        <a:latin typeface="Calibri" charset="0"/>
                        <a:ea typeface="Calibri" charset="0"/>
                        <a:cs typeface="Calibri" charset="0"/>
                      </a:endParaRPr>
                    </a:p>
                  </a:txBody>
                  <a:tcPr marL="73152" marR="73152" marT="73152" marB="73152" anchor="ctr">
                    <a:lnL w="6350" cap="flat" cmpd="sng" algn="ctr">
                      <a:solidFill>
                        <a:srgbClr val="D6D9DE"/>
                      </a:solidFill>
                      <a:prstDash val="solid"/>
                      <a:round/>
                      <a:headEnd type="none" w="med" len="med"/>
                      <a:tailEnd type="none" w="med" len="med"/>
                    </a:lnL>
                    <a:lnR w="6350" cap="flat" cmpd="sng" algn="ctr">
                      <a:solidFill>
                        <a:srgbClr val="D6D9DE"/>
                      </a:solidFill>
                      <a:prstDash val="solid"/>
                      <a:round/>
                      <a:headEnd type="none" w="med" len="med"/>
                      <a:tailEnd type="none" w="med" len="med"/>
                    </a:lnR>
                    <a:lnT w="6350" cap="flat" cmpd="sng" algn="ctr">
                      <a:solidFill>
                        <a:srgbClr val="D6D9DE"/>
                      </a:solidFill>
                      <a:prstDash val="solid"/>
                      <a:round/>
                      <a:headEnd type="none" w="med" len="med"/>
                      <a:tailEnd type="none" w="med" len="med"/>
                    </a:lnT>
                    <a:lnB w="6350" cap="flat" cmpd="sng" algn="ctr">
                      <a:solidFill>
                        <a:srgbClr val="D6D9DE"/>
                      </a:solidFill>
                      <a:prstDash val="solid"/>
                      <a:round/>
                      <a:headEnd type="none" w="med" len="med"/>
                      <a:tailEnd type="none" w="med" len="med"/>
                    </a:lnB>
                    <a:solidFill>
                      <a:srgbClr val="FFFFFF"/>
                    </a:solidFill>
                  </a:tcPr>
                </a:tc>
                <a:tc>
                  <a:txBody>
                    <a:bodyPr/>
                    <a:lstStyle/>
                    <a:p>
                      <a:pPr indent="0" marL="0">
                        <a:buNone/>
                      </a:pPr>
                      <a:r>
                        <a:rPr lang="en-US" sz="1000" dirty="0">
                          <a:solidFill>
                            <a:srgbClr val="383D44"/>
                          </a:solidFill>
                          <a:latin typeface="Consolas" pitchFamily="34" charset="0"/>
                          <a:ea typeface="Consolas" pitchFamily="34" charset="-122"/>
                          <a:cs typeface="Consolas" pitchFamily="34" charset="-120"/>
                        </a:rPr>
                        <a:t>FIPS 204 · FIPS 205</a:t>
                      </a:r>
                      <a:endParaRPr lang="en-US" sz="1000" dirty="0">
                        <a:latin typeface="Consolas" charset="0"/>
                        <a:ea typeface="Consolas" charset="0"/>
                        <a:cs typeface="Consolas" charset="0"/>
                      </a:endParaRPr>
                    </a:p>
                  </a:txBody>
                  <a:tcPr marL="73152" marR="73152" marT="73152" marB="73152" anchor="ctr">
                    <a:lnL w="6350" cap="flat" cmpd="sng" algn="ctr">
                      <a:solidFill>
                        <a:srgbClr val="D6D9DE"/>
                      </a:solidFill>
                      <a:prstDash val="solid"/>
                      <a:round/>
                      <a:headEnd type="none" w="med" len="med"/>
                      <a:tailEnd type="none" w="med" len="med"/>
                    </a:lnL>
                    <a:lnR w="6350" cap="flat" cmpd="sng" algn="ctr">
                      <a:solidFill>
                        <a:srgbClr val="D6D9DE"/>
                      </a:solidFill>
                      <a:prstDash val="solid"/>
                      <a:round/>
                      <a:headEnd type="none" w="med" len="med"/>
                      <a:tailEnd type="none" w="med" len="med"/>
                    </a:lnR>
                    <a:lnT w="6350" cap="flat" cmpd="sng" algn="ctr">
                      <a:solidFill>
                        <a:srgbClr val="D6D9DE"/>
                      </a:solidFill>
                      <a:prstDash val="solid"/>
                      <a:round/>
                      <a:headEnd type="none" w="med" len="med"/>
                      <a:tailEnd type="none" w="med" len="med"/>
                    </a:lnT>
                    <a:lnB w="6350" cap="flat" cmpd="sng" algn="ctr">
                      <a:solidFill>
                        <a:srgbClr val="D6D9DE"/>
                      </a:solidFill>
                      <a:prstDash val="solid"/>
                      <a:round/>
                      <a:headEnd type="none" w="med" len="med"/>
                      <a:tailEnd type="none" w="med" len="med"/>
                    </a:lnB>
                    <a:solidFill>
                      <a:srgbClr val="FFFFFF"/>
                    </a:solidFill>
                  </a:tcPr>
                </a:tc>
              </a:tr>
              <a:tr h="658368">
                <a:tc>
                  <a:txBody>
                    <a:bodyPr/>
                    <a:lstStyle/>
                    <a:p>
                      <a:pPr indent="0" marL="0">
                        <a:buNone/>
                      </a:pPr>
                      <a:r>
                        <a:rPr lang="en-US" sz="1150" b="1" dirty="0">
                          <a:solidFill>
                            <a:srgbClr val="101114"/>
                          </a:solidFill>
                          <a:latin typeface="Calibri" pitchFamily="34" charset="0"/>
                          <a:ea typeface="Calibri" pitchFamily="34" charset="-122"/>
                          <a:cs typeface="Calibri" pitchFamily="34" charset="-120"/>
                        </a:rPr>
                        <a:t>Agility</a:t>
                      </a:r>
                      <a:endParaRPr lang="en-US" sz="1150" dirty="0">
                        <a:latin typeface="Calibri" charset="0"/>
                        <a:ea typeface="Calibri" charset="0"/>
                        <a:cs typeface="Calibri" charset="0"/>
                      </a:endParaRPr>
                    </a:p>
                  </a:txBody>
                  <a:tcPr marL="73152" marR="73152" marT="73152" marB="73152" anchor="ctr">
                    <a:lnL w="6350" cap="flat" cmpd="sng" algn="ctr">
                      <a:solidFill>
                        <a:srgbClr val="D6D9DE"/>
                      </a:solidFill>
                      <a:prstDash val="solid"/>
                      <a:round/>
                      <a:headEnd type="none" w="med" len="med"/>
                      <a:tailEnd type="none" w="med" len="med"/>
                    </a:lnL>
                    <a:lnR w="6350" cap="flat" cmpd="sng" algn="ctr">
                      <a:solidFill>
                        <a:srgbClr val="D6D9DE"/>
                      </a:solidFill>
                      <a:prstDash val="solid"/>
                      <a:round/>
                      <a:headEnd type="none" w="med" len="med"/>
                      <a:tailEnd type="none" w="med" len="med"/>
                    </a:lnR>
                    <a:lnT w="6350" cap="flat" cmpd="sng" algn="ctr">
                      <a:solidFill>
                        <a:srgbClr val="D6D9DE"/>
                      </a:solidFill>
                      <a:prstDash val="solid"/>
                      <a:round/>
                      <a:headEnd type="none" w="med" len="med"/>
                      <a:tailEnd type="none" w="med" len="med"/>
                    </a:lnT>
                    <a:lnB w="6350" cap="flat" cmpd="sng" algn="ctr">
                      <a:solidFill>
                        <a:srgbClr val="D6D9DE"/>
                      </a:solidFill>
                      <a:prstDash val="solid"/>
                      <a:round/>
                      <a:headEnd type="none" w="med" len="med"/>
                      <a:tailEnd type="none" w="med" len="med"/>
                    </a:lnB>
                    <a:solidFill>
                      <a:srgbClr val="FFFFFF"/>
                    </a:solidFill>
                  </a:tcPr>
                </a:tc>
                <a:tc>
                  <a:txBody>
                    <a:bodyPr/>
                    <a:lstStyle/>
                    <a:p>
                      <a:pPr indent="0" marL="0">
                        <a:buNone/>
                      </a:pPr>
                      <a:r>
                        <a:rPr lang="en-US" sz="1150" dirty="0">
                          <a:solidFill>
                            <a:srgbClr val="383D44"/>
                          </a:solidFill>
                          <a:latin typeface="Calibri" pitchFamily="34" charset="0"/>
                          <a:ea typeface="Calibri" pitchFamily="34" charset="-122"/>
                          <a:cs typeface="Calibri" pitchFamily="34" charset="-120"/>
                        </a:rPr>
                        <a:t>Pluggable backends; the FIPS backend passes ACVP known-answer tests in-repo; backends are mutually exclusive at compile time</a:t>
                      </a:r>
                      <a:endParaRPr lang="en-US" sz="1150" dirty="0">
                        <a:latin typeface="Calibri" charset="0"/>
                        <a:ea typeface="Calibri" charset="0"/>
                        <a:cs typeface="Calibri" charset="0"/>
                      </a:endParaRPr>
                    </a:p>
                  </a:txBody>
                  <a:tcPr marL="73152" marR="73152" marT="73152" marB="73152" anchor="ctr">
                    <a:lnL w="6350" cap="flat" cmpd="sng" algn="ctr">
                      <a:solidFill>
                        <a:srgbClr val="D6D9DE"/>
                      </a:solidFill>
                      <a:prstDash val="solid"/>
                      <a:round/>
                      <a:headEnd type="none" w="med" len="med"/>
                      <a:tailEnd type="none" w="med" len="med"/>
                    </a:lnL>
                    <a:lnR w="6350" cap="flat" cmpd="sng" algn="ctr">
                      <a:solidFill>
                        <a:srgbClr val="D6D9DE"/>
                      </a:solidFill>
                      <a:prstDash val="solid"/>
                      <a:round/>
                      <a:headEnd type="none" w="med" len="med"/>
                      <a:tailEnd type="none" w="med" len="med"/>
                    </a:lnR>
                    <a:lnT w="6350" cap="flat" cmpd="sng" algn="ctr">
                      <a:solidFill>
                        <a:srgbClr val="D6D9DE"/>
                      </a:solidFill>
                      <a:prstDash val="solid"/>
                      <a:round/>
                      <a:headEnd type="none" w="med" len="med"/>
                      <a:tailEnd type="none" w="med" len="med"/>
                    </a:lnT>
                    <a:lnB w="6350" cap="flat" cmpd="sng" algn="ctr">
                      <a:solidFill>
                        <a:srgbClr val="D6D9DE"/>
                      </a:solidFill>
                      <a:prstDash val="solid"/>
                      <a:round/>
                      <a:headEnd type="none" w="med" len="med"/>
                      <a:tailEnd type="none" w="med" len="med"/>
                    </a:lnB>
                    <a:solidFill>
                      <a:srgbClr val="FFFFFF"/>
                    </a:solidFill>
                  </a:tcPr>
                </a:tc>
                <a:tc>
                  <a:txBody>
                    <a:bodyPr/>
                    <a:lstStyle/>
                    <a:p>
                      <a:pPr indent="0" marL="0">
                        <a:buNone/>
                      </a:pPr>
                      <a:r>
                        <a:rPr lang="en-US" sz="1000" dirty="0">
                          <a:solidFill>
                            <a:srgbClr val="383D44"/>
                          </a:solidFill>
                          <a:latin typeface="Consolas" pitchFamily="34" charset="0"/>
                          <a:ea typeface="Consolas" pitchFamily="34" charset="-122"/>
                          <a:cs typeface="Consolas" pitchFamily="34" charset="-120"/>
                        </a:rPr>
                        <a:t>ACVP KATs</a:t>
                      </a:r>
                      <a:endParaRPr lang="en-US" sz="1000" dirty="0">
                        <a:latin typeface="Consolas" charset="0"/>
                        <a:ea typeface="Consolas" charset="0"/>
                        <a:cs typeface="Consolas" charset="0"/>
                      </a:endParaRPr>
                    </a:p>
                  </a:txBody>
                  <a:tcPr marL="73152" marR="73152" marT="73152" marB="73152" anchor="ctr">
                    <a:lnL w="6350" cap="flat" cmpd="sng" algn="ctr">
                      <a:solidFill>
                        <a:srgbClr val="D6D9DE"/>
                      </a:solidFill>
                      <a:prstDash val="solid"/>
                      <a:round/>
                      <a:headEnd type="none" w="med" len="med"/>
                      <a:tailEnd type="none" w="med" len="med"/>
                    </a:lnL>
                    <a:lnR w="6350" cap="flat" cmpd="sng" algn="ctr">
                      <a:solidFill>
                        <a:srgbClr val="D6D9DE"/>
                      </a:solidFill>
                      <a:prstDash val="solid"/>
                      <a:round/>
                      <a:headEnd type="none" w="med" len="med"/>
                      <a:tailEnd type="none" w="med" len="med"/>
                    </a:lnR>
                    <a:lnT w="6350" cap="flat" cmpd="sng" algn="ctr">
                      <a:solidFill>
                        <a:srgbClr val="D6D9DE"/>
                      </a:solidFill>
                      <a:prstDash val="solid"/>
                      <a:round/>
                      <a:headEnd type="none" w="med" len="med"/>
                      <a:tailEnd type="none" w="med" len="med"/>
                    </a:lnT>
                    <a:lnB w="6350" cap="flat" cmpd="sng" algn="ctr">
                      <a:solidFill>
                        <a:srgbClr val="D6D9DE"/>
                      </a:solidFill>
                      <a:prstDash val="solid"/>
                      <a:round/>
                      <a:headEnd type="none" w="med" len="med"/>
                      <a:tailEnd type="none" w="med" len="med"/>
                    </a:lnB>
                    <a:solidFill>
                      <a:srgbClr val="FFFFFF"/>
                    </a:solidFill>
                  </a:tcPr>
                </a:tc>
              </a:tr>
            </a:tbl>
          </a:graphicData>
        </a:graphic>
      </p:graphicFrame>
      <p:sp>
        <p:nvSpPr>
          <p:cNvPr id="8" name="Shape 4"/>
          <p:cNvSpPr/>
          <p:nvPr/>
        </p:nvSpPr>
        <p:spPr>
          <a:xfrm>
            <a:off x="8503920" y="1828800"/>
            <a:ext cx="3139135" cy="3611880"/>
          </a:xfrm>
          <a:prstGeom prst="roundRect">
            <a:avLst>
              <a:gd name="adj" fmla="val 2330"/>
            </a:avLst>
          </a:prstGeom>
          <a:solidFill>
            <a:srgbClr val="F7F8FA"/>
          </a:solidFill>
          <a:ln w="9525">
            <a:solidFill>
              <a:srgbClr val="CA1D25"/>
            </a:solidFill>
            <a:prstDash val="solid"/>
          </a:ln>
        </p:spPr>
      </p:sp>
      <p:sp>
        <p:nvSpPr>
          <p:cNvPr id="9" name="Shape 5"/>
          <p:cNvSpPr/>
          <p:nvPr/>
        </p:nvSpPr>
        <p:spPr>
          <a:xfrm>
            <a:off x="8778240" y="2103120"/>
            <a:ext cx="502920" cy="502920"/>
          </a:xfrm>
          <a:prstGeom prst="ellipse">
            <a:avLst/>
          </a:prstGeom>
          <a:solidFill>
            <a:srgbClr val="E4E6EA"/>
          </a:solidFill>
          <a:ln w="6350">
            <a:solidFill>
              <a:srgbClr val="D6D9DE"/>
            </a:solidFill>
            <a:prstDash val="solid"/>
          </a:ln>
        </p:spPr>
      </p:sp>
      <p:pic>
        <p:nvPicPr>
          <p:cNvPr id="10" name="Image 0" descr="preencoded.png">    </p:cNvPr>
          <p:cNvPicPr>
            <a:picLocks noChangeAspect="1"/>
          </p:cNvPicPr>
          <p:nvPr/>
        </p:nvPicPr>
        <p:blipFill>
          <a:blip r:embed="rId1"/>
          <a:stretch>
            <a:fillRect/>
          </a:stretch>
        </p:blipFill>
        <p:spPr>
          <a:xfrm>
            <a:off x="8898941" y="2223821"/>
            <a:ext cx="261518" cy="261518"/>
          </a:xfrm>
          <a:prstGeom prst="rect">
            <a:avLst/>
          </a:prstGeom>
        </p:spPr>
      </p:pic>
      <p:sp>
        <p:nvSpPr>
          <p:cNvPr id="11" name="Text 6"/>
          <p:cNvSpPr txBox="1"/>
          <p:nvPr/>
        </p:nvSpPr>
        <p:spPr>
          <a:xfrm>
            <a:off x="8778240" y="2743200"/>
            <a:ext cx="2590495" cy="365760"/>
          </a:xfrm>
          <a:prstGeom prst="rect">
            <a:avLst/>
          </a:prstGeom>
          <a:noFill/>
          <a:ln/>
        </p:spPr>
        <p:txBody>
          <a:bodyPr wrap="square" lIns="0" tIns="0" rIns="0" bIns="0" rtlCol="0" anchor="t"/>
          <a:lstStyle/>
          <a:p>
            <a:pPr indent="0" marL="0">
              <a:buNone/>
            </a:pPr>
            <a:r>
              <a:rPr lang="en-US" sz="1600" b="1" dirty="0">
                <a:solidFill>
                  <a:srgbClr val="101114"/>
                </a:solidFill>
                <a:latin typeface="Calibri" pitchFamily="34" charset="0"/>
                <a:ea typeface="Calibri" pitchFamily="34" charset="-122"/>
                <a:cs typeface="Calibri" pitchFamily="34" charset="-120"/>
              </a:rPr>
              <a:t>Fail closed, everywhere</a:t>
            </a:r>
            <a:endParaRPr lang="en-US" sz="1600" dirty="0"/>
          </a:p>
        </p:txBody>
      </p:sp>
      <p:sp>
        <p:nvSpPr>
          <p:cNvPr id="12" name="Text 7"/>
          <p:cNvSpPr txBox="1"/>
          <p:nvPr/>
        </p:nvSpPr>
        <p:spPr>
          <a:xfrm>
            <a:off x="8778240" y="3154680"/>
            <a:ext cx="2590495" cy="1554480"/>
          </a:xfrm>
          <a:prstGeom prst="rect">
            <a:avLst/>
          </a:prstGeom>
          <a:noFill/>
          <a:ln/>
        </p:spPr>
        <p:txBody>
          <a:bodyPr wrap="square" lIns="0" tIns="0" rIns="0" bIns="0" rtlCol="0" anchor="t"/>
          <a:lstStyle/>
          <a:p>
            <a:pPr indent="0" marL="0">
              <a:buNone/>
            </a:pPr>
            <a:r>
              <a:rPr lang="en-US" sz="1200" dirty="0">
                <a:solidFill>
                  <a:srgbClr val="383D44"/>
                </a:solidFill>
                <a:latin typeface="Calibri" pitchFamily="34" charset="0"/>
                <a:ea typeface="Calibri" pitchFamily="34" charset="-122"/>
                <a:cs typeface="Calibri" pitchFamily="34" charset="-120"/>
              </a:rPr>
              <a:t>Signature verification, policy enforcement, journal replay and certificate revocation all refuse rather than degrade. A tampered ledger stops the service. A changed weight byte stops the model. A changed image byte refuses to start.</a:t>
            </a:r>
            <a:endParaRPr lang="en-US" sz="1200" dirty="0"/>
          </a:p>
        </p:txBody>
      </p:sp>
      <p:sp>
        <p:nvSpPr>
          <p:cNvPr id="13" name="Text 8"/>
          <p:cNvSpPr txBox="1"/>
          <p:nvPr/>
        </p:nvSpPr>
        <p:spPr>
          <a:xfrm>
            <a:off x="8778240" y="4983480"/>
            <a:ext cx="2590495" cy="274320"/>
          </a:xfrm>
          <a:prstGeom prst="rect">
            <a:avLst/>
          </a:prstGeom>
          <a:noFill/>
          <a:ln/>
        </p:spPr>
        <p:txBody>
          <a:bodyPr wrap="square" lIns="0" tIns="0" rIns="0" bIns="0" rtlCol="0" anchor="ctr"/>
          <a:lstStyle/>
          <a:p>
            <a:pPr indent="0" marL="0">
              <a:buNone/>
            </a:pPr>
            <a:r>
              <a:rPr lang="en-US" sz="800" spc="150" kern="0" dirty="0">
                <a:solidFill>
                  <a:srgbClr val="5C636B"/>
                </a:solidFill>
                <a:latin typeface="Consolas" pitchFamily="34" charset="0"/>
                <a:ea typeface="Consolas" pitchFamily="34" charset="-122"/>
                <a:cs typeface="Consolas" pitchFamily="34" charset="-120"/>
              </a:rPr>
              <a:t>THREAT MODEL · docs/security/THREAT_MODEL.md</a:t>
            </a:r>
            <a:endParaRPr lang="en-US" sz="800" dirty="0"/>
          </a:p>
        </p:txBody>
      </p:sp>
      <p:sp>
        <p:nvSpPr>
          <p:cNvPr id="14" name="Text 9"/>
          <p:cNvSpPr txBox="1"/>
          <p:nvPr/>
        </p:nvSpPr>
        <p:spPr>
          <a:xfrm>
            <a:off x="548640" y="5715000"/>
            <a:ext cx="11094415" cy="548640"/>
          </a:xfrm>
          <a:prstGeom prst="rect">
            <a:avLst/>
          </a:prstGeom>
          <a:noFill/>
          <a:ln/>
        </p:spPr>
        <p:txBody>
          <a:bodyPr wrap="square" lIns="0" tIns="0" rIns="0" bIns="0" rtlCol="0" anchor="t"/>
          <a:lstStyle/>
          <a:p>
            <a:pPr indent="0" marL="0">
              <a:buNone/>
            </a:pPr>
            <a:r>
              <a:rPr lang="en-US" sz="1150" i="1" dirty="0">
                <a:solidFill>
                  <a:srgbClr val="5C636B"/>
                </a:solidFill>
                <a:latin typeface="Calibri" pitchFamily="34" charset="0"/>
                <a:ea typeface="Calibri" pitchFamily="34" charset="-122"/>
                <a:cs typeface="Calibri" pitchFamily="34" charset="-120"/>
              </a:rPr>
              <a:t>Not yet done: FIPS 140-3 module certification of the crypto module is external work and gates GA. Key custody today is software; HSM and TPM trust roots are designed and documented, not wired.</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FF0F3"/>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8A909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8A9099"/>
                </a:solidFill>
                <a:latin typeface="Consolas" pitchFamily="34" charset="0"/>
                <a:ea typeface="Consolas" pitchFamily="34" charset="-122"/>
                <a:cs typeface="Consolas" pitchFamily="34" charset="-120"/>
              </a:rPr>
              <a:t>16</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A8171E"/>
                </a:solidFill>
                <a:latin typeface="Consolas" pitchFamily="34" charset="0"/>
                <a:ea typeface="Consolas" pitchFamily="34" charset="-122"/>
                <a:cs typeface="Consolas" pitchFamily="34" charset="-120"/>
              </a:rPr>
              <a:t>15 // PROOF</a:t>
            </a:r>
            <a:endParaRPr lang="en-US" sz="1050" dirty="0"/>
          </a:p>
        </p:txBody>
      </p:sp>
      <p:sp>
        <p:nvSpPr>
          <p:cNvPr id="6" name="Text 3"/>
          <p:cNvSpPr txBox="1"/>
          <p:nvPr/>
        </p:nvSpPr>
        <p:spPr>
          <a:xfrm>
            <a:off x="548640" y="822960"/>
            <a:ext cx="7315200" cy="822960"/>
          </a:xfrm>
          <a:prstGeom prst="rect">
            <a:avLst/>
          </a:prstGeom>
          <a:noFill/>
          <a:ln/>
        </p:spPr>
        <p:txBody>
          <a:bodyPr wrap="square" lIns="0" tIns="0" rIns="0" bIns="0" rtlCol="0" anchor="t">
            <a:normAutofit/>
          </a:bodyPr>
          <a:lstStyle/>
          <a:p>
            <a:pPr indent="0" marL="0">
              <a:buNone/>
            </a:pPr>
            <a:r>
              <a:rPr lang="en-US" sz="3200" b="1" dirty="0">
                <a:solidFill>
                  <a:srgbClr val="101114"/>
                </a:solidFill>
                <a:latin typeface="Arial" pitchFamily="34" charset="0"/>
                <a:ea typeface="Arial" pitchFamily="34" charset="-122"/>
                <a:cs typeface="Arial" pitchFamily="34" charset="-120"/>
              </a:rPr>
              <a:t>Measured, not promised</a:t>
            </a:r>
            <a:endParaRPr lang="en-US" sz="3200" dirty="0"/>
          </a:p>
        </p:txBody>
      </p:sp>
      <p:sp>
        <p:nvSpPr>
          <p:cNvPr id="7" name="Text 4"/>
          <p:cNvSpPr txBox="1"/>
          <p:nvPr/>
        </p:nvSpPr>
        <p:spPr>
          <a:xfrm>
            <a:off x="548640" y="1417320"/>
            <a:ext cx="10058400" cy="365760"/>
          </a:xfrm>
          <a:prstGeom prst="rect">
            <a:avLst/>
          </a:prstGeom>
          <a:noFill/>
          <a:ln/>
        </p:spPr>
        <p:txBody>
          <a:bodyPr wrap="square" lIns="0" tIns="0" rIns="0" bIns="0" rtlCol="0" anchor="t"/>
          <a:lstStyle/>
          <a:p>
            <a:pPr indent="0" marL="0">
              <a:buNone/>
            </a:pPr>
            <a:r>
              <a:rPr lang="en-US" sz="1250" dirty="0">
                <a:solidFill>
                  <a:srgbClr val="5C636B"/>
                </a:solidFill>
                <a:latin typeface="Calibri" pitchFamily="34" charset="0"/>
                <a:ea typeface="Calibri" pitchFamily="34" charset="-122"/>
                <a:cs typeface="Calibri" pitchFamily="34" charset="-120"/>
              </a:rPr>
              <a:t>Each figure names its run. The acceptance gate has not been run at this commit; that run comes before the tag.</a:t>
            </a:r>
            <a:endParaRPr lang="en-US" sz="1250" dirty="0"/>
          </a:p>
        </p:txBody>
      </p:sp>
      <p:sp>
        <p:nvSpPr>
          <p:cNvPr id="8" name="Shape 5"/>
          <p:cNvSpPr/>
          <p:nvPr/>
        </p:nvSpPr>
        <p:spPr>
          <a:xfrm>
            <a:off x="548640" y="1965960"/>
            <a:ext cx="3515258" cy="1920240"/>
          </a:xfrm>
          <a:prstGeom prst="roundRect">
            <a:avLst>
              <a:gd name="adj" fmla="val 3810"/>
            </a:avLst>
          </a:prstGeom>
          <a:solidFill>
            <a:srgbClr val="FFFFFF"/>
          </a:solidFill>
          <a:ln w="9525">
            <a:solidFill>
              <a:srgbClr val="D6D9DE"/>
            </a:solidFill>
            <a:prstDash val="solid"/>
          </a:ln>
        </p:spPr>
      </p:sp>
      <p:sp>
        <p:nvSpPr>
          <p:cNvPr id="9" name="Text 6"/>
          <p:cNvSpPr txBox="1"/>
          <p:nvPr/>
        </p:nvSpPr>
        <p:spPr>
          <a:xfrm>
            <a:off x="822960" y="2148840"/>
            <a:ext cx="2966618" cy="777240"/>
          </a:xfrm>
          <a:prstGeom prst="rect">
            <a:avLst/>
          </a:prstGeom>
          <a:noFill/>
          <a:ln/>
        </p:spPr>
        <p:txBody>
          <a:bodyPr wrap="square" lIns="0" tIns="0" rIns="0" bIns="0" rtlCol="0" anchor="ctr">
            <a:normAutofit/>
          </a:bodyPr>
          <a:lstStyle/>
          <a:p>
            <a:pPr indent="0" marL="0">
              <a:buNone/>
            </a:pPr>
            <a:r>
              <a:rPr lang="en-US" sz="4000" b="1" dirty="0">
                <a:solidFill>
                  <a:srgbClr val="A8171E"/>
                </a:solidFill>
                <a:latin typeface="Arial" pitchFamily="34" charset="0"/>
                <a:ea typeface="Arial" pitchFamily="34" charset="-122"/>
                <a:cs typeface="Arial" pitchFamily="34" charset="-120"/>
              </a:rPr>
              <a:t>72</a:t>
            </a:r>
            <a:endParaRPr lang="en-US" sz="4000" dirty="0"/>
          </a:p>
        </p:txBody>
      </p:sp>
      <p:sp>
        <p:nvSpPr>
          <p:cNvPr id="10" name="Text 7"/>
          <p:cNvSpPr txBox="1"/>
          <p:nvPr/>
        </p:nvSpPr>
        <p:spPr>
          <a:xfrm>
            <a:off x="822960" y="2926080"/>
            <a:ext cx="2966618" cy="274320"/>
          </a:xfrm>
          <a:prstGeom prst="rect">
            <a:avLst/>
          </a:prstGeom>
          <a:noFill/>
          <a:ln/>
        </p:spPr>
        <p:txBody>
          <a:bodyPr wrap="square" lIns="0" tIns="0" rIns="0" bIns="0" rtlCol="0" anchor="ctr"/>
          <a:lstStyle/>
          <a:p>
            <a:pPr indent="0" marL="0">
              <a:buNone/>
            </a:pPr>
            <a:r>
              <a:rPr lang="en-US" sz="850" spc="150" kern="0" dirty="0">
                <a:solidFill>
                  <a:srgbClr val="5C636B"/>
                </a:solidFill>
                <a:latin typeface="Consolas" pitchFamily="34" charset="0"/>
                <a:ea typeface="Consolas" pitchFamily="34" charset="-122"/>
                <a:cs typeface="Consolas" pitchFamily="34" charset="-120"/>
              </a:rPr>
              <a:t>ACCEPTANCE CRITERIA, EACH MAPPED TO A TEST</a:t>
            </a:r>
            <a:endParaRPr lang="en-US" sz="850" dirty="0"/>
          </a:p>
        </p:txBody>
      </p:sp>
      <p:sp>
        <p:nvSpPr>
          <p:cNvPr id="11" name="Text 8"/>
          <p:cNvSpPr txBox="1"/>
          <p:nvPr/>
        </p:nvSpPr>
        <p:spPr>
          <a:xfrm>
            <a:off x="822960" y="3227832"/>
            <a:ext cx="2966618" cy="640080"/>
          </a:xfrm>
          <a:prstGeom prst="rect">
            <a:avLst/>
          </a:prstGeom>
          <a:noFill/>
          <a:ln/>
        </p:spPr>
        <p:txBody>
          <a:bodyPr wrap="square" lIns="0" tIns="0" rIns="0" bIns="0" rtlCol="0" anchor="t"/>
          <a:lstStyle/>
          <a:p>
            <a:pPr indent="0" marL="0">
              <a:buNone/>
            </a:pPr>
            <a:r>
              <a:rPr lang="en-US" sz="1100" dirty="0">
                <a:solidFill>
                  <a:srgbClr val="383D44"/>
                </a:solidFill>
                <a:latin typeface="Calibri" pitchFamily="34" charset="0"/>
                <a:ea typeface="Calibri" pitchFamily="34" charset="-122"/>
                <a:cs typeface="Calibri" pitchFamily="34" charset="-120"/>
              </a:rPr>
              <a:t>One script runs them all under docker --network none. No run is recorded for this commit yet.</a:t>
            </a:r>
            <a:endParaRPr lang="en-US" sz="1100" dirty="0"/>
          </a:p>
        </p:txBody>
      </p:sp>
      <p:sp>
        <p:nvSpPr>
          <p:cNvPr id="12" name="Shape 9"/>
          <p:cNvSpPr/>
          <p:nvPr/>
        </p:nvSpPr>
        <p:spPr>
          <a:xfrm>
            <a:off x="4338218" y="1965960"/>
            <a:ext cx="3515258" cy="1920240"/>
          </a:xfrm>
          <a:prstGeom prst="roundRect">
            <a:avLst>
              <a:gd name="adj" fmla="val 3810"/>
            </a:avLst>
          </a:prstGeom>
          <a:solidFill>
            <a:srgbClr val="FFFFFF"/>
          </a:solidFill>
          <a:ln w="9525">
            <a:solidFill>
              <a:srgbClr val="D6D9DE"/>
            </a:solidFill>
            <a:prstDash val="solid"/>
          </a:ln>
        </p:spPr>
      </p:sp>
      <p:sp>
        <p:nvSpPr>
          <p:cNvPr id="13" name="Text 10"/>
          <p:cNvSpPr txBox="1"/>
          <p:nvPr/>
        </p:nvSpPr>
        <p:spPr>
          <a:xfrm>
            <a:off x="4612538" y="2148840"/>
            <a:ext cx="2966618" cy="777240"/>
          </a:xfrm>
          <a:prstGeom prst="rect">
            <a:avLst/>
          </a:prstGeom>
          <a:noFill/>
          <a:ln/>
        </p:spPr>
        <p:txBody>
          <a:bodyPr wrap="square" lIns="0" tIns="0" rIns="0" bIns="0" rtlCol="0" anchor="ctr">
            <a:normAutofit/>
          </a:bodyPr>
          <a:lstStyle/>
          <a:p>
            <a:pPr indent="0" marL="0">
              <a:buNone/>
            </a:pPr>
            <a:r>
              <a:rPr lang="en-US" sz="4000" b="1" dirty="0">
                <a:solidFill>
                  <a:srgbClr val="101114"/>
                </a:solidFill>
                <a:latin typeface="Arial" pitchFamily="34" charset="0"/>
                <a:ea typeface="Arial" pitchFamily="34" charset="-122"/>
                <a:cs typeface="Arial" pitchFamily="34" charset="-120"/>
              </a:rPr>
              <a:t>873</a:t>
            </a:r>
            <a:endParaRPr lang="en-US" sz="4000" dirty="0"/>
          </a:p>
        </p:txBody>
      </p:sp>
      <p:sp>
        <p:nvSpPr>
          <p:cNvPr id="14" name="Text 11"/>
          <p:cNvSpPr txBox="1"/>
          <p:nvPr/>
        </p:nvSpPr>
        <p:spPr>
          <a:xfrm>
            <a:off x="4612538" y="2926080"/>
            <a:ext cx="2966618" cy="274320"/>
          </a:xfrm>
          <a:prstGeom prst="rect">
            <a:avLst/>
          </a:prstGeom>
          <a:noFill/>
          <a:ln/>
        </p:spPr>
        <p:txBody>
          <a:bodyPr wrap="square" lIns="0" tIns="0" rIns="0" bIns="0" rtlCol="0" anchor="ctr"/>
          <a:lstStyle/>
          <a:p>
            <a:pPr indent="0" marL="0">
              <a:buNone/>
            </a:pPr>
            <a:r>
              <a:rPr lang="en-US" sz="850" spc="150" kern="0" dirty="0">
                <a:solidFill>
                  <a:srgbClr val="5C636B"/>
                </a:solidFill>
                <a:latin typeface="Consolas" pitchFamily="34" charset="0"/>
                <a:ea typeface="Consolas" pitchFamily="34" charset="-122"/>
                <a:cs typeface="Consolas" pitchFamily="34" charset="-120"/>
              </a:rPr>
              <a:t>TEST FUNCTIONS IN THE TREE</a:t>
            </a:r>
            <a:endParaRPr lang="en-US" sz="850" dirty="0"/>
          </a:p>
        </p:txBody>
      </p:sp>
      <p:sp>
        <p:nvSpPr>
          <p:cNvPr id="15" name="Text 12"/>
          <p:cNvSpPr txBox="1"/>
          <p:nvPr/>
        </p:nvSpPr>
        <p:spPr>
          <a:xfrm>
            <a:off x="4612538" y="3227832"/>
            <a:ext cx="2966618" cy="640080"/>
          </a:xfrm>
          <a:prstGeom prst="rect">
            <a:avLst/>
          </a:prstGeom>
          <a:noFill/>
          <a:ln/>
        </p:spPr>
        <p:txBody>
          <a:bodyPr wrap="square" lIns="0" tIns="0" rIns="0" bIns="0" rtlCol="0" anchor="t"/>
          <a:lstStyle/>
          <a:p>
            <a:pPr indent="0" marL="0">
              <a:buNone/>
            </a:pPr>
            <a:r>
              <a:rPr lang="en-US" sz="1100" dirty="0">
                <a:solidFill>
                  <a:srgbClr val="383D44"/>
                </a:solidFill>
                <a:latin typeface="Calibri" pitchFamily="34" charset="0"/>
                <a:ea typeface="Calibri" pitchFamily="34" charset="-122"/>
                <a:cs typeface="Calibri" pitchFamily="34" charset="-120"/>
              </a:rPr>
              <a:t>Counted from the source. How many ran and passed is recorded with the gate run, before the tag.</a:t>
            </a:r>
            <a:endParaRPr lang="en-US" sz="1100" dirty="0"/>
          </a:p>
        </p:txBody>
      </p:sp>
      <p:sp>
        <p:nvSpPr>
          <p:cNvPr id="16" name="Shape 13"/>
          <p:cNvSpPr/>
          <p:nvPr/>
        </p:nvSpPr>
        <p:spPr>
          <a:xfrm>
            <a:off x="8127797" y="1965960"/>
            <a:ext cx="3515258" cy="1920240"/>
          </a:xfrm>
          <a:prstGeom prst="roundRect">
            <a:avLst>
              <a:gd name="adj" fmla="val 3810"/>
            </a:avLst>
          </a:prstGeom>
          <a:solidFill>
            <a:srgbClr val="FFFFFF"/>
          </a:solidFill>
          <a:ln w="9525">
            <a:solidFill>
              <a:srgbClr val="D6D9DE"/>
            </a:solidFill>
            <a:prstDash val="solid"/>
          </a:ln>
        </p:spPr>
      </p:sp>
      <p:sp>
        <p:nvSpPr>
          <p:cNvPr id="17" name="Text 14"/>
          <p:cNvSpPr txBox="1"/>
          <p:nvPr/>
        </p:nvSpPr>
        <p:spPr>
          <a:xfrm>
            <a:off x="8402117" y="2148840"/>
            <a:ext cx="2966618" cy="777240"/>
          </a:xfrm>
          <a:prstGeom prst="rect">
            <a:avLst/>
          </a:prstGeom>
          <a:noFill/>
          <a:ln/>
        </p:spPr>
        <p:txBody>
          <a:bodyPr wrap="square" lIns="0" tIns="0" rIns="0" bIns="0" rtlCol="0" anchor="ctr">
            <a:normAutofit/>
          </a:bodyPr>
          <a:lstStyle/>
          <a:p>
            <a:pPr indent="0" marL="0">
              <a:buNone/>
            </a:pPr>
            <a:r>
              <a:rPr lang="en-US" sz="4000" b="1" dirty="0">
                <a:solidFill>
                  <a:srgbClr val="101114"/>
                </a:solidFill>
                <a:latin typeface="Arial" pitchFamily="34" charset="0"/>
                <a:ea typeface="Arial" pitchFamily="34" charset="-122"/>
                <a:cs typeface="Arial" pitchFamily="34" charset="-120"/>
              </a:rPr>
              <a:t>0</a:t>
            </a:r>
            <a:endParaRPr lang="en-US" sz="4000" dirty="0"/>
          </a:p>
        </p:txBody>
      </p:sp>
      <p:sp>
        <p:nvSpPr>
          <p:cNvPr id="18" name="Text 15"/>
          <p:cNvSpPr txBox="1"/>
          <p:nvPr/>
        </p:nvSpPr>
        <p:spPr>
          <a:xfrm>
            <a:off x="8402117" y="2926080"/>
            <a:ext cx="2966618" cy="274320"/>
          </a:xfrm>
          <a:prstGeom prst="rect">
            <a:avLst/>
          </a:prstGeom>
          <a:noFill/>
          <a:ln/>
        </p:spPr>
        <p:txBody>
          <a:bodyPr wrap="square" lIns="0" tIns="0" rIns="0" bIns="0" rtlCol="0" anchor="ctr"/>
          <a:lstStyle/>
          <a:p>
            <a:pPr indent="0" marL="0">
              <a:buNone/>
            </a:pPr>
            <a:r>
              <a:rPr lang="en-US" sz="850" spc="150" kern="0" dirty="0">
                <a:solidFill>
                  <a:srgbClr val="5C636B"/>
                </a:solidFill>
                <a:latin typeface="Consolas" pitchFamily="34" charset="0"/>
                <a:ea typeface="Consolas" pitchFamily="34" charset="-122"/>
                <a:cs typeface="Consolas" pitchFamily="34" charset="-120"/>
              </a:rPr>
              <a:t>NETWORK CALLS</a:t>
            </a:r>
            <a:endParaRPr lang="en-US" sz="850" dirty="0"/>
          </a:p>
        </p:txBody>
      </p:sp>
      <p:sp>
        <p:nvSpPr>
          <p:cNvPr id="19" name="Text 16"/>
          <p:cNvSpPr txBox="1"/>
          <p:nvPr/>
        </p:nvSpPr>
        <p:spPr>
          <a:xfrm>
            <a:off x="8402117" y="3227832"/>
            <a:ext cx="2966618" cy="640080"/>
          </a:xfrm>
          <a:prstGeom prst="rect">
            <a:avLst/>
          </a:prstGeom>
          <a:noFill/>
          <a:ln/>
        </p:spPr>
        <p:txBody>
          <a:bodyPr wrap="square" lIns="0" tIns="0" rIns="0" bIns="0" rtlCol="0" anchor="t"/>
          <a:lstStyle/>
          <a:p>
            <a:pPr indent="0" marL="0">
              <a:buNone/>
            </a:pPr>
            <a:r>
              <a:rPr lang="en-US" sz="1100" dirty="0">
                <a:solidFill>
                  <a:srgbClr val="383D44"/>
                </a:solidFill>
                <a:latin typeface="Calibri" pitchFamily="34" charset="0"/>
                <a:ea typeface="Calibri" pitchFamily="34" charset="-122"/>
                <a:cs typeface="Calibri" pitchFamily="34" charset="-120"/>
              </a:rPr>
              <a:t>Vendored dependencies; builds, tests and the gate need no network at all.</a:t>
            </a:r>
            <a:endParaRPr lang="en-US" sz="1100" dirty="0"/>
          </a:p>
        </p:txBody>
      </p:sp>
      <p:sp>
        <p:nvSpPr>
          <p:cNvPr id="20" name="Shape 17"/>
          <p:cNvSpPr/>
          <p:nvPr/>
        </p:nvSpPr>
        <p:spPr>
          <a:xfrm>
            <a:off x="548640" y="4160520"/>
            <a:ext cx="3515258" cy="1920240"/>
          </a:xfrm>
          <a:prstGeom prst="roundRect">
            <a:avLst>
              <a:gd name="adj" fmla="val 3810"/>
            </a:avLst>
          </a:prstGeom>
          <a:solidFill>
            <a:srgbClr val="FFFFFF"/>
          </a:solidFill>
          <a:ln w="9525">
            <a:solidFill>
              <a:srgbClr val="D6D9DE"/>
            </a:solidFill>
            <a:prstDash val="solid"/>
          </a:ln>
        </p:spPr>
      </p:sp>
      <p:sp>
        <p:nvSpPr>
          <p:cNvPr id="21" name="Text 18"/>
          <p:cNvSpPr txBox="1"/>
          <p:nvPr/>
        </p:nvSpPr>
        <p:spPr>
          <a:xfrm>
            <a:off x="822960" y="4343400"/>
            <a:ext cx="2966618" cy="777240"/>
          </a:xfrm>
          <a:prstGeom prst="rect">
            <a:avLst/>
          </a:prstGeom>
          <a:noFill/>
          <a:ln/>
        </p:spPr>
        <p:txBody>
          <a:bodyPr wrap="square" lIns="0" tIns="0" rIns="0" bIns="0" rtlCol="0" anchor="ctr">
            <a:normAutofit/>
          </a:bodyPr>
          <a:lstStyle/>
          <a:p>
            <a:pPr indent="0" marL="0">
              <a:buNone/>
            </a:pPr>
            <a:r>
              <a:rPr lang="en-US" sz="4000" b="1" dirty="0">
                <a:solidFill>
                  <a:srgbClr val="101114"/>
                </a:solidFill>
                <a:latin typeface="Arial" pitchFamily="34" charset="0"/>
                <a:ea typeface="Arial" pitchFamily="34" charset="-122"/>
                <a:cs typeface="Arial" pitchFamily="34" charset="-120"/>
              </a:rPr>
              <a:t>18 / 18</a:t>
            </a:r>
            <a:endParaRPr lang="en-US" sz="4000" dirty="0"/>
          </a:p>
        </p:txBody>
      </p:sp>
      <p:sp>
        <p:nvSpPr>
          <p:cNvPr id="22" name="Text 19"/>
          <p:cNvSpPr txBox="1"/>
          <p:nvPr/>
        </p:nvSpPr>
        <p:spPr>
          <a:xfrm>
            <a:off x="822960" y="5120640"/>
            <a:ext cx="2966618" cy="274320"/>
          </a:xfrm>
          <a:prstGeom prst="rect">
            <a:avLst/>
          </a:prstGeom>
          <a:noFill/>
          <a:ln/>
        </p:spPr>
        <p:txBody>
          <a:bodyPr wrap="square" lIns="0" tIns="0" rIns="0" bIns="0" rtlCol="0" anchor="ctr"/>
          <a:lstStyle/>
          <a:p>
            <a:pPr indent="0" marL="0">
              <a:buNone/>
            </a:pPr>
            <a:r>
              <a:rPr lang="en-US" sz="850" spc="150" kern="0" dirty="0">
                <a:solidFill>
                  <a:srgbClr val="5C636B"/>
                </a:solidFill>
                <a:latin typeface="Consolas" pitchFamily="34" charset="0"/>
                <a:ea typeface="Consolas" pitchFamily="34" charset="-122"/>
                <a:cs typeface="Consolas" pitchFamily="34" charset="-120"/>
              </a:rPr>
              <a:t>BINARIES GATED</a:t>
            </a:r>
            <a:endParaRPr lang="en-US" sz="850" dirty="0"/>
          </a:p>
        </p:txBody>
      </p:sp>
      <p:sp>
        <p:nvSpPr>
          <p:cNvPr id="23" name="Text 20"/>
          <p:cNvSpPr txBox="1"/>
          <p:nvPr/>
        </p:nvSpPr>
        <p:spPr>
          <a:xfrm>
            <a:off x="822960" y="5422392"/>
            <a:ext cx="2966618" cy="640080"/>
          </a:xfrm>
          <a:prstGeom prst="rect">
            <a:avLst/>
          </a:prstGeom>
          <a:noFill/>
          <a:ln/>
        </p:spPr>
        <p:txBody>
          <a:bodyPr wrap="square" lIns="0" tIns="0" rIns="0" bIns="0" rtlCol="0" anchor="t"/>
          <a:lstStyle/>
          <a:p>
            <a:pPr indent="0" marL="0">
              <a:buNone/>
            </a:pPr>
            <a:r>
              <a:rPr lang="en-US" sz="1100" dirty="0">
                <a:solidFill>
                  <a:srgbClr val="383D44"/>
                </a:solidFill>
                <a:latin typeface="Calibri" pitchFamily="34" charset="0"/>
                <a:ea typeface="Calibri" pitchFamily="34" charset="-122"/>
                <a:cs typeface="Calibri" pitchFamily="34" charset="-120"/>
              </a:rPr>
              <a:t>Reproduced, SBOM, scanned, signed, attested. A new binary without a gate entry fails CI.</a:t>
            </a:r>
            <a:endParaRPr lang="en-US" sz="1100" dirty="0"/>
          </a:p>
        </p:txBody>
      </p:sp>
      <p:sp>
        <p:nvSpPr>
          <p:cNvPr id="24" name="Shape 21"/>
          <p:cNvSpPr/>
          <p:nvPr/>
        </p:nvSpPr>
        <p:spPr>
          <a:xfrm>
            <a:off x="4338218" y="4160520"/>
            <a:ext cx="3515258" cy="1920240"/>
          </a:xfrm>
          <a:prstGeom prst="roundRect">
            <a:avLst>
              <a:gd name="adj" fmla="val 3810"/>
            </a:avLst>
          </a:prstGeom>
          <a:solidFill>
            <a:srgbClr val="FFFFFF"/>
          </a:solidFill>
          <a:ln w="9525">
            <a:solidFill>
              <a:srgbClr val="D6D9DE"/>
            </a:solidFill>
            <a:prstDash val="solid"/>
          </a:ln>
        </p:spPr>
      </p:sp>
      <p:sp>
        <p:nvSpPr>
          <p:cNvPr id="25" name="Text 22"/>
          <p:cNvSpPr txBox="1"/>
          <p:nvPr/>
        </p:nvSpPr>
        <p:spPr>
          <a:xfrm>
            <a:off x="4612538" y="4343400"/>
            <a:ext cx="2966618" cy="777240"/>
          </a:xfrm>
          <a:prstGeom prst="rect">
            <a:avLst/>
          </a:prstGeom>
          <a:noFill/>
          <a:ln/>
        </p:spPr>
        <p:txBody>
          <a:bodyPr wrap="square" lIns="0" tIns="0" rIns="0" bIns="0" rtlCol="0" anchor="ctr">
            <a:normAutofit/>
          </a:bodyPr>
          <a:lstStyle/>
          <a:p>
            <a:pPr indent="0" marL="0">
              <a:buNone/>
            </a:pPr>
            <a:r>
              <a:rPr lang="en-US" sz="4000" b="1" dirty="0">
                <a:solidFill>
                  <a:srgbClr val="101114"/>
                </a:solidFill>
                <a:latin typeface="Arial" pitchFamily="34" charset="0"/>
                <a:ea typeface="Arial" pitchFamily="34" charset="-122"/>
                <a:cs typeface="Arial" pitchFamily="34" charset="-120"/>
              </a:rPr>
              <a:t>54</a:t>
            </a:r>
            <a:endParaRPr lang="en-US" sz="4000" dirty="0"/>
          </a:p>
        </p:txBody>
      </p:sp>
      <p:sp>
        <p:nvSpPr>
          <p:cNvPr id="26" name="Text 23"/>
          <p:cNvSpPr txBox="1"/>
          <p:nvPr/>
        </p:nvSpPr>
        <p:spPr>
          <a:xfrm>
            <a:off x="4612538" y="5120640"/>
            <a:ext cx="2966618" cy="274320"/>
          </a:xfrm>
          <a:prstGeom prst="rect">
            <a:avLst/>
          </a:prstGeom>
          <a:noFill/>
          <a:ln/>
        </p:spPr>
        <p:txBody>
          <a:bodyPr wrap="square" lIns="0" tIns="0" rIns="0" bIns="0" rtlCol="0" anchor="ctr"/>
          <a:lstStyle/>
          <a:p>
            <a:pPr indent="0" marL="0">
              <a:buNone/>
            </a:pPr>
            <a:r>
              <a:rPr lang="en-US" sz="850" spc="150" kern="0" dirty="0">
                <a:solidFill>
                  <a:srgbClr val="5C636B"/>
                </a:solidFill>
                <a:latin typeface="Consolas" pitchFamily="34" charset="0"/>
                <a:ea typeface="Consolas" pitchFamily="34" charset="-122"/>
                <a:cs typeface="Consolas" pitchFamily="34" charset="-120"/>
              </a:rPr>
              <a:t>ARTEFACTS IN ONE SIGNED BUNDLE</a:t>
            </a:r>
            <a:endParaRPr lang="en-US" sz="850" dirty="0"/>
          </a:p>
        </p:txBody>
      </p:sp>
      <p:sp>
        <p:nvSpPr>
          <p:cNvPr id="27" name="Text 24"/>
          <p:cNvSpPr txBox="1"/>
          <p:nvPr/>
        </p:nvSpPr>
        <p:spPr>
          <a:xfrm>
            <a:off x="4612538" y="5422392"/>
            <a:ext cx="2966618" cy="640080"/>
          </a:xfrm>
          <a:prstGeom prst="rect">
            <a:avLst/>
          </a:prstGeom>
          <a:noFill/>
          <a:ln/>
        </p:spPr>
        <p:txBody>
          <a:bodyPr wrap="square" lIns="0" tIns="0" rIns="0" bIns="0" rtlCol="0" anchor="t"/>
          <a:lstStyle/>
          <a:p>
            <a:pPr indent="0" marL="0">
              <a:buNone/>
            </a:pPr>
            <a:r>
              <a:rPr lang="en-US" sz="1100" dirty="0">
                <a:solidFill>
                  <a:srgbClr val="383D44"/>
                </a:solidFill>
                <a:latin typeface="Calibri" pitchFamily="34" charset="0"/>
                <a:ea typeface="Calibri" pitchFamily="34" charset="-122"/>
                <a:cs typeface="Calibri" pitchFamily="34" charset="-120"/>
              </a:rPr>
              <a:t>Packed by the rehearsed release pipeline and installed offline on a 3-node kind cluster.</a:t>
            </a:r>
            <a:endParaRPr lang="en-US" sz="1100" dirty="0"/>
          </a:p>
        </p:txBody>
      </p:sp>
      <p:sp>
        <p:nvSpPr>
          <p:cNvPr id="28" name="Shape 25"/>
          <p:cNvSpPr/>
          <p:nvPr/>
        </p:nvSpPr>
        <p:spPr>
          <a:xfrm>
            <a:off x="8127797" y="4160520"/>
            <a:ext cx="3515258" cy="1920240"/>
          </a:xfrm>
          <a:prstGeom prst="roundRect">
            <a:avLst>
              <a:gd name="adj" fmla="val 3810"/>
            </a:avLst>
          </a:prstGeom>
          <a:solidFill>
            <a:srgbClr val="FFFFFF"/>
          </a:solidFill>
          <a:ln w="9525">
            <a:solidFill>
              <a:srgbClr val="D6D9DE"/>
            </a:solidFill>
            <a:prstDash val="solid"/>
          </a:ln>
        </p:spPr>
      </p:sp>
      <p:sp>
        <p:nvSpPr>
          <p:cNvPr id="29" name="Text 26"/>
          <p:cNvSpPr txBox="1"/>
          <p:nvPr/>
        </p:nvSpPr>
        <p:spPr>
          <a:xfrm>
            <a:off x="8402117" y="4343400"/>
            <a:ext cx="2966618" cy="777240"/>
          </a:xfrm>
          <a:prstGeom prst="rect">
            <a:avLst/>
          </a:prstGeom>
          <a:noFill/>
          <a:ln/>
        </p:spPr>
        <p:txBody>
          <a:bodyPr wrap="square" lIns="0" tIns="0" rIns="0" bIns="0" rtlCol="0" anchor="ctr">
            <a:normAutofit/>
          </a:bodyPr>
          <a:lstStyle/>
          <a:p>
            <a:pPr indent="0" marL="0">
              <a:buNone/>
            </a:pPr>
            <a:r>
              <a:rPr lang="en-US" sz="4000" b="1" dirty="0">
                <a:solidFill>
                  <a:srgbClr val="101114"/>
                </a:solidFill>
                <a:latin typeface="Arial" pitchFamily="34" charset="0"/>
                <a:ea typeface="Arial" pitchFamily="34" charset="-122"/>
                <a:cs typeface="Arial" pitchFamily="34" charset="-120"/>
              </a:rPr>
              <a:t>325 ms</a:t>
            </a:r>
            <a:endParaRPr lang="en-US" sz="4000" dirty="0"/>
          </a:p>
        </p:txBody>
      </p:sp>
      <p:sp>
        <p:nvSpPr>
          <p:cNvPr id="30" name="Text 27"/>
          <p:cNvSpPr txBox="1"/>
          <p:nvPr/>
        </p:nvSpPr>
        <p:spPr>
          <a:xfrm>
            <a:off x="8402117" y="5120640"/>
            <a:ext cx="2966618" cy="274320"/>
          </a:xfrm>
          <a:prstGeom prst="rect">
            <a:avLst/>
          </a:prstGeom>
          <a:noFill/>
          <a:ln/>
        </p:spPr>
        <p:txBody>
          <a:bodyPr wrap="square" lIns="0" tIns="0" rIns="0" bIns="0" rtlCol="0" anchor="ctr"/>
          <a:lstStyle/>
          <a:p>
            <a:pPr indent="0" marL="0">
              <a:buNone/>
            </a:pPr>
            <a:r>
              <a:rPr lang="en-US" sz="850" spc="150" kern="0" dirty="0">
                <a:solidFill>
                  <a:srgbClr val="5C636B"/>
                </a:solidFill>
                <a:latin typeface="Consolas" pitchFamily="34" charset="0"/>
                <a:ea typeface="Consolas" pitchFamily="34" charset="-122"/>
                <a:cs typeface="Consolas" pitchFamily="34" charset="-120"/>
              </a:rPr>
              <a:t>FIRST TOKEN · GRANITE 3.3 2B · CPU</a:t>
            </a:r>
            <a:endParaRPr lang="en-US" sz="850" dirty="0"/>
          </a:p>
        </p:txBody>
      </p:sp>
      <p:sp>
        <p:nvSpPr>
          <p:cNvPr id="31" name="Text 28"/>
          <p:cNvSpPr txBox="1"/>
          <p:nvPr/>
        </p:nvSpPr>
        <p:spPr>
          <a:xfrm>
            <a:off x="8402117" y="5422392"/>
            <a:ext cx="2966618" cy="640080"/>
          </a:xfrm>
          <a:prstGeom prst="rect">
            <a:avLst/>
          </a:prstGeom>
          <a:noFill/>
          <a:ln/>
        </p:spPr>
        <p:txBody>
          <a:bodyPr wrap="square" lIns="0" tIns="0" rIns="0" bIns="0" rtlCol="0" anchor="t"/>
          <a:lstStyle/>
          <a:p>
            <a:pPr indent="0" marL="0">
              <a:buNone/>
            </a:pPr>
            <a:r>
              <a:rPr lang="en-US" sz="1100" dirty="0">
                <a:solidFill>
                  <a:srgbClr val="383D44"/>
                </a:solidFill>
                <a:latin typeface="Calibri" pitchFamily="34" charset="0"/>
                <a:ea typeface="Calibri" pitchFamily="34" charset="-122"/>
                <a:cs typeface="Calibri" pitchFamily="34" charset="-120"/>
              </a:rPr>
              <a:t>A certified PQ-mTLS inference call answered by a real model, staged from a signed manifest.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FF0F3"/>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8A909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8A9099"/>
                </a:solidFill>
                <a:latin typeface="Consolas" pitchFamily="34" charset="0"/>
                <a:ea typeface="Consolas" pitchFamily="34" charset="-122"/>
                <a:cs typeface="Consolas" pitchFamily="34" charset="-120"/>
              </a:rPr>
              <a:t>17</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A8171E"/>
                </a:solidFill>
                <a:latin typeface="Consolas" pitchFamily="34" charset="0"/>
                <a:ea typeface="Consolas" pitchFamily="34" charset="-122"/>
                <a:cs typeface="Consolas" pitchFamily="34" charset="-120"/>
              </a:rPr>
              <a:t>16 // WHERE WE ARE</a:t>
            </a:r>
            <a:endParaRPr lang="en-US" sz="1050" dirty="0"/>
          </a:p>
        </p:txBody>
      </p:sp>
      <p:sp>
        <p:nvSpPr>
          <p:cNvPr id="6" name="Text 3"/>
          <p:cNvSpPr txBox="1"/>
          <p:nvPr/>
        </p:nvSpPr>
        <p:spPr>
          <a:xfrm>
            <a:off x="548640" y="822960"/>
            <a:ext cx="10972800" cy="822960"/>
          </a:xfrm>
          <a:prstGeom prst="rect">
            <a:avLst/>
          </a:prstGeom>
          <a:noFill/>
          <a:ln/>
        </p:spPr>
        <p:txBody>
          <a:bodyPr wrap="square" lIns="0" tIns="0" rIns="0" bIns="0" rtlCol="0" anchor="t">
            <a:normAutofit/>
          </a:bodyPr>
          <a:lstStyle/>
          <a:p>
            <a:pPr indent="0" marL="0">
              <a:buNone/>
            </a:pPr>
            <a:r>
              <a:rPr lang="en-US" sz="2400" b="1" dirty="0">
                <a:solidFill>
                  <a:srgbClr val="101114"/>
                </a:solidFill>
                <a:latin typeface="Arial" pitchFamily="34" charset="0"/>
                <a:ea typeface="Arial" pitchFamily="34" charset="-122"/>
                <a:cs typeface="Arial" pitchFamily="34" charset="-120"/>
              </a:rPr>
              <a:t>Five services run and are tested. Release candidate prepared. GA gated on named blockers.</a:t>
            </a:r>
            <a:endParaRPr lang="en-US" sz="2400" dirty="0"/>
          </a:p>
        </p:txBody>
      </p:sp>
      <p:sp>
        <p:nvSpPr>
          <p:cNvPr id="7" name="Shape 4"/>
          <p:cNvSpPr/>
          <p:nvPr/>
        </p:nvSpPr>
        <p:spPr>
          <a:xfrm>
            <a:off x="548640" y="1828800"/>
            <a:ext cx="3515258" cy="4343400"/>
          </a:xfrm>
          <a:prstGeom prst="roundRect">
            <a:avLst>
              <a:gd name="adj" fmla="val 2081"/>
            </a:avLst>
          </a:prstGeom>
          <a:solidFill>
            <a:srgbClr val="FFFFFF"/>
          </a:solidFill>
          <a:ln w="9525">
            <a:solidFill>
              <a:srgbClr val="D6D9DE"/>
            </a:solidFill>
            <a:prstDash val="solid"/>
          </a:ln>
        </p:spPr>
      </p:sp>
      <p:sp>
        <p:nvSpPr>
          <p:cNvPr id="8" name="Shape 5"/>
          <p:cNvSpPr/>
          <p:nvPr/>
        </p:nvSpPr>
        <p:spPr>
          <a:xfrm>
            <a:off x="777240" y="2057400"/>
            <a:ext cx="411480" cy="411480"/>
          </a:xfrm>
          <a:prstGeom prst="ellipse">
            <a:avLst/>
          </a:prstGeom>
          <a:solidFill>
            <a:srgbClr val="E4E6EA"/>
          </a:solidFill>
          <a:ln w="6350">
            <a:solidFill>
              <a:srgbClr val="D6D9DE"/>
            </a:solidFill>
            <a:prstDash val="solid"/>
          </a:ln>
        </p:spPr>
      </p:sp>
      <p:pic>
        <p:nvPicPr>
          <p:cNvPr id="9" name="Image 0" descr="preencoded.png">    </p:cNvPr>
          <p:cNvPicPr>
            <a:picLocks noChangeAspect="1"/>
          </p:cNvPicPr>
          <p:nvPr/>
        </p:nvPicPr>
        <p:blipFill>
          <a:blip r:embed="rId1"/>
          <a:stretch>
            <a:fillRect/>
          </a:stretch>
        </p:blipFill>
        <p:spPr>
          <a:xfrm>
            <a:off x="875995" y="2156155"/>
            <a:ext cx="213970" cy="213970"/>
          </a:xfrm>
          <a:prstGeom prst="rect">
            <a:avLst/>
          </a:prstGeom>
        </p:spPr>
      </p:pic>
      <p:sp>
        <p:nvSpPr>
          <p:cNvPr id="10" name="Text 6"/>
          <p:cNvSpPr txBox="1"/>
          <p:nvPr/>
        </p:nvSpPr>
        <p:spPr>
          <a:xfrm>
            <a:off x="1325880" y="2130552"/>
            <a:ext cx="2600858" cy="274320"/>
          </a:xfrm>
          <a:prstGeom prst="rect">
            <a:avLst/>
          </a:prstGeom>
          <a:noFill/>
          <a:ln/>
        </p:spPr>
        <p:txBody>
          <a:bodyPr wrap="square" lIns="0" tIns="0" rIns="0" bIns="0" rtlCol="0" anchor="ctr"/>
          <a:lstStyle/>
          <a:p>
            <a:pPr indent="0" marL="0">
              <a:buNone/>
            </a:pPr>
            <a:r>
              <a:rPr lang="en-US" sz="900" spc="150" kern="0" dirty="0">
                <a:solidFill>
                  <a:srgbClr val="168A57"/>
                </a:solidFill>
                <a:latin typeface="Consolas" pitchFamily="34" charset="0"/>
                <a:ea typeface="Consolas" pitchFamily="34" charset="-122"/>
                <a:cs typeface="Consolas" pitchFamily="34" charset="-120"/>
              </a:rPr>
              <a:t>DONE · v0.1.0-rc.1 PREPARED</a:t>
            </a:r>
            <a:endParaRPr lang="en-US" sz="900" dirty="0"/>
          </a:p>
        </p:txBody>
      </p:sp>
      <p:sp>
        <p:nvSpPr>
          <p:cNvPr id="11" name="Text 7"/>
          <p:cNvSpPr txBox="1"/>
          <p:nvPr/>
        </p:nvSpPr>
        <p:spPr>
          <a:xfrm>
            <a:off x="777240" y="2697480"/>
            <a:ext cx="3058058" cy="32918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150" dirty="0">
                <a:solidFill>
                  <a:srgbClr val="383D44"/>
                </a:solidFill>
                <a:latin typeface="Calibri" pitchFamily="34" charset="0"/>
                <a:ea typeface="Calibri" pitchFamily="34" charset="-122"/>
                <a:cs typeface="Calibri" pitchFamily="34" charset="-120"/>
              </a:rPr>
              <a:t>The edge serves the real object fabric with one PQ-signed ledger</a:t>
            </a:r>
            <a:endParaRPr lang="en-US" sz="1150" dirty="0"/>
          </a:p>
          <a:p>
            <a:pPr marL="342900" indent="-342900">
              <a:spcAft>
                <a:spcPts val="800"/>
              </a:spcAft>
              <a:buSzPct val="100000"/>
              <a:buChar char="▪"/>
            </a:pPr>
            <a:r>
              <a:rPr lang="en-US" sz="1150" dirty="0">
                <a:solidFill>
                  <a:srgbClr val="383D44"/>
                </a:solidFill>
                <a:latin typeface="Calibri" pitchFamily="34" charset="0"/>
                <a:ea typeface="Calibri" pitchFamily="34" charset="-122"/>
                <a:cs typeface="Calibri" pitchFamily="34" charset="-120"/>
              </a:rPr>
              <a:t>Five services on one PQ-mTLS runtime: gateway, Mimir, Bifrost fleet, Heimdall feed, Forge worker</a:t>
            </a:r>
            <a:endParaRPr lang="en-US" sz="1150" dirty="0"/>
          </a:p>
          <a:p>
            <a:pPr marL="342900" indent="-342900">
              <a:spcAft>
                <a:spcPts val="800"/>
              </a:spcAft>
              <a:buSzPct val="100000"/>
              <a:buChar char="▪"/>
            </a:pPr>
            <a:r>
              <a:rPr lang="en-US" sz="1150" dirty="0">
                <a:solidFill>
                  <a:srgbClr val="383D44"/>
                </a:solidFill>
                <a:latin typeface="Calibri" pitchFamily="34" charset="0"/>
                <a:ea typeface="Calibri" pitchFamily="34" charset="-122"/>
                <a:cs typeface="Calibri" pitchFamily="34" charset="-120"/>
              </a:rPr>
              <a:t>Docker compose and a Helm chart; run on a 3-node kind cluster</a:t>
            </a:r>
            <a:endParaRPr lang="en-US" sz="1150" dirty="0"/>
          </a:p>
          <a:p>
            <a:pPr marL="342900" indent="-342900">
              <a:spcAft>
                <a:spcPts val="800"/>
              </a:spcAft>
              <a:buSzPct val="100000"/>
              <a:buChar char="▪"/>
            </a:pPr>
            <a:r>
              <a:rPr lang="en-US" sz="1150" dirty="0">
                <a:solidFill>
                  <a:srgbClr val="383D44"/>
                </a:solidFill>
                <a:latin typeface="Calibri" pitchFamily="34" charset="0"/>
                <a:ea typeface="Calibri" pitchFamily="34" charset="-122"/>
                <a:cs typeface="Calibri" pitchFamily="34" charset="-120"/>
              </a:rPr>
              <a:t>PostgreSQL, S3 and Kafka connectors; egress broker</a:t>
            </a:r>
            <a:endParaRPr lang="en-US" sz="1150" dirty="0"/>
          </a:p>
          <a:p>
            <a:pPr marL="342900" indent="-342900">
              <a:spcAft>
                <a:spcPts val="800"/>
              </a:spcAft>
              <a:buSzPct val="100000"/>
              <a:buChar char="▪"/>
            </a:pPr>
            <a:r>
              <a:rPr lang="en-US" sz="1150" dirty="0">
                <a:solidFill>
                  <a:srgbClr val="383D44"/>
                </a:solidFill>
                <a:latin typeface="Calibri" pitchFamily="34" charset="0"/>
                <a:ea typeface="Calibri" pitchFamily="34" charset="-122"/>
                <a:cs typeface="Calibri" pitchFamily="34" charset="-120"/>
              </a:rPr>
              <a:t>Real model serving from signed manifests (Granite on CPU)</a:t>
            </a:r>
            <a:endParaRPr lang="en-US" sz="1150" dirty="0"/>
          </a:p>
          <a:p>
            <a:pPr marL="342900" indent="-342900">
              <a:spcAft>
                <a:spcPts val="800"/>
              </a:spcAft>
              <a:buSzPct val="100000"/>
              <a:buChar char="▪"/>
            </a:pPr>
            <a:r>
              <a:rPr lang="en-US" sz="1150" dirty="0">
                <a:solidFill>
                  <a:srgbClr val="383D44"/>
                </a:solidFill>
                <a:latin typeface="Calibri" pitchFamily="34" charset="0"/>
                <a:ea typeface="Calibri" pitchFamily="34" charset="-122"/>
                <a:cs typeface="Calibri" pitchFamily="34" charset="-120"/>
              </a:rPr>
              <a:t>Release pipeline rehearsed end to end, 2026-09-15</a:t>
            </a:r>
            <a:endParaRPr lang="en-US" sz="1150" dirty="0"/>
          </a:p>
        </p:txBody>
      </p:sp>
      <p:sp>
        <p:nvSpPr>
          <p:cNvPr id="12" name="Shape 8"/>
          <p:cNvSpPr/>
          <p:nvPr/>
        </p:nvSpPr>
        <p:spPr>
          <a:xfrm>
            <a:off x="4338218" y="1828800"/>
            <a:ext cx="3515258" cy="4343400"/>
          </a:xfrm>
          <a:prstGeom prst="roundRect">
            <a:avLst>
              <a:gd name="adj" fmla="val 2081"/>
            </a:avLst>
          </a:prstGeom>
          <a:solidFill>
            <a:srgbClr val="FFFFFF"/>
          </a:solidFill>
          <a:ln w="9525">
            <a:solidFill>
              <a:srgbClr val="D6D9DE"/>
            </a:solidFill>
            <a:prstDash val="solid"/>
          </a:ln>
        </p:spPr>
      </p:sp>
      <p:sp>
        <p:nvSpPr>
          <p:cNvPr id="13" name="Shape 9"/>
          <p:cNvSpPr/>
          <p:nvPr/>
        </p:nvSpPr>
        <p:spPr>
          <a:xfrm>
            <a:off x="4566818" y="2057400"/>
            <a:ext cx="411480" cy="411480"/>
          </a:xfrm>
          <a:prstGeom prst="ellipse">
            <a:avLst/>
          </a:prstGeom>
          <a:solidFill>
            <a:srgbClr val="E4E6EA"/>
          </a:solidFill>
          <a:ln w="6350">
            <a:solidFill>
              <a:srgbClr val="D6D9DE"/>
            </a:solidFill>
            <a:prstDash val="solid"/>
          </a:ln>
        </p:spPr>
      </p:sp>
      <p:pic>
        <p:nvPicPr>
          <p:cNvPr id="14" name="Image 1" descr="preencoded.png">    </p:cNvPr>
          <p:cNvPicPr>
            <a:picLocks noChangeAspect="1"/>
          </p:cNvPicPr>
          <p:nvPr/>
        </p:nvPicPr>
        <p:blipFill>
          <a:blip r:embed="rId2"/>
          <a:stretch>
            <a:fillRect/>
          </a:stretch>
        </p:blipFill>
        <p:spPr>
          <a:xfrm>
            <a:off x="4665574" y="2156155"/>
            <a:ext cx="213970" cy="213970"/>
          </a:xfrm>
          <a:prstGeom prst="rect">
            <a:avLst/>
          </a:prstGeom>
        </p:spPr>
      </p:pic>
      <p:sp>
        <p:nvSpPr>
          <p:cNvPr id="15" name="Text 10"/>
          <p:cNvSpPr txBox="1"/>
          <p:nvPr/>
        </p:nvSpPr>
        <p:spPr>
          <a:xfrm>
            <a:off x="5115458" y="2130552"/>
            <a:ext cx="2600858" cy="274320"/>
          </a:xfrm>
          <a:prstGeom prst="rect">
            <a:avLst/>
          </a:prstGeom>
          <a:noFill/>
          <a:ln/>
        </p:spPr>
        <p:txBody>
          <a:bodyPr wrap="square" lIns="0" tIns="0" rIns="0" bIns="0" rtlCol="0" anchor="ctr"/>
          <a:lstStyle/>
          <a:p>
            <a:pPr indent="0" marL="0">
              <a:buNone/>
            </a:pPr>
            <a:r>
              <a:rPr lang="en-US" sz="900" spc="150" kern="0" dirty="0">
                <a:solidFill>
                  <a:srgbClr val="B07A12"/>
                </a:solidFill>
                <a:latin typeface="Consolas" pitchFamily="34" charset="0"/>
                <a:ea typeface="Consolas" pitchFamily="34" charset="-122"/>
                <a:cs typeface="Consolas" pitchFamily="34" charset="-120"/>
              </a:rPr>
              <a:t>BEFORE GA · NAMED BLOCKERS</a:t>
            </a:r>
            <a:endParaRPr lang="en-US" sz="900" dirty="0"/>
          </a:p>
        </p:txBody>
      </p:sp>
      <p:sp>
        <p:nvSpPr>
          <p:cNvPr id="16" name="Text 11"/>
          <p:cNvSpPr txBox="1"/>
          <p:nvPr/>
        </p:nvSpPr>
        <p:spPr>
          <a:xfrm>
            <a:off x="4566818" y="2697480"/>
            <a:ext cx="3058058" cy="32918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150" dirty="0">
                <a:solidFill>
                  <a:srgbClr val="383D44"/>
                </a:solidFill>
                <a:latin typeface="Calibri" pitchFamily="34" charset="0"/>
                <a:ea typeface="Calibri" pitchFamily="34" charset="-122"/>
                <a:cs typeface="Calibri" pitchFamily="34" charset="-120"/>
              </a:rPr>
              <a:t>Key custody is software: keystores are files, no HSM wired in</a:t>
            </a:r>
            <a:endParaRPr lang="en-US" sz="1150" dirty="0"/>
          </a:p>
          <a:p>
            <a:pPr marL="342900" indent="-342900">
              <a:spcAft>
                <a:spcPts val="800"/>
              </a:spcAft>
              <a:buSzPct val="100000"/>
              <a:buChar char="▪"/>
            </a:pPr>
            <a:r>
              <a:rPr lang="en-US" sz="1150" dirty="0">
                <a:solidFill>
                  <a:srgbClr val="383D44"/>
                </a:solidFill>
                <a:latin typeface="Calibri" pitchFamily="34" charset="0"/>
                <a:ea typeface="Calibri" pitchFamily="34" charset="-122"/>
                <a:cs typeface="Calibri" pitchFamily="34" charset="-120"/>
              </a:rPr>
              <a:t>GPU serving (vLLM) is wired but has not run; 800 ms target unproven</a:t>
            </a:r>
            <a:endParaRPr lang="en-US" sz="1150" dirty="0"/>
          </a:p>
          <a:p>
            <a:pPr marL="342900" indent="-342900">
              <a:spcAft>
                <a:spcPts val="800"/>
              </a:spcAft>
              <a:buSzPct val="100000"/>
              <a:buChar char="▪"/>
            </a:pPr>
            <a:r>
              <a:rPr lang="en-US" sz="1150" dirty="0">
                <a:solidFill>
                  <a:srgbClr val="383D44"/>
                </a:solidFill>
                <a:latin typeface="Calibri" pitchFamily="34" charset="0"/>
                <a:ea typeface="Calibri" pitchFamily="34" charset="-122"/>
                <a:cs typeface="Calibri" pitchFamily="34" charset="-120"/>
              </a:rPr>
              <a:t>FIPS 140-3 module certification (external)</a:t>
            </a:r>
            <a:endParaRPr lang="en-US" sz="1150" dirty="0"/>
          </a:p>
          <a:p>
            <a:pPr marL="342900" indent="-342900">
              <a:spcAft>
                <a:spcPts val="800"/>
              </a:spcAft>
              <a:buSzPct val="100000"/>
              <a:buChar char="▪"/>
            </a:pPr>
            <a:r>
              <a:rPr lang="en-US" sz="1150" dirty="0">
                <a:solidFill>
                  <a:srgbClr val="383D44"/>
                </a:solidFill>
                <a:latin typeface="Calibri" pitchFamily="34" charset="0"/>
                <a:ea typeface="Calibri" pitchFamily="34" charset="-122"/>
                <a:cs typeface="Calibri" pitchFamily="34" charset="-120"/>
              </a:rPr>
              <a:t>Key ceremony and a provisioned signing runner, then tag</a:t>
            </a:r>
            <a:endParaRPr lang="en-US" sz="1150" dirty="0"/>
          </a:p>
          <a:p>
            <a:pPr marL="342900" indent="-342900">
              <a:spcAft>
                <a:spcPts val="800"/>
              </a:spcAft>
              <a:buSzPct val="100000"/>
              <a:buChar char="▪"/>
            </a:pPr>
            <a:r>
              <a:rPr lang="en-US" sz="1150" dirty="0">
                <a:solidFill>
                  <a:srgbClr val="383D44"/>
                </a:solidFill>
                <a:latin typeface="Calibri" pitchFamily="34" charset="0"/>
                <a:ea typeface="Calibri" pitchFamily="34" charset="-122"/>
                <a:cs typeface="Calibri" pitchFamily="34" charset="-120"/>
              </a:rPr>
              <a:t>Consoles other than Midgard's still run on sample data</a:t>
            </a:r>
            <a:endParaRPr lang="en-US" sz="1150" dirty="0"/>
          </a:p>
          <a:p>
            <a:pPr marL="342900" indent="-342900">
              <a:spcAft>
                <a:spcPts val="800"/>
              </a:spcAft>
              <a:buSzPct val="100000"/>
              <a:buChar char="▪"/>
            </a:pPr>
            <a:r>
              <a:rPr lang="en-US" sz="1150" dirty="0">
                <a:solidFill>
                  <a:srgbClr val="383D44"/>
                </a:solidFill>
                <a:latin typeface="Calibri" pitchFamily="34" charset="0"/>
                <a:ea typeface="Calibri" pitchFamily="34" charset="-122"/>
                <a:cs typeface="Calibri" pitchFamily="34" charset="-120"/>
              </a:rPr>
              <a:t>Single replica per service: recovery, not redundancy</a:t>
            </a:r>
            <a:endParaRPr lang="en-US" sz="1150" dirty="0"/>
          </a:p>
        </p:txBody>
      </p:sp>
      <p:sp>
        <p:nvSpPr>
          <p:cNvPr id="17" name="Shape 12"/>
          <p:cNvSpPr/>
          <p:nvPr/>
        </p:nvSpPr>
        <p:spPr>
          <a:xfrm>
            <a:off x="8127797" y="1828800"/>
            <a:ext cx="3515258" cy="4343400"/>
          </a:xfrm>
          <a:prstGeom prst="roundRect">
            <a:avLst>
              <a:gd name="adj" fmla="val 2081"/>
            </a:avLst>
          </a:prstGeom>
          <a:solidFill>
            <a:srgbClr val="FFFFFF"/>
          </a:solidFill>
          <a:ln w="9525">
            <a:solidFill>
              <a:srgbClr val="D6D9DE"/>
            </a:solidFill>
            <a:prstDash val="solid"/>
          </a:ln>
        </p:spPr>
      </p:sp>
      <p:sp>
        <p:nvSpPr>
          <p:cNvPr id="18" name="Shape 13"/>
          <p:cNvSpPr/>
          <p:nvPr/>
        </p:nvSpPr>
        <p:spPr>
          <a:xfrm>
            <a:off x="8356397" y="2057400"/>
            <a:ext cx="411480" cy="411480"/>
          </a:xfrm>
          <a:prstGeom prst="ellipse">
            <a:avLst/>
          </a:prstGeom>
          <a:solidFill>
            <a:srgbClr val="E4E6EA"/>
          </a:solidFill>
          <a:ln w="6350">
            <a:solidFill>
              <a:srgbClr val="D6D9DE"/>
            </a:solidFill>
            <a:prstDash val="solid"/>
          </a:ln>
        </p:spPr>
      </p:sp>
      <p:pic>
        <p:nvPicPr>
          <p:cNvPr id="19" name="Image 2" descr="preencoded.png">    </p:cNvPr>
          <p:cNvPicPr>
            <a:picLocks noChangeAspect="1"/>
          </p:cNvPicPr>
          <p:nvPr/>
        </p:nvPicPr>
        <p:blipFill>
          <a:blip r:embed="rId3"/>
          <a:stretch>
            <a:fillRect/>
          </a:stretch>
        </p:blipFill>
        <p:spPr>
          <a:xfrm>
            <a:off x="8455152" y="2156155"/>
            <a:ext cx="213970" cy="213970"/>
          </a:xfrm>
          <a:prstGeom prst="rect">
            <a:avLst/>
          </a:prstGeom>
        </p:spPr>
      </p:pic>
      <p:sp>
        <p:nvSpPr>
          <p:cNvPr id="20" name="Text 14"/>
          <p:cNvSpPr txBox="1"/>
          <p:nvPr/>
        </p:nvSpPr>
        <p:spPr>
          <a:xfrm>
            <a:off x="8905037" y="2130552"/>
            <a:ext cx="2600858" cy="274320"/>
          </a:xfrm>
          <a:prstGeom prst="rect">
            <a:avLst/>
          </a:prstGeom>
          <a:noFill/>
          <a:ln/>
        </p:spPr>
        <p:txBody>
          <a:bodyPr wrap="square" lIns="0" tIns="0" rIns="0" bIns="0" rtlCol="0" anchor="ctr"/>
          <a:lstStyle/>
          <a:p>
            <a:pPr indent="0" marL="0">
              <a:buNone/>
            </a:pPr>
            <a:r>
              <a:rPr lang="en-US" sz="900" spc="150" kern="0" dirty="0">
                <a:solidFill>
                  <a:srgbClr val="2B6FD6"/>
                </a:solidFill>
                <a:latin typeface="Consolas" pitchFamily="34" charset="0"/>
                <a:ea typeface="Consolas" pitchFamily="34" charset="-122"/>
                <a:cs typeface="Consolas" pitchFamily="34" charset="-120"/>
              </a:rPr>
              <a:t>NEXT 90 DAYS</a:t>
            </a:r>
            <a:endParaRPr lang="en-US" sz="900" dirty="0"/>
          </a:p>
        </p:txBody>
      </p:sp>
      <p:sp>
        <p:nvSpPr>
          <p:cNvPr id="21" name="Text 15"/>
          <p:cNvSpPr txBox="1"/>
          <p:nvPr/>
        </p:nvSpPr>
        <p:spPr>
          <a:xfrm>
            <a:off x="8356397" y="2697480"/>
            <a:ext cx="3058058" cy="329184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150" dirty="0">
                <a:solidFill>
                  <a:srgbClr val="383D44"/>
                </a:solidFill>
                <a:latin typeface="Calibri" pitchFamily="34" charset="0"/>
                <a:ea typeface="Calibri" pitchFamily="34" charset="-122"/>
                <a:cs typeface="Calibri" pitchFamily="34" charset="-120"/>
              </a:rPr>
              <a:t>Tag v0.1.0-rc.1 and publish the draft pre-release</a:t>
            </a:r>
            <a:endParaRPr lang="en-US" sz="1150" dirty="0"/>
          </a:p>
          <a:p>
            <a:pPr marL="342900" indent="-342900">
              <a:spcAft>
                <a:spcPts val="800"/>
              </a:spcAft>
              <a:buSzPct val="100000"/>
              <a:buChar char="▪"/>
            </a:pPr>
            <a:r>
              <a:rPr lang="en-US" sz="1150" dirty="0">
                <a:solidFill>
                  <a:srgbClr val="383D44"/>
                </a:solidFill>
                <a:latin typeface="Calibri" pitchFamily="34" charset="0"/>
                <a:ea typeface="Calibri" pitchFamily="34" charset="-122"/>
                <a:cs typeface="Calibri" pitchFamily="34" charset="-120"/>
              </a:rPr>
              <a:t>Run the deployment tier on real HSM, GPU and multi-node hardware</a:t>
            </a:r>
            <a:endParaRPr lang="en-US" sz="1150" dirty="0"/>
          </a:p>
          <a:p>
            <a:pPr marL="342900" indent="-342900">
              <a:spcAft>
                <a:spcPts val="800"/>
              </a:spcAft>
              <a:buSzPct val="100000"/>
              <a:buChar char="▪"/>
            </a:pPr>
            <a:r>
              <a:rPr lang="en-US" sz="1150" dirty="0">
                <a:solidFill>
                  <a:srgbClr val="383D44"/>
                </a:solidFill>
                <a:latin typeface="Calibri" pitchFamily="34" charset="0"/>
                <a:ea typeface="Calibri" pitchFamily="34" charset="-122"/>
                <a:cs typeface="Calibri" pitchFamily="34" charset="-120"/>
              </a:rPr>
              <a:t>Live sources through Forge into the fabric; PostgreSQL TLS</a:t>
            </a:r>
            <a:endParaRPr lang="en-US" sz="1150" dirty="0"/>
          </a:p>
          <a:p>
            <a:pPr marL="342900" indent="-342900">
              <a:spcAft>
                <a:spcPts val="800"/>
              </a:spcAft>
              <a:buSzPct val="100000"/>
              <a:buChar char="▪"/>
            </a:pPr>
            <a:r>
              <a:rPr lang="en-US" sz="1150" dirty="0">
                <a:solidFill>
                  <a:srgbClr val="383D44"/>
                </a:solidFill>
                <a:latin typeface="Calibri" pitchFamily="34" charset="0"/>
                <a:ea typeface="Calibri" pitchFamily="34" charset="-122"/>
                <a:cs typeface="Calibri" pitchFamily="34" charset="-120"/>
              </a:rPr>
              <a:t>Wire Forge, Mimir, Heimdall and Bifrost consoles to their services</a:t>
            </a:r>
            <a:endParaRPr lang="en-US" sz="1150" dirty="0"/>
          </a:p>
          <a:p>
            <a:pPr marL="342900" indent="-342900">
              <a:spcAft>
                <a:spcPts val="800"/>
              </a:spcAft>
              <a:buSzPct val="100000"/>
              <a:buChar char="▪"/>
            </a:pPr>
            <a:r>
              <a:rPr lang="en-US" sz="1150" dirty="0">
                <a:solidFill>
                  <a:srgbClr val="383D44"/>
                </a:solidFill>
                <a:latin typeface="Calibri" pitchFamily="34" charset="0"/>
                <a:ea typeface="Calibri" pitchFamily="34" charset="-122"/>
                <a:cs typeface="Calibri" pitchFamily="34" charset="-120"/>
              </a:rPr>
              <a:t>Design-partner pilots on the compose and Helm paths</a:t>
            </a:r>
            <a:endParaRPr lang="en-US" sz="1150" dirty="0"/>
          </a:p>
          <a:p>
            <a:pPr marL="342900" indent="-342900">
              <a:spcAft>
                <a:spcPts val="800"/>
              </a:spcAft>
              <a:buSzPct val="100000"/>
              <a:buChar char="▪"/>
            </a:pPr>
            <a:r>
              <a:rPr lang="en-US" sz="1150" dirty="0">
                <a:solidFill>
                  <a:srgbClr val="383D44"/>
                </a:solidFill>
                <a:latin typeface="Calibri" pitchFamily="34" charset="0"/>
                <a:ea typeface="Calibri" pitchFamily="34" charset="-122"/>
                <a:cs typeface="Calibri" pitchFamily="34" charset="-120"/>
              </a:rPr>
              <a:t>Disclosure decision on the design documents</a:t>
            </a:r>
            <a:endParaRPr lang="en-US" sz="1150" dirty="0"/>
          </a:p>
        </p:txBody>
      </p:sp>
      <p:sp>
        <p:nvSpPr>
          <p:cNvPr id="22" name="Text 16"/>
          <p:cNvSpPr txBox="1"/>
          <p:nvPr/>
        </p:nvSpPr>
        <p:spPr>
          <a:xfrm>
            <a:off x="548640" y="6263640"/>
            <a:ext cx="11094415" cy="228600"/>
          </a:xfrm>
          <a:prstGeom prst="rect">
            <a:avLst/>
          </a:prstGeom>
          <a:noFill/>
          <a:ln/>
        </p:spPr>
        <p:txBody>
          <a:bodyPr wrap="square" lIns="0" tIns="0" rIns="0" bIns="0" rtlCol="0" anchor="ctr"/>
          <a:lstStyle/>
          <a:p>
            <a:pPr indent="0" marL="0">
              <a:buNone/>
            </a:pPr>
            <a:r>
              <a:rPr lang="en-US" sz="800" spc="150" kern="0" dirty="0">
                <a:solidFill>
                  <a:srgbClr val="8A9099"/>
                </a:solidFill>
                <a:latin typeface="Consolas" pitchFamily="34" charset="0"/>
                <a:ea typeface="Consolas" pitchFamily="34" charset="-122"/>
                <a:cs typeface="Consolas" pitchFamily="34" charset="-120"/>
              </a:rPr>
              <a:t>GO / NO-GO RECORD · docs/compliance/GA_READINESS.md · CURRENTLY NO-GO, EVERY BLOCKER NAMED</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FF0F3"/>
        </a:solidFill>
      </p:bgPr>
    </p:bg>
    <p:spTree>
      <p:nvGrpSpPr>
        <p:cNvPr id="1" name=""/>
        <p:cNvGrpSpPr/>
        <p:nvPr/>
      </p:nvGrpSpPr>
      <p:grpSpPr>
        <a:xfrm>
          <a:off x="0" y="0"/>
          <a:ext cx="0" cy="0"/>
          <a:chOff x="0" y="0"/>
          <a:chExt cx="0" cy="0"/>
        </a:xfrm>
      </p:grpSpPr>
      <p:sp>
        <p:nvSpPr>
          <p:cNvPr id="2" name="Text 0"/>
          <p:cNvSpPr txBox="1"/>
          <p:nvPr/>
        </p:nvSpPr>
        <p:spPr>
          <a:xfrm>
            <a:off x="548640" y="6473952"/>
            <a:ext cx="5486400" cy="228600"/>
          </a:xfrm>
          <a:prstGeom prst="rect">
            <a:avLst/>
          </a:prstGeom>
          <a:noFill/>
          <a:ln/>
        </p:spPr>
        <p:txBody>
          <a:bodyPr wrap="square" lIns="0" tIns="0" rIns="0" bIns="0" rtlCol="0" anchor="ctr"/>
          <a:lstStyle/>
          <a:p>
            <a:pPr indent="0" marL="0">
              <a:buNone/>
            </a:pPr>
            <a:r>
              <a:rPr lang="en-US" sz="800" spc="200" kern="0" dirty="0">
                <a:solidFill>
                  <a:srgbClr val="8A9099"/>
                </a:solidFill>
                <a:latin typeface="Consolas" pitchFamily="34" charset="0"/>
                <a:ea typeface="Consolas" pitchFamily="34" charset="-122"/>
                <a:cs typeface="Consolas" pitchFamily="34" charset="-120"/>
              </a:rPr>
              <a:t>MIDGARD · VELDRIS LTD · LAUNCH 2026</a:t>
            </a:r>
            <a:endParaRPr lang="en-US" sz="800" dirty="0"/>
          </a:p>
        </p:txBody>
      </p:sp>
      <p:sp>
        <p:nvSpPr>
          <p:cNvPr id="3" name="Text 1"/>
          <p:cNvSpPr txBox="1"/>
          <p:nvPr/>
        </p:nvSpPr>
        <p:spPr>
          <a:xfrm>
            <a:off x="10728655" y="6473952"/>
            <a:ext cx="914400" cy="228600"/>
          </a:xfrm>
          <a:prstGeom prst="rect">
            <a:avLst/>
          </a:prstGeom>
          <a:noFill/>
          <a:ln/>
        </p:spPr>
        <p:txBody>
          <a:bodyPr wrap="square" lIns="0" tIns="0" rIns="0" bIns="0" rtlCol="0" anchor="ctr"/>
          <a:lstStyle/>
          <a:p>
            <a:pPr algn="r" indent="0" marL="0">
              <a:buNone/>
            </a:pPr>
            <a:r>
              <a:rPr lang="en-US" sz="800" dirty="0">
                <a:solidFill>
                  <a:srgbClr val="8A9099"/>
                </a:solidFill>
                <a:latin typeface="Consolas" pitchFamily="34" charset="0"/>
                <a:ea typeface="Consolas" pitchFamily="34" charset="-122"/>
                <a:cs typeface="Consolas" pitchFamily="34" charset="-120"/>
              </a:rPr>
              <a:t>18</a:t>
            </a:r>
            <a:endParaRPr lang="en-US" sz="800" dirty="0"/>
          </a:p>
        </p:txBody>
      </p:sp>
      <p:sp>
        <p:nvSpPr>
          <p:cNvPr id="5" name="Text 2"/>
          <p:cNvSpPr txBox="1"/>
          <p:nvPr/>
        </p:nvSpPr>
        <p:spPr>
          <a:xfrm>
            <a:off x="548640" y="502920"/>
            <a:ext cx="7315200" cy="256032"/>
          </a:xfrm>
          <a:prstGeom prst="rect">
            <a:avLst/>
          </a:prstGeom>
          <a:noFill/>
          <a:ln/>
        </p:spPr>
        <p:txBody>
          <a:bodyPr wrap="square" lIns="0" tIns="0" rIns="0" bIns="0" rtlCol="0" anchor="ctr"/>
          <a:lstStyle/>
          <a:p>
            <a:pPr indent="0" marL="0">
              <a:buNone/>
            </a:pPr>
            <a:r>
              <a:rPr lang="en-US" sz="1050" spc="250" kern="0" dirty="0">
                <a:solidFill>
                  <a:srgbClr val="A8171E"/>
                </a:solidFill>
                <a:latin typeface="Consolas" pitchFamily="34" charset="0"/>
                <a:ea typeface="Consolas" pitchFamily="34" charset="-122"/>
                <a:cs typeface="Consolas" pitchFamily="34" charset="-120"/>
              </a:rPr>
              <a:t>17 // NEXT STEPS</a:t>
            </a:r>
            <a:endParaRPr lang="en-US" sz="1050" dirty="0"/>
          </a:p>
        </p:txBody>
      </p:sp>
      <p:sp>
        <p:nvSpPr>
          <p:cNvPr id="6" name="Text 3"/>
          <p:cNvSpPr txBox="1"/>
          <p:nvPr/>
        </p:nvSpPr>
        <p:spPr>
          <a:xfrm>
            <a:off x="548640" y="822960"/>
            <a:ext cx="10972800" cy="822960"/>
          </a:xfrm>
          <a:prstGeom prst="rect">
            <a:avLst/>
          </a:prstGeom>
          <a:noFill/>
          <a:ln/>
        </p:spPr>
        <p:txBody>
          <a:bodyPr wrap="square" lIns="0" tIns="0" rIns="0" bIns="0" rtlCol="0" anchor="t">
            <a:normAutofit/>
          </a:bodyPr>
          <a:lstStyle/>
          <a:p>
            <a:pPr indent="0" marL="0">
              <a:buNone/>
            </a:pPr>
            <a:r>
              <a:rPr lang="en-US" sz="2600" b="1" dirty="0">
                <a:solidFill>
                  <a:srgbClr val="101114"/>
                </a:solidFill>
                <a:latin typeface="Arial" pitchFamily="34" charset="0"/>
                <a:ea typeface="Arial" pitchFamily="34" charset="-122"/>
                <a:cs typeface="Arial" pitchFamily="34" charset="-120"/>
              </a:rPr>
              <a:t>Run it on a laptop today. Run it in an air-gapped site tomorrow.</a:t>
            </a:r>
            <a:endParaRPr lang="en-US" sz="2600" dirty="0"/>
          </a:p>
        </p:txBody>
      </p:sp>
      <p:sp>
        <p:nvSpPr>
          <p:cNvPr id="7" name="Shape 4"/>
          <p:cNvSpPr/>
          <p:nvPr/>
        </p:nvSpPr>
        <p:spPr>
          <a:xfrm>
            <a:off x="548640" y="1828800"/>
            <a:ext cx="2602154" cy="2011680"/>
          </a:xfrm>
          <a:prstGeom prst="roundRect">
            <a:avLst>
              <a:gd name="adj" fmla="val 3636"/>
            </a:avLst>
          </a:prstGeom>
          <a:solidFill>
            <a:srgbClr val="FFFFFF"/>
          </a:solidFill>
          <a:ln w="9525">
            <a:solidFill>
              <a:srgbClr val="D6D9DE"/>
            </a:solidFill>
            <a:prstDash val="solid"/>
          </a:ln>
        </p:spPr>
      </p:sp>
      <p:sp>
        <p:nvSpPr>
          <p:cNvPr id="8" name="Shape 5"/>
          <p:cNvSpPr/>
          <p:nvPr/>
        </p:nvSpPr>
        <p:spPr>
          <a:xfrm>
            <a:off x="777240" y="2057400"/>
            <a:ext cx="457200" cy="457200"/>
          </a:xfrm>
          <a:prstGeom prst="ellipse">
            <a:avLst/>
          </a:prstGeom>
          <a:solidFill>
            <a:srgbClr val="E4E6EA"/>
          </a:solidFill>
          <a:ln w="6350">
            <a:solidFill>
              <a:srgbClr val="D6D9DE"/>
            </a:solidFill>
            <a:prstDash val="solid"/>
          </a:ln>
        </p:spPr>
      </p:sp>
      <p:pic>
        <p:nvPicPr>
          <p:cNvPr id="9" name="Image 0" descr="preencoded.png">    </p:cNvPr>
          <p:cNvPicPr>
            <a:picLocks noChangeAspect="1"/>
          </p:cNvPicPr>
          <p:nvPr/>
        </p:nvPicPr>
        <p:blipFill>
          <a:blip r:embed="rId1"/>
          <a:stretch>
            <a:fillRect/>
          </a:stretch>
        </p:blipFill>
        <p:spPr>
          <a:xfrm>
            <a:off x="886968" y="2167128"/>
            <a:ext cx="237744" cy="237744"/>
          </a:xfrm>
          <a:prstGeom prst="rect">
            <a:avLst/>
          </a:prstGeom>
        </p:spPr>
      </p:pic>
      <p:sp>
        <p:nvSpPr>
          <p:cNvPr id="10" name="Text 6"/>
          <p:cNvSpPr txBox="1"/>
          <p:nvPr/>
        </p:nvSpPr>
        <p:spPr>
          <a:xfrm>
            <a:off x="777240" y="2651760"/>
            <a:ext cx="2144954" cy="365760"/>
          </a:xfrm>
          <a:prstGeom prst="rect">
            <a:avLst/>
          </a:prstGeom>
          <a:noFill/>
          <a:ln/>
        </p:spPr>
        <p:txBody>
          <a:bodyPr wrap="square" lIns="0" tIns="0" rIns="0" bIns="0" rtlCol="0" anchor="t"/>
          <a:lstStyle/>
          <a:p>
            <a:pPr indent="0" marL="0">
              <a:buNone/>
            </a:pPr>
            <a:r>
              <a:rPr lang="en-US" sz="1500" b="1" dirty="0">
                <a:solidFill>
                  <a:srgbClr val="101114"/>
                </a:solidFill>
                <a:latin typeface="Calibri" pitchFamily="34" charset="0"/>
                <a:ea typeface="Calibri" pitchFamily="34" charset="-122"/>
                <a:cs typeface="Calibri" pitchFamily="34" charset="-120"/>
              </a:rPr>
              <a:t>Laptop</a:t>
            </a:r>
            <a:endParaRPr lang="en-US" sz="1500" dirty="0"/>
          </a:p>
        </p:txBody>
      </p:sp>
      <p:sp>
        <p:nvSpPr>
          <p:cNvPr id="11" name="Text 7"/>
          <p:cNvSpPr txBox="1"/>
          <p:nvPr/>
        </p:nvSpPr>
        <p:spPr>
          <a:xfrm>
            <a:off x="777240" y="3017520"/>
            <a:ext cx="2144954" cy="777240"/>
          </a:xfrm>
          <a:prstGeom prst="rect">
            <a:avLst/>
          </a:prstGeom>
          <a:noFill/>
          <a:ln/>
        </p:spPr>
        <p:txBody>
          <a:bodyPr wrap="square" lIns="0" tIns="0" rIns="0" bIns="0" rtlCol="0" anchor="t"/>
          <a:lstStyle/>
          <a:p>
            <a:pPr indent="0" marL="0">
              <a:buNone/>
            </a:pPr>
            <a:r>
              <a:rPr lang="en-US" sz="1150" dirty="0">
                <a:solidFill>
                  <a:srgbClr val="383D44"/>
                </a:solidFill>
                <a:latin typeface="Calibri" pitchFamily="34" charset="0"/>
                <a:ea typeface="Calibri" pitchFamily="34" charset="-122"/>
                <a:cs typeface="Calibri" pitchFamily="34" charset="-120"/>
              </a:rPr>
              <a:t>Development mode, one command. Real edge, real policy, real signed ledger, illustrative data.</a:t>
            </a:r>
            <a:endParaRPr lang="en-US" sz="1150" dirty="0"/>
          </a:p>
        </p:txBody>
      </p:sp>
      <p:sp>
        <p:nvSpPr>
          <p:cNvPr id="12" name="Shape 8"/>
          <p:cNvSpPr/>
          <p:nvPr/>
        </p:nvSpPr>
        <p:spPr>
          <a:xfrm>
            <a:off x="3379394" y="1828800"/>
            <a:ext cx="2602154" cy="2011680"/>
          </a:xfrm>
          <a:prstGeom prst="roundRect">
            <a:avLst>
              <a:gd name="adj" fmla="val 3636"/>
            </a:avLst>
          </a:prstGeom>
          <a:solidFill>
            <a:srgbClr val="FFFFFF"/>
          </a:solidFill>
          <a:ln w="9525">
            <a:solidFill>
              <a:srgbClr val="D6D9DE"/>
            </a:solidFill>
            <a:prstDash val="solid"/>
          </a:ln>
        </p:spPr>
      </p:sp>
      <p:sp>
        <p:nvSpPr>
          <p:cNvPr id="13" name="Shape 9"/>
          <p:cNvSpPr/>
          <p:nvPr/>
        </p:nvSpPr>
        <p:spPr>
          <a:xfrm>
            <a:off x="3607994" y="2057400"/>
            <a:ext cx="457200" cy="457200"/>
          </a:xfrm>
          <a:prstGeom prst="ellipse">
            <a:avLst/>
          </a:prstGeom>
          <a:solidFill>
            <a:srgbClr val="E4E6EA"/>
          </a:solidFill>
          <a:ln w="6350">
            <a:solidFill>
              <a:srgbClr val="D6D9DE"/>
            </a:solidFill>
            <a:prstDash val="solid"/>
          </a:ln>
        </p:spPr>
      </p:sp>
      <p:pic>
        <p:nvPicPr>
          <p:cNvPr id="14" name="Image 1" descr="preencoded.png">    </p:cNvPr>
          <p:cNvPicPr>
            <a:picLocks noChangeAspect="1"/>
          </p:cNvPicPr>
          <p:nvPr/>
        </p:nvPicPr>
        <p:blipFill>
          <a:blip r:embed="rId2"/>
          <a:stretch>
            <a:fillRect/>
          </a:stretch>
        </p:blipFill>
        <p:spPr>
          <a:xfrm>
            <a:off x="3717722" y="2167128"/>
            <a:ext cx="237744" cy="237744"/>
          </a:xfrm>
          <a:prstGeom prst="rect">
            <a:avLst/>
          </a:prstGeom>
        </p:spPr>
      </p:pic>
      <p:sp>
        <p:nvSpPr>
          <p:cNvPr id="15" name="Text 10"/>
          <p:cNvSpPr txBox="1"/>
          <p:nvPr/>
        </p:nvSpPr>
        <p:spPr>
          <a:xfrm>
            <a:off x="3607994" y="2651760"/>
            <a:ext cx="2144954" cy="365760"/>
          </a:xfrm>
          <a:prstGeom prst="rect">
            <a:avLst/>
          </a:prstGeom>
          <a:noFill/>
          <a:ln/>
        </p:spPr>
        <p:txBody>
          <a:bodyPr wrap="square" lIns="0" tIns="0" rIns="0" bIns="0" rtlCol="0" anchor="t"/>
          <a:lstStyle/>
          <a:p>
            <a:pPr indent="0" marL="0">
              <a:buNone/>
            </a:pPr>
            <a:r>
              <a:rPr lang="en-US" sz="1500" b="1" dirty="0">
                <a:solidFill>
                  <a:srgbClr val="101114"/>
                </a:solidFill>
                <a:latin typeface="Calibri" pitchFamily="34" charset="0"/>
                <a:ea typeface="Calibri" pitchFamily="34" charset="-122"/>
                <a:cs typeface="Calibri" pitchFamily="34" charset="-120"/>
              </a:rPr>
              <a:t>Docker compose</a:t>
            </a:r>
            <a:endParaRPr lang="en-US" sz="1500" dirty="0"/>
          </a:p>
        </p:txBody>
      </p:sp>
      <p:sp>
        <p:nvSpPr>
          <p:cNvPr id="16" name="Text 11"/>
          <p:cNvSpPr txBox="1"/>
          <p:nvPr/>
        </p:nvSpPr>
        <p:spPr>
          <a:xfrm>
            <a:off x="3607994" y="3017520"/>
            <a:ext cx="2144954" cy="777240"/>
          </a:xfrm>
          <a:prstGeom prst="rect">
            <a:avLst/>
          </a:prstGeom>
          <a:noFill/>
          <a:ln/>
        </p:spPr>
        <p:txBody>
          <a:bodyPr wrap="square" lIns="0" tIns="0" rIns="0" bIns="0" rtlCol="0" anchor="t"/>
          <a:lstStyle/>
          <a:p>
            <a:pPr indent="0" marL="0">
              <a:buNone/>
            </a:pPr>
            <a:r>
              <a:rPr lang="en-US" sz="1150" dirty="0">
                <a:solidFill>
                  <a:srgbClr val="383D44"/>
                </a:solidFill>
                <a:latin typeface="Calibri" pitchFamily="34" charset="0"/>
                <a:ea typeface="Calibri" pitchFamily="34" charset="-122"/>
                <a:cs typeface="Calibri" pitchFamily="34" charset="-120"/>
              </a:rPr>
              <a:t>Five services, non-root, read-only filesystems, PQ-mTLS between them. just compose-up.</a:t>
            </a:r>
            <a:endParaRPr lang="en-US" sz="1150" dirty="0"/>
          </a:p>
        </p:txBody>
      </p:sp>
      <p:sp>
        <p:nvSpPr>
          <p:cNvPr id="17" name="Shape 12"/>
          <p:cNvSpPr/>
          <p:nvPr/>
        </p:nvSpPr>
        <p:spPr>
          <a:xfrm>
            <a:off x="6210148" y="1828800"/>
            <a:ext cx="2602154" cy="2011680"/>
          </a:xfrm>
          <a:prstGeom prst="roundRect">
            <a:avLst>
              <a:gd name="adj" fmla="val 3636"/>
            </a:avLst>
          </a:prstGeom>
          <a:solidFill>
            <a:srgbClr val="FFFFFF"/>
          </a:solidFill>
          <a:ln w="9525">
            <a:solidFill>
              <a:srgbClr val="D6D9DE"/>
            </a:solidFill>
            <a:prstDash val="solid"/>
          </a:ln>
        </p:spPr>
      </p:sp>
      <p:sp>
        <p:nvSpPr>
          <p:cNvPr id="18" name="Shape 13"/>
          <p:cNvSpPr/>
          <p:nvPr/>
        </p:nvSpPr>
        <p:spPr>
          <a:xfrm>
            <a:off x="6438748" y="2057400"/>
            <a:ext cx="457200" cy="457200"/>
          </a:xfrm>
          <a:prstGeom prst="ellipse">
            <a:avLst/>
          </a:prstGeom>
          <a:solidFill>
            <a:srgbClr val="E4E6EA"/>
          </a:solidFill>
          <a:ln w="6350">
            <a:solidFill>
              <a:srgbClr val="D6D9DE"/>
            </a:solidFill>
            <a:prstDash val="solid"/>
          </a:ln>
        </p:spPr>
      </p:sp>
      <p:pic>
        <p:nvPicPr>
          <p:cNvPr id="19" name="Image 2" descr="preencoded.png">    </p:cNvPr>
          <p:cNvPicPr>
            <a:picLocks noChangeAspect="1"/>
          </p:cNvPicPr>
          <p:nvPr/>
        </p:nvPicPr>
        <p:blipFill>
          <a:blip r:embed="rId3"/>
          <a:stretch>
            <a:fillRect/>
          </a:stretch>
        </p:blipFill>
        <p:spPr>
          <a:xfrm>
            <a:off x="6548476" y="2167128"/>
            <a:ext cx="237744" cy="237744"/>
          </a:xfrm>
          <a:prstGeom prst="rect">
            <a:avLst/>
          </a:prstGeom>
        </p:spPr>
      </p:pic>
      <p:sp>
        <p:nvSpPr>
          <p:cNvPr id="20" name="Text 14"/>
          <p:cNvSpPr txBox="1"/>
          <p:nvPr/>
        </p:nvSpPr>
        <p:spPr>
          <a:xfrm>
            <a:off x="6438748" y="2651760"/>
            <a:ext cx="2144954" cy="365760"/>
          </a:xfrm>
          <a:prstGeom prst="rect">
            <a:avLst/>
          </a:prstGeom>
          <a:noFill/>
          <a:ln/>
        </p:spPr>
        <p:txBody>
          <a:bodyPr wrap="square" lIns="0" tIns="0" rIns="0" bIns="0" rtlCol="0" anchor="t"/>
          <a:lstStyle/>
          <a:p>
            <a:pPr indent="0" marL="0">
              <a:buNone/>
            </a:pPr>
            <a:r>
              <a:rPr lang="en-US" sz="1500" b="1" dirty="0">
                <a:solidFill>
                  <a:srgbClr val="101114"/>
                </a:solidFill>
                <a:latin typeface="Calibri" pitchFamily="34" charset="0"/>
                <a:ea typeface="Calibri" pitchFamily="34" charset="-122"/>
                <a:cs typeface="Calibri" pitchFamily="34" charset="-120"/>
              </a:rPr>
              <a:t>Kubernetes</a:t>
            </a:r>
            <a:endParaRPr lang="en-US" sz="1500" dirty="0"/>
          </a:p>
        </p:txBody>
      </p:sp>
      <p:sp>
        <p:nvSpPr>
          <p:cNvPr id="21" name="Text 15"/>
          <p:cNvSpPr txBox="1"/>
          <p:nvPr/>
        </p:nvSpPr>
        <p:spPr>
          <a:xfrm>
            <a:off x="6438748" y="3017520"/>
            <a:ext cx="2144954" cy="777240"/>
          </a:xfrm>
          <a:prstGeom prst="rect">
            <a:avLst/>
          </a:prstGeom>
          <a:noFill/>
          <a:ln/>
        </p:spPr>
        <p:txBody>
          <a:bodyPr wrap="square" lIns="0" tIns="0" rIns="0" bIns="0" rtlCol="0" anchor="t"/>
          <a:lstStyle/>
          <a:p>
            <a:pPr indent="0" marL="0">
              <a:buNone/>
            </a:pPr>
            <a:r>
              <a:rPr lang="en-US" sz="1150" dirty="0">
                <a:solidFill>
                  <a:srgbClr val="383D44"/>
                </a:solidFill>
                <a:latin typeface="Calibri" pitchFamily="34" charset="0"/>
                <a:ea typeface="Calibri" pitchFamily="34" charset="-122"/>
                <a:cs typeface="Calibri" pitchFamily="34" charset="-120"/>
              </a:rPr>
              <a:t>Helm chart: hardened StatefulSets, default-deny network policies. Runs on a 3-node kind cluster.</a:t>
            </a:r>
            <a:endParaRPr lang="en-US" sz="1150" dirty="0"/>
          </a:p>
        </p:txBody>
      </p:sp>
      <p:sp>
        <p:nvSpPr>
          <p:cNvPr id="22" name="Shape 16"/>
          <p:cNvSpPr/>
          <p:nvPr/>
        </p:nvSpPr>
        <p:spPr>
          <a:xfrm>
            <a:off x="9040901" y="1828800"/>
            <a:ext cx="2602154" cy="2011680"/>
          </a:xfrm>
          <a:prstGeom prst="roundRect">
            <a:avLst>
              <a:gd name="adj" fmla="val 3636"/>
            </a:avLst>
          </a:prstGeom>
          <a:solidFill>
            <a:srgbClr val="FFFFFF"/>
          </a:solidFill>
          <a:ln w="9525">
            <a:solidFill>
              <a:srgbClr val="D6D9DE"/>
            </a:solidFill>
            <a:prstDash val="solid"/>
          </a:ln>
        </p:spPr>
      </p:sp>
      <p:sp>
        <p:nvSpPr>
          <p:cNvPr id="23" name="Shape 17"/>
          <p:cNvSpPr/>
          <p:nvPr/>
        </p:nvSpPr>
        <p:spPr>
          <a:xfrm>
            <a:off x="9269501" y="2057400"/>
            <a:ext cx="457200" cy="457200"/>
          </a:xfrm>
          <a:prstGeom prst="ellipse">
            <a:avLst/>
          </a:prstGeom>
          <a:solidFill>
            <a:srgbClr val="E4E6EA"/>
          </a:solidFill>
          <a:ln w="6350">
            <a:solidFill>
              <a:srgbClr val="D6D9DE"/>
            </a:solidFill>
            <a:prstDash val="solid"/>
          </a:ln>
        </p:spPr>
      </p:sp>
      <p:pic>
        <p:nvPicPr>
          <p:cNvPr id="24" name="Image 3" descr="preencoded.png">    </p:cNvPr>
          <p:cNvPicPr>
            <a:picLocks noChangeAspect="1"/>
          </p:cNvPicPr>
          <p:nvPr/>
        </p:nvPicPr>
        <p:blipFill>
          <a:blip r:embed="rId4"/>
          <a:stretch>
            <a:fillRect/>
          </a:stretch>
        </p:blipFill>
        <p:spPr>
          <a:xfrm>
            <a:off x="9379229" y="2167128"/>
            <a:ext cx="237744" cy="237744"/>
          </a:xfrm>
          <a:prstGeom prst="rect">
            <a:avLst/>
          </a:prstGeom>
        </p:spPr>
      </p:pic>
      <p:sp>
        <p:nvSpPr>
          <p:cNvPr id="25" name="Text 18"/>
          <p:cNvSpPr txBox="1"/>
          <p:nvPr/>
        </p:nvSpPr>
        <p:spPr>
          <a:xfrm>
            <a:off x="9269501" y="2651760"/>
            <a:ext cx="2144954" cy="365760"/>
          </a:xfrm>
          <a:prstGeom prst="rect">
            <a:avLst/>
          </a:prstGeom>
          <a:noFill/>
          <a:ln/>
        </p:spPr>
        <p:txBody>
          <a:bodyPr wrap="square" lIns="0" tIns="0" rIns="0" bIns="0" rtlCol="0" anchor="t"/>
          <a:lstStyle/>
          <a:p>
            <a:pPr indent="0" marL="0">
              <a:buNone/>
            </a:pPr>
            <a:r>
              <a:rPr lang="en-US" sz="1500" b="1" dirty="0">
                <a:solidFill>
                  <a:srgbClr val="101114"/>
                </a:solidFill>
                <a:latin typeface="Calibri" pitchFamily="34" charset="0"/>
                <a:ea typeface="Calibri" pitchFamily="34" charset="-122"/>
                <a:cs typeface="Calibri" pitchFamily="34" charset="-120"/>
              </a:rPr>
              <a:t>Air-gapped sites</a:t>
            </a:r>
            <a:endParaRPr lang="en-US" sz="1500" dirty="0"/>
          </a:p>
        </p:txBody>
      </p:sp>
      <p:sp>
        <p:nvSpPr>
          <p:cNvPr id="26" name="Text 19"/>
          <p:cNvSpPr txBox="1"/>
          <p:nvPr/>
        </p:nvSpPr>
        <p:spPr>
          <a:xfrm>
            <a:off x="9269501" y="3017520"/>
            <a:ext cx="2144954" cy="777240"/>
          </a:xfrm>
          <a:prstGeom prst="rect">
            <a:avLst/>
          </a:prstGeom>
          <a:noFill/>
          <a:ln/>
        </p:spPr>
        <p:txBody>
          <a:bodyPr wrap="square" lIns="0" tIns="0" rIns="0" bIns="0" rtlCol="0" anchor="t"/>
          <a:lstStyle/>
          <a:p>
            <a:pPr indent="0" marL="0">
              <a:buNone/>
            </a:pPr>
            <a:r>
              <a:rPr lang="en-US" sz="1150" dirty="0">
                <a:solidFill>
                  <a:srgbClr val="383D44"/>
                </a:solidFill>
                <a:latin typeface="Calibri" pitchFamily="34" charset="0"/>
                <a:ea typeface="Calibri" pitchFamily="34" charset="-122"/>
                <a:cs typeface="Calibri" pitchFamily="34" charset="-120"/>
              </a:rPr>
              <a:t>One signed .mgbundle on media. Every artefact is verified offline, then installed.</a:t>
            </a:r>
            <a:endParaRPr lang="en-US" sz="1150" dirty="0"/>
          </a:p>
        </p:txBody>
      </p:sp>
      <p:sp>
        <p:nvSpPr>
          <p:cNvPr id="27" name="Shape 20"/>
          <p:cNvSpPr/>
          <p:nvPr/>
        </p:nvSpPr>
        <p:spPr>
          <a:xfrm>
            <a:off x="548640" y="4114800"/>
            <a:ext cx="6766560" cy="2103120"/>
          </a:xfrm>
          <a:prstGeom prst="roundRect">
            <a:avLst>
              <a:gd name="adj" fmla="val 3478"/>
            </a:avLst>
          </a:prstGeom>
          <a:solidFill>
            <a:srgbClr val="F7F8FA"/>
          </a:solidFill>
          <a:ln w="9525">
            <a:solidFill>
              <a:srgbClr val="CA1D25"/>
            </a:solidFill>
            <a:prstDash val="solid"/>
          </a:ln>
        </p:spPr>
      </p:sp>
      <p:sp>
        <p:nvSpPr>
          <p:cNvPr id="28" name="Text 21"/>
          <p:cNvSpPr txBox="1"/>
          <p:nvPr/>
        </p:nvSpPr>
        <p:spPr>
          <a:xfrm>
            <a:off x="822960" y="4297680"/>
            <a:ext cx="6217920" cy="365760"/>
          </a:xfrm>
          <a:prstGeom prst="rect">
            <a:avLst/>
          </a:prstGeom>
          <a:noFill/>
          <a:ln/>
        </p:spPr>
        <p:txBody>
          <a:bodyPr wrap="square" lIns="0" tIns="0" rIns="0" bIns="0" rtlCol="0" anchor="t"/>
          <a:lstStyle/>
          <a:p>
            <a:pPr indent="0" marL="0">
              <a:buNone/>
            </a:pPr>
            <a:r>
              <a:rPr lang="en-US" sz="1600" b="1" dirty="0">
                <a:solidFill>
                  <a:srgbClr val="101114"/>
                </a:solidFill>
                <a:latin typeface="Calibri" pitchFamily="34" charset="0"/>
                <a:ea typeface="Calibri" pitchFamily="34" charset="-122"/>
                <a:cs typeface="Calibri" pitchFamily="34" charset="-120"/>
              </a:rPr>
              <a:t>What we are asking for</a:t>
            </a:r>
            <a:endParaRPr lang="en-US" sz="1600" dirty="0"/>
          </a:p>
        </p:txBody>
      </p:sp>
      <p:sp>
        <p:nvSpPr>
          <p:cNvPr id="29" name="Text 22"/>
          <p:cNvSpPr txBox="1"/>
          <p:nvPr/>
        </p:nvSpPr>
        <p:spPr>
          <a:xfrm>
            <a:off x="822960" y="4754880"/>
            <a:ext cx="6217920" cy="137160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250" dirty="0">
                <a:solidFill>
                  <a:srgbClr val="383D44"/>
                </a:solidFill>
                <a:latin typeface="Calibri" pitchFamily="34" charset="0"/>
                <a:ea typeface="Calibri" pitchFamily="34" charset="-122"/>
                <a:cs typeface="Calibri" pitchFamily="34" charset="-120"/>
              </a:rPr>
              <a:t>Design partners for a pilot on the compose or Helm path, with your own ontology and data.</a:t>
            </a:r>
            <a:endParaRPr lang="en-US" sz="1250" dirty="0"/>
          </a:p>
          <a:p>
            <a:pPr marL="342900" indent="-342900">
              <a:spcAft>
                <a:spcPts val="800"/>
              </a:spcAft>
              <a:buSzPct val="100000"/>
              <a:buChar char="▪"/>
            </a:pPr>
            <a:r>
              <a:rPr lang="en-US" sz="1250" dirty="0">
                <a:solidFill>
                  <a:srgbClr val="383D44"/>
                </a:solidFill>
                <a:latin typeface="Calibri" pitchFamily="34" charset="0"/>
                <a:ea typeface="Calibri" pitchFamily="34" charset="-122"/>
                <a:cs typeface="Calibri" pitchFamily="34" charset="-120"/>
              </a:rPr>
              <a:t>Security teams to review the open core: threat model, crypto backends, supply-chain gates.</a:t>
            </a:r>
            <a:endParaRPr lang="en-US" sz="1250" dirty="0"/>
          </a:p>
          <a:p>
            <a:pPr marL="342900" indent="-342900">
              <a:spcAft>
                <a:spcPts val="800"/>
              </a:spcAft>
              <a:buSzPct val="100000"/>
              <a:buChar char="▪"/>
            </a:pPr>
            <a:r>
              <a:rPr lang="en-US" sz="1250" dirty="0">
                <a:solidFill>
                  <a:srgbClr val="383D44"/>
                </a:solidFill>
                <a:latin typeface="Calibri" pitchFamily="34" charset="0"/>
                <a:ea typeface="Calibri" pitchFamily="34" charset="-122"/>
                <a:cs typeface="Calibri" pitchFamily="34" charset="-120"/>
              </a:rPr>
              <a:t>Feedback on the 90-day roadmap and the GA blockers you just saw.</a:t>
            </a:r>
            <a:endParaRPr lang="en-US" sz="1250" dirty="0"/>
          </a:p>
        </p:txBody>
      </p:sp>
      <p:sp>
        <p:nvSpPr>
          <p:cNvPr id="30" name="Shape 23"/>
          <p:cNvSpPr/>
          <p:nvPr/>
        </p:nvSpPr>
        <p:spPr>
          <a:xfrm>
            <a:off x="7589520" y="4114800"/>
            <a:ext cx="4053535" cy="2103120"/>
          </a:xfrm>
          <a:prstGeom prst="roundRect">
            <a:avLst>
              <a:gd name="adj" fmla="val 3478"/>
            </a:avLst>
          </a:prstGeom>
          <a:solidFill>
            <a:srgbClr val="FFFFFF"/>
          </a:solidFill>
          <a:ln w="9525">
            <a:solidFill>
              <a:srgbClr val="D6D9DE"/>
            </a:solidFill>
            <a:prstDash val="solid"/>
          </a:ln>
        </p:spPr>
      </p:sp>
      <p:sp>
        <p:nvSpPr>
          <p:cNvPr id="31" name="Text 24"/>
          <p:cNvSpPr txBox="1"/>
          <p:nvPr/>
        </p:nvSpPr>
        <p:spPr>
          <a:xfrm>
            <a:off x="7863840" y="4297680"/>
            <a:ext cx="3504895" cy="365760"/>
          </a:xfrm>
          <a:prstGeom prst="rect">
            <a:avLst/>
          </a:prstGeom>
          <a:noFill/>
          <a:ln/>
        </p:spPr>
        <p:txBody>
          <a:bodyPr wrap="square" lIns="0" tIns="0" rIns="0" bIns="0" rtlCol="0" anchor="t"/>
          <a:lstStyle/>
          <a:p>
            <a:pPr indent="0" marL="0">
              <a:buNone/>
            </a:pPr>
            <a:r>
              <a:rPr lang="en-US" sz="1600" b="1" dirty="0">
                <a:solidFill>
                  <a:srgbClr val="101114"/>
                </a:solidFill>
                <a:latin typeface="Calibri" pitchFamily="34" charset="0"/>
                <a:ea typeface="Calibri" pitchFamily="34" charset="-122"/>
                <a:cs typeface="Calibri" pitchFamily="34" charset="-120"/>
              </a:rPr>
              <a:t>Veldris Ltd</a:t>
            </a:r>
            <a:endParaRPr lang="en-US" sz="1600" dirty="0"/>
          </a:p>
        </p:txBody>
      </p:sp>
      <p:sp>
        <p:nvSpPr>
          <p:cNvPr id="32" name="Text 25"/>
          <p:cNvSpPr txBox="1"/>
          <p:nvPr/>
        </p:nvSpPr>
        <p:spPr>
          <a:xfrm>
            <a:off x="7863840" y="4754880"/>
            <a:ext cx="3504895" cy="274320"/>
          </a:xfrm>
          <a:prstGeom prst="rect">
            <a:avLst/>
          </a:prstGeom>
          <a:noFill/>
          <a:ln/>
        </p:spPr>
        <p:txBody>
          <a:bodyPr wrap="square" lIns="0" tIns="0" rIns="0" bIns="0" rtlCol="0" anchor="ctr"/>
          <a:lstStyle/>
          <a:p>
            <a:pPr indent="0" marL="0">
              <a:buNone/>
            </a:pPr>
            <a:r>
              <a:rPr lang="en-US" sz="1000" spc="150" kern="0" dirty="0">
                <a:solidFill>
                  <a:srgbClr val="A8171E"/>
                </a:solidFill>
                <a:latin typeface="Consolas" pitchFamily="34" charset="0"/>
                <a:ea typeface="Consolas" pitchFamily="34" charset="-122"/>
                <a:cs typeface="Consolas" pitchFamily="34" charset="-120"/>
              </a:rPr>
              <a:t>github.com/veldris-ltd/midgard-app</a:t>
            </a:r>
            <a:endParaRPr lang="en-US" sz="1000" dirty="0"/>
          </a:p>
        </p:txBody>
      </p:sp>
      <p:sp>
        <p:nvSpPr>
          <p:cNvPr id="33" name="Text 26"/>
          <p:cNvSpPr txBox="1"/>
          <p:nvPr/>
        </p:nvSpPr>
        <p:spPr>
          <a:xfrm>
            <a:off x="7863840" y="5074920"/>
            <a:ext cx="3504895" cy="274320"/>
          </a:xfrm>
          <a:prstGeom prst="rect">
            <a:avLst/>
          </a:prstGeom>
          <a:noFill/>
          <a:ln/>
        </p:spPr>
        <p:txBody>
          <a:bodyPr wrap="square" lIns="0" tIns="0" rIns="0" bIns="0" rtlCol="0" anchor="ctr"/>
          <a:lstStyle/>
          <a:p>
            <a:pPr indent="0" marL="0">
              <a:buNone/>
            </a:pPr>
            <a:r>
              <a:rPr lang="en-US" sz="1000" spc="150" kern="0" dirty="0">
                <a:solidFill>
                  <a:srgbClr val="383D44"/>
                </a:solidFill>
                <a:latin typeface="Consolas" pitchFamily="34" charset="0"/>
                <a:ea typeface="Consolas" pitchFamily="34" charset="-122"/>
                <a:cs typeface="Consolas" pitchFamily="34" charset="-120"/>
              </a:rPr>
              <a:t>hello@veldris.io  ·  sales@veldris.io</a:t>
            </a:r>
            <a:endParaRPr lang="en-US" sz="1000" dirty="0"/>
          </a:p>
        </p:txBody>
      </p:sp>
      <p:sp>
        <p:nvSpPr>
          <p:cNvPr id="34" name="Text 27"/>
          <p:cNvSpPr txBox="1"/>
          <p:nvPr/>
        </p:nvSpPr>
        <p:spPr>
          <a:xfrm>
            <a:off x="7863840" y="5394960"/>
            <a:ext cx="3504895" cy="274320"/>
          </a:xfrm>
          <a:prstGeom prst="rect">
            <a:avLst/>
          </a:prstGeom>
          <a:noFill/>
          <a:ln/>
        </p:spPr>
        <p:txBody>
          <a:bodyPr wrap="square" lIns="0" tIns="0" rIns="0" bIns="0" rtlCol="0" anchor="ctr"/>
          <a:lstStyle/>
          <a:p>
            <a:pPr indent="0" marL="0">
              <a:buNone/>
            </a:pPr>
            <a:r>
              <a:rPr lang="en-US" sz="1000" spc="150" kern="0" dirty="0">
                <a:solidFill>
                  <a:srgbClr val="383D44"/>
                </a:solidFill>
                <a:latin typeface="Consolas" pitchFamily="34" charset="0"/>
                <a:ea typeface="Consolas" pitchFamily="34" charset="-122"/>
                <a:cs typeface="Consolas" pitchFamily="34" charset="-120"/>
              </a:rPr>
              <a:t>security@veldris.io  ·  /.well-known/security.txt</a:t>
            </a:r>
            <a:endParaRPr lang="en-US" sz="1000" dirty="0"/>
          </a:p>
        </p:txBody>
      </p:sp>
      <p:sp>
        <p:nvSpPr>
          <p:cNvPr id="35" name="Text 28"/>
          <p:cNvSpPr txBox="1"/>
          <p:nvPr/>
        </p:nvSpPr>
        <p:spPr>
          <a:xfrm>
            <a:off x="7863840" y="5806440"/>
            <a:ext cx="3504895" cy="274320"/>
          </a:xfrm>
          <a:prstGeom prst="rect">
            <a:avLst/>
          </a:prstGeom>
          <a:noFill/>
          <a:ln/>
        </p:spPr>
        <p:txBody>
          <a:bodyPr wrap="square" lIns="0" tIns="0" rIns="0" bIns="0" rtlCol="0" anchor="ctr"/>
          <a:lstStyle/>
          <a:p>
            <a:pPr indent="0" marL="0">
              <a:buNone/>
            </a:pPr>
            <a:r>
              <a:rPr lang="en-US" sz="800" spc="150" kern="0" dirty="0">
                <a:solidFill>
                  <a:srgbClr val="5C636B"/>
                </a:solidFill>
                <a:latin typeface="Consolas" pitchFamily="34" charset="0"/>
                <a:ea typeface="Consolas" pitchFamily="34" charset="-122"/>
                <a:cs typeface="Consolas" pitchFamily="34" charset="-120"/>
              </a:rPr>
              <a:t>APACHE-2.0 CORE · CYCLONEDX SBOM PER RELEASE · REPRODUCIBLE BUILDS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Midgard launch</dc:title>
  <dc:subject>PptxGenJS Presentation</dc:subject>
  <dc:creator>Veldris Ltd</dc:creator>
  <cp:lastModifiedBy>Veldris Ltd</cp:lastModifiedBy>
  <cp:revision>1</cp:revision>
  <dcterms:created xsi:type="dcterms:W3CDTF">2026-10-24T14:19:13Z</dcterms:created>
  <dcterms:modified xsi:type="dcterms:W3CDTF">2026-10-24T14:19:13Z</dcterms:modified>
</cp:coreProperties>
</file>